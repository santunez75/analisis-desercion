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9"/>
  </p:notesMasterIdLst>
  <p:sldIdLst>
    <p:sldId id="2076137175" r:id="rId2"/>
    <p:sldId id="2076137361" r:id="rId15"/>
    <p:sldId id="2076137362" r:id="rId16"/>
    <p:sldId id="2076137363" r:id="rId17"/>
    <p:sldId id="2076137364" r:id="rId18"/>
    <p:sldId id="2076137365" r:id="rId19"/>
    <p:sldId id="2076137366" r:id="rId20"/>
    <p:sldId id="2076137367" r:id="rId21"/>
    <p:sldId id="2076137368" r:id="rId22"/>
    <p:sldId id="2076137369" r:id="rId23"/>
    <p:sldId id="2076137370" r:id="rId24"/>
    <p:sldId id="2076137371" r:id="rId25"/>
    <p:sldId id="2076137372" r:id="rId26"/>
    <p:sldId id="2076137373" r:id="rId27"/>
    <p:sldId id="207613737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1660F4-BA9A-82B8-C334-CF91C75A5656}" name="Ruth Marcela Espinosa Sarmiento" initials="RS" userId="S::ruth.espinosa@unab.cl::2acad1b5-36c7-4a86-bd14-a01055d811d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36D"/>
    <a:srgbClr val="B63C0F"/>
    <a:srgbClr val="A4C93C"/>
    <a:srgbClr val="01BF9F"/>
    <a:srgbClr val="4A7AEB"/>
    <a:srgbClr val="00644F"/>
    <a:srgbClr val="40306E"/>
    <a:srgbClr val="41BBD2"/>
    <a:srgbClr val="43546A"/>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50"/>
    <p:restoredTop sz="94674"/>
  </p:normalViewPr>
  <p:slideViewPr>
    <p:cSldViewPr snapToGrid="0">
      <p:cViewPr>
        <p:scale>
          <a:sx n="90" d="100"/>
          <a:sy n="90" d="100"/>
        </p:scale>
        <p:origin x="2216" y="9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8/10/relationships/authors" Target="authors.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Razón de momios</c:v>
                </c:pt>
              </c:strCache>
            </c:strRef>
          </c:tx>
          <c:spPr>
            <a:solidFill>
              <a:srgbClr val="20236D"/>
            </a:solidFill>
          </c:spPr>
          <c:cat>
            <c:strRef>
              <c:f>Sheet1!$A$2:$A$5</c:f>
              <c:strCache>
                <c:ptCount val="4"/>
                <c:pt idx="0">
                  <c:v>Proporción de mujeres</c:v>
                </c:pt>
                <c:pt idx="1">
                  <c:v>Tamaño del programa</c:v>
                </c:pt>
                <c:pt idx="2">
                  <c:v>Acreditación de la carrera</c:v>
                </c:pt>
                <c:pt idx="3">
                  <c:v>Acreditación institucional</c:v>
                </c:pt>
              </c:strCache>
            </c:strRef>
          </c:cat>
          <c:val>
            <c:numRef>
              <c:f>Sheet1!$B$2:$B$5</c:f>
              <c:numCache>
                <c:formatCode>General</c:formatCode>
                <c:ptCount val="4"/>
                <c:pt idx="0">
                  <c:v>0.762</c:v>
                </c:pt>
                <c:pt idx="1">
                  <c:v>0.72</c:v>
                </c:pt>
                <c:pt idx="2">
                  <c:v>0.692</c:v>
                </c:pt>
                <c:pt idx="3">
                  <c:v>0.633</c:v>
                </c:pt>
              </c:numCache>
            </c:numRef>
          </c:val>
        </c:ser>
        <c:dLbls>
          <c:numFmt formatCode="0.000" sourceLinked="0"/>
          <c:txPr>
            <a:bodyPr/>
            <a:lstStyle/>
            <a:p>
              <a:pPr>
                <a:defRPr sz="1200" b="1">
                  <a:solidFill>
                    <a:srgbClr val="20236D"/>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txPr>
          <a:bodyPr/>
          <a:lstStyle/>
          <a:p>
            <a:pPr>
              <a:defRPr sz="1200">
                <a:solidFill>
                  <a:srgbClr val="5A6378"/>
                </a:solidFill>
              </a:defRPr>
            </a:pPr>
          </a:p>
        </c:txPr>
        <c:crossAx val="-2113994440"/>
        <c:crosses val="autoZero"/>
        <c:auto val="1"/>
        <c:lblAlgn val="ctr"/>
        <c:lblOffset val="100"/>
        <c:noMultiLvlLbl val="0"/>
      </c:catAx>
      <c:valAx>
        <c:axId val="-2113994440"/>
        <c:scaling>
          <c:max val="1.0"/>
          <c:min val="0.0"/>
        </c:scaling>
        <c:delete val="0"/>
        <c:axPos val="b"/>
        <c:numFmt formatCode="0.0" sourceLinked="0"/>
        <c:majorTickMark val="out"/>
        <c:minorTickMark val="none"/>
        <c:tickLblPos val="nextTo"/>
        <c:txPr>
          <a:bodyPr/>
          <a:lstStyle/>
          <a:p>
            <a:pPr>
              <a:defRPr sz="1000">
                <a:solidFill>
                  <a:srgbClr val="5A6378"/>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2B2D6A-D10B-4950-84AB-B76A76B41051}" type="datetimeFigureOut">
              <a:t>06-07-26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2D85B4-8D15-40BA-BE63-8F85761BC2A6}" type="slidenum">
              <a:t>‹Nº›</a:t>
            </a:fld>
            <a:endParaRPr lang="es-ES"/>
          </a:p>
        </p:txBody>
      </p:sp>
    </p:spTree>
    <p:extLst>
      <p:ext uri="{BB962C8B-B14F-4D97-AF65-F5344CB8AC3E}">
        <p14:creationId xmlns:p14="http://schemas.microsoft.com/office/powerpoint/2010/main" val="152628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[0:00 - 0:20]  Buenos dias. Presentamos el proyecto integrado sobre desercion en la educacion superior chilena. Somos Maria Fassler y Sebastian Antunez, Grupo 4.</a:t>
            </a:r>
          </a:p>
          <a:p/>
          <a:p>
            <a:r>
              <a:t>Esta fase no es un trabajo nuevo: es el cierre de una cadena que empezo en la Sumativa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[0:20 - 1:30]  El conjunto reune 9.678 programas de pregrado, construidos desde las bases abiertas del SIES: matricula 2007-2026 y titulados 2007-2025. El abandono aparente medio es 0,518, con una dispersion enorme entre programas. Si todos se parecieran, no habria nada que predecir.</a:t>
            </a:r>
          </a:p>
          <a:p/>
          <a:p>
            <a:r>
              <a:t>El tercer numero condiciona toda la metodologia: esos programas pertenecen a solo 168 instituciones. Los programas de una misma universidad no son independientes, y ese hecho reaparece al final como el resultado central de la fase.</a:t>
            </a:r>
          </a:p>
          <a:p/>
          <a:p>
            <a:r>
              <a:t>La pregunta practica es si el abandono puede anticiparse con atributos observables del programa, para focalizar recursos de retencion.</a:t>
            </a:r>
          </a:p>
          <a:p/>
          <a:p>
            <a:r>
              <a:t>Y dos advertencias de entrada, no al final. La unidad es el programa, no el estudiante: nada de lo que digamos aplica a una persona concreta. Y medimos abandono aparente: quien se cambia de carrera y se titula en otra parte, aqui cuenta como abandono.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[1:30 - 1:40]  Paso a la metodologia. La idea es simple: ninguna decision de esta fase es nueva, todas vienen de un resultado de las fases anteriores.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[1:40 - 2:30]  La primera sumativa describio y midio: abandono medio 0,518, nueve variables asociadas, 465 programas censurados y cero datos faltantes. Todo con procedimientos clasicos y supuestos sin verificar.</a:t>
            </a:r>
          </a:p>
          <a:p/>
          <a:p>
            <a:r>
              <a:t>La segunda lo puso a prueba. El bootstrap confirmo que los intervalos clasicos eran fiables. La permutacion valido el contraste sin suponer normalidad. La evaluacion de estabilidad separo las correlaciones solidas de las debiles. Y advirtio que los programas de una institucion no son independientes.</a:t>
            </a:r>
          </a:p>
          <a:p/>
          <a:p>
            <a:r>
              <a:t>Esta tercera fase integra todo eso en un modelo predictivo. Cada punto de la columna derecha es consecuencia directa de las dos anteriores.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[2:30 - 3:20]  Esta tabla es la trazabilidad completa, y responde directamente a lo que la pauta exige demostrar.</a:t>
            </a:r>
          </a:p>
          <a:p/>
          <a:p>
            <a:r>
              <a:t>Las predictoras de los imputadores salieron de la matriz de correlaciones de S1. Las variables del modelo, del filtro de estabilidad de S2. Conservar los 465 censurados viene de la auditoria caso a caso que hizo S2, que encontro que el 91 por ciento de los que tienen abandono uno son cierres reales de programa. El umbral del 50 por ciento es el de S1, validado por intervalo de Wilson y contraste Z en S2. Y el bootstrap por institucion, que presentamos como extension, viene de la advertencia de S2 sobre la no independencia.</a:t>
            </a:r>
          </a:p>
          <a:p/>
          <a:p>
            <a:r>
              <a:t>No hay ninguna decision a la izquierda sin antecedente a la derecha.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[3:20 - 4:10]  Aqui hay que ser transparentes. La pauta pide imputar datos faltantes y S1 habia demostrado que no hay ninguno; mas aun, nunca los hubo, porque cada fila es un agregado por programa.</a:t>
            </a:r>
          </a:p>
          <a:p/>
          <a:p>
            <a:r>
              <a:t>La pauta prescribe el procedimiento para ese caso: una o dos variables, entre el 10 y el 15 por ciento, MCAR y semilla fija. Eso se cumple en la edad promedio, que pierde el 14,9 por ciento al azar; MAR y MNAR los declaramos extension voluntaria. La ventaja del diseno es decisiva: conocemos los valores verdaderos y podemos medir el error de cada estrategia.</a:t>
            </a:r>
          </a:p>
          <a:p/>
          <a:p>
            <a:r>
              <a:t>Y la leccion no es la esperada. Bajo MNAR el sesgo es grande, pero bajo MAR es practicamente cero, porque la duracion apenas correlaciona con la variable afectada. MAR no sesga necesariamente las medias: distorsiona las relaciones condicionales.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[4:10 - 4:20]  Paso a los resultados. Son cuatro, y el ultimo es el mas importante desde el punto de vista metodologico.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[4:20 - 5:10]  Primer resultado: comparamos eliminar los casos, imputar por la mediana e imputar por regresion.</a:t>
            </a:r>
          </a:p>
          <a:p/>
          <a:p>
            <a:r>
              <a:t>La regresion gana en las tres dimensiones que importan. Conserva toda la muestra, mientras que eliminar deja solo el 47,5 por ciento, y no al azar: se pierden los programas de mayor duracion y los pequenos, asi que el conjunto superviviente deja de representar al sistema. Preserva mejor las correlaciones que S1 estimo. Y comete menos error contra los valores verdaderos.</a:t>
            </a:r>
          </a:p>
          <a:p/>
          <a:p>
            <a:r>
              <a:t>En la figura se ve por que la mediana es la peor: concentra toda la masa en un punto y atenua las asociaciones.</a:t>
            </a:r>
          </a:p>
          <a:p/>
          <a:p>
            <a:r>
              <a:t>Dos honestidades: donde el imputador no tiene poder predictivo la ventaja es minima, y bajo MNAR ninguna estrategia elimina el sesgo.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[5:10 - 6:00]  Segundo resultado: cuatro variables sostienen la capacidad predictiva, y las cuatro protegen.</a:t>
            </a:r>
          </a:p>
          <a:p/>
          <a:p>
            <a:r>
              <a:t>Acreditacion institucional, razon de momios 0,633; acreditacion de la carrera, 0,692; tamano del programa, 0,720; proporcion de mujeres, 0,762. Como estan estandarizadas, cada numero es el efecto de una desviacion tipica: entre un 24 y un 37 por ciento menos de probabilidad relativa de abandono alto. Las cuatro son significativas al 0,1 por ciento.</a:t>
            </a:r>
          </a:p>
          <a:p/>
          <a:p>
            <a:r>
              <a:t>Y cada una entra al modelo con su cifra, no con una afirmacion vaga: su correlacion en la primera sumativa y su intervalo bootstrap en la segunda, que en los cuatro casos excluye el cero.</a:t>
            </a:r>
          </a:p>
          <a:p/>
          <a:p>
            <a:r>
              <a:t>La corroboracion viene de que construimos tres modelos con criterios distintos (dominio, stepwise por AIC y reducido) y los tres retienen exactamente estas cuatro variables continuas.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[6:00 - 6:50]  Tercer resultado, y lo importante no es el numero del modelo sino con que se compara.</a:t>
            </a:r>
          </a:p>
          <a:p/>
          <a:p>
            <a:r>
              <a:t>La linea base predice siempre la clase mayoritaria: acierta el 54,9 por ciento y su F1 es 0,709, porque su sensibilidad es uno por construccion. El modelo sube la exactitud casi trece puntos y el AUC de 0,500 a 0,730: ahi esta la ganancia real.</a:t>
            </a:r>
          </a:p>
          <a:p/>
          <a:p>
            <a:r>
              <a:t>La pauta pide ponderacion de clase para mejorar el recall y sale al reves: la sensibilidad baja ocho puntos, porque la ponderacion rebaja el peso de la clase mayoritaria y aqui la positiva es la mayoritaria. El AUC no se mueve en ninguna fila: ninguna palanca cambia el orden, solo el punto de corte.</a:t>
            </a:r>
          </a:p>
          <a:p/>
          <a:p>
            <a:r>
              <a:t>La que si sube el recall es el umbral. Con 0,418 la sensibilidad llega a 0,850 y da el mejor F1 de todas, 0,740.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[6:50 - 7:45]  Este es el resultado metodologico central, y es un contraste entre dos remuestreos.</a:t>
            </a:r>
          </a:p>
          <a:p/>
          <a:p>
            <a:r>
              <a:t>El primero es el bootstrap estandar, que remuestrea observaciones y es el que corresponde a la particion que usamos. Su resultado es tranquilizador: los intervalos reproducen casi exactamente los clasicos, con una razon entre 1,00 y 1,12. Es el mismo veredicto que la segunda sumativa dio sobre medias y correlaciones.</a:t>
            </a:r>
          </a:p>
          <a:p/>
          <a:p>
            <a:r>
              <a:t>El segundo remuestrea instituciones y arrastra todos sus programas. Ahi los intervalos se ensanchan entre 1,62 y 3,01 veces, y los coeficientes sin signo determinado suben de cuatro a siete de veinte.</a:t>
            </a:r>
          </a:p>
          <a:p/>
          <a:p>
            <a:r>
              <a:t>No se contradicen: responden a preguntas distintas. El primero dice que, si los programas fueran independientes, la precision declarada seria correcta. El segundo dice que no lo son, y que la precision real es entre dos y tres veces menor.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[7:45 - 8:35]  El diagnostico deja dos cosas tranquilas y dos incomodas.</a:t>
            </a:r>
          </a:p>
          <a:p/>
          <a:p>
            <a:r>
              <a:t>Tranquilas: la colinealidad no es problema, los cuatro VIF estan bajo 1,21; y la calibracion es buena, porque la probabilidad predicha sigue la frecuencia observada por deciles.</a:t>
            </a:r>
          </a:p>
          <a:p/>
          <a:p>
            <a:r>
              <a:t>Incomodas, y las declaramos. Box-Tidwell rechaza la linealidad en el logit en tres de las cuatro variables continuas. El modelo lineal es una aproximacion y las razones de momios son efectos promedio.</a:t>
            </a:r>
          </a:p>
          <a:p/>
          <a:p>
            <a:r>
              <a:t>Y las observaciones influyentes: ninguna domina, la distancia de Cook maxima es 0,0095. Pero retirar las 237 que superan cuatro sobre n mueve el coeficiente de la acreditacion institucional casi un 88 por ciento.</a:t>
            </a:r>
          </a:p>
          <a:p/>
          <a:p>
            <a:r>
              <a:t>Eso concuerda con el bootstrap: es el coeficiente cuyo intervalo mas se ensancha. Es la variable de mayor efecto y la de menor solidez.</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[8:35 - 9:20]  Conclusiones, en dos columnas, porque un trabajo serio tiene que decir las dos cosas.</a:t>
            </a:r>
          </a:p>
          <a:p/>
          <a:p>
            <a:r>
              <a:t>Permite afirmar que el abandono aparente se asocia de forma robusta con la acreditacion, el tamano y la composicion de genero; que el modelo suma casi trece puntos sobre la linea base, de modo que sirve para priorizar; y que las cuatro variables que lo sostienen son las que resistieron el remuestreo en S2.</a:t>
            </a:r>
          </a:p>
          <a:p/>
          <a:p>
            <a:r>
              <a:t>No permite afirmar nada sobre estudiantes individuales, porque la unidad es el programa. Nada sobre causas, porque no hay grupo de control. Nada sobre el abandono real, porque medimos el aparente. Y nada firme sobre los efectos categoricos.</a:t>
            </a:r>
          </a:p>
          <a:p/>
          <a:p>
            <a:r>
              <a:t>Esa segunda columna es parte del resultado.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[9:20 - 10:00]  Cierro con las recomendaciones. Cuatro sobre datos faltantes: preferir la imputacion por regresion; no eliminar casos cuando la ausencia no es MCAR; declarar siempre el mecanismo supuesto; y tratar como optimista todo intervalo posterior a una imputacion simple.</a:t>
            </a:r>
          </a:p>
          <a:p/>
          <a:p>
            <a:r>
              <a:t>Esa ultima lleva a la limitacion mas importante: ninguna de las dos imputaciones propaga la incertidumbre de haber imputado, y corregirlo exige imputacion multiple. Las otras dos extensiones son terminos no lineales donde Box-Tidwell los exige, y un modelo multinivel que trate la institucion como efecto aleatorio.</a:t>
            </a:r>
          </a:p>
          <a:p/>
          <a:p>
            <a:r>
              <a:t>S1 describio y midio, S2 puso a prueba y valido, y S3 modela y predice sobre lo que quedo en pie. Muchas gracias.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de cierre. Agradecer y quedar disponible para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7DC156A5-B668-40B6-B68E-AFC99CB3A359}" type="datetimeFigureOut">
              <a:rPr lang="es-CL" smtClean="0"/>
              <a:t>06-07-26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81876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7DC156A5-B668-40B6-B68E-AFC99CB3A359}" type="datetimeFigureOut">
              <a:rPr lang="es-CL" smtClean="0"/>
              <a:t>06-07-26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777784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7DC156A5-B668-40B6-B68E-AFC99CB3A359}" type="datetimeFigureOut">
              <a:rPr lang="es-CL" smtClean="0"/>
              <a:t>06-07-26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463483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7DC156A5-B668-40B6-B68E-AFC99CB3A359}" type="datetimeFigureOut">
              <a:rPr lang="es-CL" smtClean="0"/>
              <a:t>06-07-26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1643728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7DC156A5-B668-40B6-B68E-AFC99CB3A359}" type="datetimeFigureOut">
              <a:rPr lang="es-CL" smtClean="0"/>
              <a:t>06-07-26</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1964894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7DC156A5-B668-40B6-B68E-AFC99CB3A359}" type="datetimeFigureOut">
              <a:rPr lang="es-CL" smtClean="0"/>
              <a:t>06-07-26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2114832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C156A5-B668-40B6-B68E-AFC99CB3A359}" type="datetimeFigureOut">
              <a:rPr lang="es-CL" smtClean="0"/>
              <a:t>06-07-26</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474201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7DC156A5-B668-40B6-B68E-AFC99CB3A359}" type="datetimeFigureOut">
              <a:rPr lang="es-CL" smtClean="0"/>
              <a:t>06-07-26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1242401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7DC156A5-B668-40B6-B68E-AFC99CB3A359}" type="datetimeFigureOut">
              <a:rPr lang="es-CL" smtClean="0"/>
              <a:t>06-07-26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1571960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7DC156A5-B668-40B6-B68E-AFC99CB3A359}" type="datetimeFigureOut">
              <a:rPr lang="es-CL" smtClean="0"/>
              <a:t>06-07-26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3224430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7DC156A5-B668-40B6-B68E-AFC99CB3A359}" type="datetimeFigureOut">
              <a:rPr lang="es-CL" smtClean="0"/>
              <a:t>06-07-26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38119240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C156A5-B668-40B6-B68E-AFC99CB3A359}" type="datetimeFigureOut">
              <a:rPr lang="es-CL" smtClean="0"/>
              <a:t>06-07-26</a:t>
            </a:fld>
            <a:endParaRPr lang="es-C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4E32BF-339A-4FD7-AF2D-884DBB49ECE9}" type="slidenum">
              <a:rPr lang="es-CL" smtClean="0"/>
              <a:t>‹Nº›</a:t>
            </a:fld>
            <a:endParaRPr lang="es-CL"/>
          </a:p>
        </p:txBody>
      </p:sp>
    </p:spTree>
    <p:extLst>
      <p:ext uri="{BB962C8B-B14F-4D97-AF65-F5344CB8AC3E}">
        <p14:creationId xmlns:p14="http://schemas.microsoft.com/office/powerpoint/2010/main" val="833609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4.emf"/><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image" Target="../media/image4.em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4.emf"/><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emf"/><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8261AC4D-D56B-FCD9-2D31-C2C2E0662094}"/>
              </a:ext>
            </a:extLst>
          </p:cNvPr>
          <p:cNvSpPr txBox="1">
            <a:spLocks/>
          </p:cNvSpPr>
          <p:nvPr/>
        </p:nvSpPr>
        <p:spPr>
          <a:xfrm>
            <a:off x="5001768" y="2743200"/>
            <a:ext cx="6812280" cy="1024128"/>
          </a:xfrm>
          <a:prstGeom prst="rect">
            <a:avLst/>
          </a:prstGeom>
        </p:spPr>
        <p:txBody>
          <a:bodyPr vert="horz" lIns="91440" tIns="45720" rIns="91440" bIns="45720" rtlCol="0" anchor="b"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ES" sz="2600" dirty="0">
                <a:solidFill>
                  <a:srgbClr val="FFFFFF"/>
                </a:solidFill>
                <a:latin typeface="Montserrat" pitchFamily="2" charset="77"/>
                <a:cs typeface="Calibri Light"/>
              </a:rPr>
              <a:t>Deserción en la educación superior chilena</a:t>
            </a:r>
            <a:endParaRPr lang="es-ES" sz="5400" dirty="0">
              <a:solidFill>
                <a:srgbClr val="FFFFFF"/>
              </a:solidFill>
              <a:latin typeface="Montserrat" pitchFamily="2" charset="77"/>
            </a:endParaRPr>
          </a:p>
        </p:txBody>
      </p:sp>
      <p:sp>
        <p:nvSpPr>
          <p:cNvPr id="4" name="Rectángulo 3">
            <a:extLst>
              <a:ext uri="{FF2B5EF4-FFF2-40B4-BE49-F238E27FC236}">
                <a16:creationId xmlns:a16="http://schemas.microsoft.com/office/drawing/2014/main" id="{2944E5F5-76E7-7915-76DC-35DD2BF31062}"/>
              </a:ext>
            </a:extLst>
          </p:cNvPr>
          <p:cNvSpPr/>
          <p:nvPr/>
        </p:nvSpPr>
        <p:spPr>
          <a:xfrm>
            <a:off x="5005973" y="3860501"/>
            <a:ext cx="6000108"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Subtítulo 2">
            <a:extLst>
              <a:ext uri="{FF2B5EF4-FFF2-40B4-BE49-F238E27FC236}">
                <a16:creationId xmlns:a16="http://schemas.microsoft.com/office/drawing/2014/main" id="{9CBD3C2B-219F-AC36-606B-A6905CE9EE69}"/>
              </a:ext>
            </a:extLst>
          </p:cNvPr>
          <p:cNvSpPr txBox="1">
            <a:spLocks/>
          </p:cNvSpPr>
          <p:nvPr/>
        </p:nvSpPr>
        <p:spPr>
          <a:xfrm>
            <a:off x="5001768" y="4005072"/>
            <a:ext cx="6812280" cy="1005840"/>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s-CL" sz="1500" b="0" i="0" dirty="0">
                <a:solidFill>
                  <a:srgbClr val="FFFFFF"/>
                </a:solidFill>
              </a:rPr>
              <a:t xml:space="preserve">Modelamiento predictivo integrado · Evaluación Sumativa 3</a:t>
            </a:r>
          </a:p>
          <a:p>
            <a:pPr algn="l">
              <a:spcBef>
                <a:spcPts val="0"/>
              </a:spcBef>
            </a:pPr>
            <a:r>
              <a:rPr lang="es-CL" sz="1500" b="0" i="0" dirty="0">
                <a:solidFill>
                  <a:srgbClr val="FFFFFF"/>
                </a:solidFill>
              </a:rPr>
              <a:t xml:space="preserve">María Fassler Neumann · Sebastian Antunez Noguera · Grupo 4</a:t>
            </a:r>
          </a:p>
          <a:p>
            <a:pPr algn="l">
              <a:spcBef>
                <a:spcPts val="0"/>
              </a:spcBef>
            </a:pPr>
            <a:r>
              <a:rPr lang="es-CL" sz="1500" b="0" i="0" dirty="0">
                <a:solidFill>
                  <a:srgbClr val="FFFFFF"/>
                </a:solidFill>
              </a:rPr>
              <a:t xml:space="preserve">MCDI501 Estadística Computacional para la Toma de Decisiones</a:t>
            </a:r>
          </a:p>
        </p:txBody>
      </p:sp>
      <p:sp>
        <p:nvSpPr>
          <p:cNvPr id="8" name="Subtítulo 2">
            <a:extLst>
              <a:ext uri="{FF2B5EF4-FFF2-40B4-BE49-F238E27FC236}">
                <a16:creationId xmlns:a16="http://schemas.microsoft.com/office/drawing/2014/main" id="{41860A79-B110-9F78-3978-77AFA70E5855}"/>
              </a:ext>
            </a:extLst>
          </p:cNvPr>
          <p:cNvSpPr txBox="1">
            <a:spLocks/>
          </p:cNvSpPr>
          <p:nvPr/>
        </p:nvSpPr>
        <p:spPr>
          <a:xfrm>
            <a:off x="5001768" y="6172200"/>
            <a:ext cx="6812280" cy="365760"/>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s-CL" sz="1200" b="0" i="0" dirty="0">
                <a:solidFill>
                  <a:srgbClr val="FFFFFF"/>
                </a:solidFill>
              </a:rPr>
              <a:t xml:space="preserve">Docente: Jean Paul Maidana · 28 de octubre de 2026</a:t>
            </a:r>
          </a:p>
        </p:txBody>
      </p:sp>
      <p:pic>
        <p:nvPicPr>
          <p:cNvPr id="3" name="Imagen 2">
            <a:extLst>
              <a:ext uri="{FF2B5EF4-FFF2-40B4-BE49-F238E27FC236}">
                <a16:creationId xmlns:a16="http://schemas.microsoft.com/office/drawing/2014/main" id="{50049516-04B1-49E2-CC29-A48B3B898DA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45046" y="2985545"/>
            <a:ext cx="4562771" cy="1545455"/>
          </a:xfrm>
          <a:prstGeom prst="rect">
            <a:avLst/>
          </a:prstGeom>
        </p:spPr>
      </p:pic>
    </p:spTree>
    <p:extLst>
      <p:ext uri="{BB962C8B-B14F-4D97-AF65-F5344CB8AC3E}">
        <p14:creationId xmlns:p14="http://schemas.microsoft.com/office/powerpoint/2010/main" val="331973462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FEC22D5A-3C23-5016-41A3-8B5BC274D0E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FFBF986-AD27-9A41-A79D-69D10AD09B01}"/>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13" name="Grupo 12">
              <a:extLst>
                <a:ext uri="{FF2B5EF4-FFF2-40B4-BE49-F238E27FC236}">
                  <a16:creationId xmlns:a16="http://schemas.microsoft.com/office/drawing/2014/main" id="{28CDD850-5646-4AD6-8B5A-F8F5CBE1C7E8}"/>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EF66A722-3A5E-9405-F29C-D5E1DF85B86C}"/>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6" name="Imagen 15">
                <a:extLst>
                  <a:ext uri="{FF2B5EF4-FFF2-40B4-BE49-F238E27FC236}">
                    <a16:creationId xmlns:a16="http://schemas.microsoft.com/office/drawing/2014/main" id="{9F5C1299-86B3-B30B-CD51-74C83AFEF531}"/>
                  </a:ext>
                </a:extLst>
              </p:cNvPr>
              <p:cNvPicPr>
                <a:picLocks noChangeAspect="1"/>
              </p:cNvPicPr>
              <p:nvPr/>
            </p:nvPicPr>
            <p:blipFill>
              <a:blip r:embed="rId3"/>
              <a:stretch>
                <a:fillRect/>
              </a:stretch>
            </p:blipFill>
            <p:spPr>
              <a:xfrm>
                <a:off x="10375523" y="394074"/>
                <a:ext cx="1151092" cy="973350"/>
              </a:xfrm>
              <a:prstGeom prst="rect">
                <a:avLst/>
              </a:prstGeom>
            </p:spPr>
          </p:pic>
        </p:grpSp>
      </p:grpSp>
      <p:sp>
        <p:nvSpPr>
          <p:cNvPr id="8" name="CuadroTexto 7">
            <a:extLst>
              <a:ext uri="{FF2B5EF4-FFF2-40B4-BE49-F238E27FC236}">
                <a16:creationId xmlns:a16="http://schemas.microsoft.com/office/drawing/2014/main" id="{C2367F09-C3D0-E580-1228-D790B7E13002}"/>
              </a:ext>
            </a:extLst>
          </p:cNvPr>
          <p:cNvSpPr txBox="1"/>
          <p:nvPr/>
        </p:nvSpPr>
        <p:spPr>
          <a:xfrm>
            <a:off x="1264220" y="1627632"/>
            <a:ext cx="2971760" cy="1920240"/>
          </a:xfrm>
          <a:prstGeom prst="rect">
            <a:avLst/>
          </a:prstGeom>
          <a:noFill/>
        </p:spPr>
        <p:txBody>
          <a:bodyPr wrap="square">
            <a:spAutoFit/>
          </a:bodyPr>
          <a:lstStyle/>
          <a:p>
            <a:pPr algn="l">
              <a:spcBef>
                <a:spcPts val="0"/>
              </a:spcBef>
            </a:pPr>
            <a:r>
              <a:rPr lang="es-CL" sz="4000" b="0" i="0" dirty="0">
                <a:solidFill>
                  <a:srgbClr val="20236D"/>
                </a:solidFill>
              </a:rPr>
              <a:t xml:space="preserve">9.678</a:t>
            </a:r>
          </a:p>
          <a:p>
            <a:pPr algn="l">
              <a:spcBef>
                <a:spcPts val="400"/>
              </a:spcBef>
            </a:pPr>
            <a:r>
              <a:rPr lang="es-CL" sz="1300" b="0" i="0" dirty="0">
                <a:solidFill>
                  <a:schemeClr val="tx1">
                    <a:lumMod val="75000"/>
                    <a:lumOff val="25000"/>
                  </a:schemeClr>
                </a:solidFill>
              </a:rPr>
              <a:t xml:space="preserve">programas de pregrado, construidos desde las bases SIES de matrícula 2007–2026 y titulados 2007–2025</a:t>
            </a:r>
          </a:p>
        </p:txBody>
      </p:sp>
      <p:sp>
        <p:nvSpPr>
          <p:cNvPr id="17" name="Rectángulo 16">
            <a:extLst>
              <a:ext uri="{FF2B5EF4-FFF2-40B4-BE49-F238E27FC236}">
                <a16:creationId xmlns:a16="http://schemas.microsoft.com/office/drawing/2014/main" id="{6448D6FB-F375-29BE-C296-B67DB9A18606}"/>
              </a:ext>
            </a:extLst>
          </p:cNvPr>
          <p:cNvSpPr/>
          <p:nvPr/>
        </p:nvSpPr>
        <p:spPr>
          <a:xfrm rot="16200000">
            <a:off x="3367300" y="2400300"/>
            <a:ext cx="1737360" cy="45720"/>
          </a:xfrm>
          <a:prstGeom prst="rect">
            <a:avLst/>
          </a:prstGeom>
          <a:solidFill>
            <a:schemeClr val="bg1">
              <a:lumMod val="85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11414FBC-036B-F32C-775B-F97BC997559D}"/>
              </a:ext>
            </a:extLst>
          </p:cNvPr>
          <p:cNvSpPr/>
          <p:nvPr/>
        </p:nvSpPr>
        <p:spPr>
          <a:xfrm rot="16200000">
            <a:off x="6490491" y="2400300"/>
            <a:ext cx="1737360" cy="45720"/>
          </a:xfrm>
          <a:prstGeom prst="rect">
            <a:avLst/>
          </a:prstGeom>
          <a:solidFill>
            <a:schemeClr val="bg1">
              <a:lumMod val="85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271A28B1-078C-167A-05FF-22C362B423AF}"/>
              </a:ext>
            </a:extLst>
          </p:cNvPr>
          <p:cNvSpPr/>
          <p:nvPr/>
        </p:nvSpPr>
        <p:spPr>
          <a:xfrm>
            <a:off x="1463041" y="648352"/>
            <a:ext cx="8591812"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rPr>
              <a:t>Qué medimos y por qué importa</a:t>
            </a:r>
          </a:p>
        </p:txBody>
      </p:sp>
      <p:sp>
        <p:nvSpPr>
          <p:cNvPr id="4" name="CuadroTexto 3">
            <a:extLst>
              <a:ext uri="{FF2B5EF4-FFF2-40B4-BE49-F238E27FC236}">
                <a16:creationId xmlns:a16="http://schemas.microsoft.com/office/drawing/2014/main" id="{B21BE484-1B8A-C467-7B63-8768B0E64AD2}"/>
              </a:ext>
            </a:extLst>
          </p:cNvPr>
          <p:cNvSpPr txBox="1"/>
          <p:nvPr/>
        </p:nvSpPr>
        <p:spPr>
          <a:xfrm>
            <a:off x="4336193" y="1627632"/>
            <a:ext cx="2971760" cy="1920240"/>
          </a:xfrm>
          <a:prstGeom prst="rect">
            <a:avLst/>
          </a:prstGeom>
          <a:noFill/>
        </p:spPr>
        <p:txBody>
          <a:bodyPr wrap="square">
            <a:spAutoFit/>
          </a:bodyPr>
          <a:lstStyle/>
          <a:p>
            <a:pPr algn="l">
              <a:spcBef>
                <a:spcPts val="0"/>
              </a:spcBef>
            </a:pPr>
            <a:r>
              <a:rPr lang="es-CL" sz="4000" b="0" i="0" dirty="0">
                <a:solidFill>
                  <a:srgbClr val="20236D"/>
                </a:solidFill>
              </a:rPr>
              <a:t xml:space="preserve">0,518</a:t>
            </a:r>
          </a:p>
          <a:p>
            <a:pPr algn="l">
              <a:spcBef>
                <a:spcPts val="400"/>
              </a:spcBef>
            </a:pPr>
            <a:r>
              <a:rPr lang="es-CL" sz="1300" b="0" i="0" dirty="0">
                <a:solidFill>
                  <a:schemeClr val="tx1">
                    <a:lumMod val="75000"/>
                    <a:lumOff val="25000"/>
                  </a:schemeClr>
                </a:solidFill>
              </a:rPr>
              <a:t xml:space="preserve">abandono aparente medio del sistema, con una dispersión enorme entre programas</a:t>
            </a:r>
          </a:p>
        </p:txBody>
      </p:sp>
      <p:sp>
        <p:nvSpPr>
          <p:cNvPr id="5" name="CuadroTexto 4">
            <a:extLst>
              <a:ext uri="{FF2B5EF4-FFF2-40B4-BE49-F238E27FC236}">
                <a16:creationId xmlns:a16="http://schemas.microsoft.com/office/drawing/2014/main" id="{A5F384CB-153C-1BE9-3318-838F90040264}"/>
              </a:ext>
            </a:extLst>
          </p:cNvPr>
          <p:cNvSpPr txBox="1"/>
          <p:nvPr/>
        </p:nvSpPr>
        <p:spPr>
          <a:xfrm>
            <a:off x="7603375" y="1627632"/>
            <a:ext cx="2971760" cy="1920240"/>
          </a:xfrm>
          <a:prstGeom prst="rect">
            <a:avLst/>
          </a:prstGeom>
          <a:noFill/>
        </p:spPr>
        <p:txBody>
          <a:bodyPr wrap="square">
            <a:spAutoFit/>
          </a:bodyPr>
          <a:lstStyle/>
          <a:p>
            <a:pPr algn="l">
              <a:spcBef>
                <a:spcPts val="0"/>
              </a:spcBef>
            </a:pPr>
            <a:r>
              <a:rPr lang="es-CL" sz="4000" b="0" i="0" dirty="0">
                <a:solidFill>
                  <a:srgbClr val="20236D"/>
                </a:solidFill>
              </a:rPr>
              <a:t xml:space="preserve">168</a:t>
            </a:r>
          </a:p>
          <a:p>
            <a:pPr algn="l">
              <a:spcBef>
                <a:spcPts val="400"/>
              </a:spcBef>
            </a:pPr>
            <a:r>
              <a:rPr lang="es-CL" sz="1300" b="0" i="0" dirty="0">
                <a:solidFill>
                  <a:schemeClr val="tx1">
                    <a:lumMod val="75000"/>
                    <a:lumOff val="25000"/>
                  </a:schemeClr>
                </a:solidFill>
              </a:rPr>
              <a:t xml:space="preserve">instituciones: los programas de una misma institución no son independientes</a:t>
            </a:r>
          </a:p>
        </p:txBody>
      </p:sp>
      <p:sp>
        <p:nvSpPr>
          <p:cNvPr id="19" name="TextBox 18"/>
          <p:cNvSpPr txBox="1"/>
          <p:nvPr/>
        </p:nvSpPr>
        <p:spPr>
          <a:xfrm>
            <a:off x="1261872" y="3749039"/>
            <a:ext cx="9317736" cy="1828800"/>
          </a:xfrm>
          <a:prstGeom prst="rect">
            <a:avLst/>
          </a:prstGeom>
          <a:noFill/>
        </p:spPr>
        <p:txBody>
          <a:bodyPr wrap="square" anchor="t">
            <a:spAutoFit/>
          </a:bodyPr>
          <a:lstStyle/>
          <a:p>
            <a:pPr algn="l">
              <a:spcBef>
                <a:spcPts val="0"/>
              </a:spcBef>
            </a:pPr>
            <a:r>
              <a:rPr lang="es-CL" sz="1600" b="0" i="0" dirty="0">
                <a:solidFill>
                  <a:srgbClr val="20236D"/>
                </a:solidFill>
              </a:rPr>
              <a:t xml:space="preserve">La pregunta que organiza el proyecto</a:t>
            </a:r>
          </a:p>
          <a:p>
            <a:pPr algn="just">
              <a:spcBef>
                <a:spcPts val="400"/>
              </a:spcBef>
            </a:pPr>
            <a:r>
              <a:rPr lang="es-CL" sz="1500" b="0" i="0" dirty="0">
                <a:solidFill>
                  <a:schemeClr val="tx1">
                    <a:lumMod val="75000"/>
                    <a:lumOff val="25000"/>
                  </a:schemeClr>
                </a:solidFill>
              </a:rPr>
              <a:t xml:space="preserve">¿Puede anticiparse el abandono de un programa a partir de atributos observables, para focalizar recursos de retención antes de que el problema se consolide?</a:t>
            </a:r>
          </a:p>
          <a:p>
            <a:pPr algn="just">
              <a:spcBef>
                <a:spcPts val="800"/>
              </a:spcBef>
            </a:pPr>
            <a:r>
              <a:rPr lang="es-CL" sz="1300" b="0" i="0" dirty="0">
                <a:solidFill>
                  <a:schemeClr val="tx1">
                    <a:lumMod val="75000"/>
                    <a:lumOff val="25000"/>
                  </a:schemeClr>
                </a:solidFill>
              </a:rPr>
              <a:t xml:space="preserve">Dos precisiones que condicionan todo lo que sigue: la unidad de análisis es el </a:t>
            </a:r>
            <a:r>
              <a:rPr lang="es-CL" sz="1300" b="1" i="0" dirty="0">
                <a:solidFill>
                  <a:schemeClr val="tx1">
                    <a:lumMod val="75000"/>
                    <a:lumOff val="25000"/>
                  </a:schemeClr>
                </a:solidFill>
              </a:rPr>
              <a:t xml:space="preserve">programa, no el estudiante</a:t>
            </a:r>
            <a:r>
              <a:rPr lang="es-CL" sz="1300" b="0" i="0" dirty="0">
                <a:solidFill>
                  <a:schemeClr val="tx1">
                    <a:lumMod val="75000"/>
                    <a:lumOff val="25000"/>
                  </a:schemeClr>
                </a:solidFill>
              </a:rPr>
              <a:t xml:space="preserve">, y lo que se mide es </a:t>
            </a:r>
            <a:r>
              <a:rPr lang="es-CL" sz="1300" b="1" i="0" dirty="0">
                <a:solidFill>
                  <a:schemeClr val="tx1">
                    <a:lumMod val="75000"/>
                    <a:lumOff val="25000"/>
                  </a:schemeClr>
                </a:solidFill>
              </a:rPr>
              <a:t xml:space="preserve">abandono aparente</a:t>
            </a:r>
            <a:r>
              <a:rPr lang="es-CL" sz="1300" b="0" i="0" dirty="0">
                <a:solidFill>
                  <a:schemeClr val="tx1">
                    <a:lumMod val="75000"/>
                    <a:lumOff val="25000"/>
                  </a:schemeClr>
                </a:solidFill>
              </a:rPr>
              <a:t xml:space="preserve">, de modo que quien se cambia de carrera y se titula en otra parte cuenta aquí como abandono.</a:t>
            </a:r>
          </a:p>
        </p:txBody>
      </p:sp>
    </p:spTree>
    <p:extLst>
      <p:ext uri="{BB962C8B-B14F-4D97-AF65-F5344CB8AC3E}">
        <p14:creationId xmlns:p14="http://schemas.microsoft.com/office/powerpoint/2010/main" val="3554131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4EE738EC-B53A-ABCD-9FA6-598A49119069}"/>
              </a:ext>
            </a:extLst>
          </p:cNvPr>
          <p:cNvPicPr>
            <a:picLocks noChangeAspect="1"/>
          </p:cNvPicPr>
          <p:nvPr/>
        </p:nvPicPr>
        <p:blipFill rotWithShape="1">
          <a:blip r:embed="rId3">
            <a:extLst>
              <a:ext uri="{28A0092B-C50C-407E-A947-70E740481C1C}">
                <a14:useLocalDpi xmlns:a14="http://schemas.microsoft.com/office/drawing/2010/main" val="0"/>
              </a:ext>
            </a:extLst>
          </a:blip>
          <a:srcRect l="38369" r="7163"/>
          <a:stretch/>
        </p:blipFill>
        <p:spPr>
          <a:xfrm>
            <a:off x="6549030" y="-79378"/>
            <a:ext cx="5738628" cy="7016756"/>
          </a:xfrm>
          <a:prstGeom prst="rect">
            <a:avLst/>
          </a:prstGeom>
        </p:spPr>
      </p:pic>
      <p:sp>
        <p:nvSpPr>
          <p:cNvPr id="5" name="CuadroTexto 4">
            <a:extLst>
              <a:ext uri="{FF2B5EF4-FFF2-40B4-BE49-F238E27FC236}">
                <a16:creationId xmlns:a16="http://schemas.microsoft.com/office/drawing/2014/main" id="{C6FFEBCA-443A-A485-8CB8-8F346C8CD519}"/>
              </a:ext>
            </a:extLst>
          </p:cNvPr>
          <p:cNvSpPr txBox="1"/>
          <p:nvPr/>
        </p:nvSpPr>
        <p:spPr>
          <a:xfrm>
            <a:off x="1069848" y="2377440"/>
            <a:ext cx="5111496" cy="2377440"/>
          </a:xfrm>
          <a:prstGeom prst="rect">
            <a:avLst/>
          </a:prstGeom>
          <a:noFill/>
        </p:spPr>
        <p:txBody>
          <a:bodyPr wrap="square">
            <a:spAutoFit/>
          </a:bodyPr>
          <a:lstStyle/>
          <a:p>
            <a:pPr algn="l">
              <a:spcBef>
                <a:spcPts val="0"/>
              </a:spcBef>
            </a:pPr>
            <a:r>
              <a:rPr lang="es-CL" sz="1500" b="0" i="0" dirty="0">
                <a:solidFill>
                  <a:srgbClr val="20236D"/>
                </a:solidFill>
              </a:rPr>
              <a:t xml:space="preserve">Metodología</a:t>
            </a:r>
          </a:p>
          <a:p>
            <a:pPr algn="l">
              <a:spcBef>
                <a:spcPts val="600"/>
              </a:spcBef>
            </a:pPr>
            <a:r>
              <a:rPr lang="es-CL" sz="3200" b="0" i="0" dirty="0">
                <a:solidFill>
                  <a:srgbClr val="20236D"/>
                </a:solidFill>
              </a:rPr>
              <a:t xml:space="preserve">La cadena S1 → S2 → S3</a:t>
            </a:r>
          </a:p>
          <a:p>
            <a:pPr algn="just">
              <a:spcBef>
                <a:spcPts val="1400"/>
              </a:spcBef>
            </a:pPr>
            <a:r>
              <a:rPr lang="es-CL" sz="1600" b="0" i="0" dirty="0">
                <a:solidFill>
                  <a:schemeClr val="tx1">
                    <a:lumMod val="75000"/>
                    <a:lumOff val="25000"/>
                  </a:schemeClr>
                </a:solidFill>
              </a:rPr>
              <a:t xml:space="preserve">Ninguna decisión metodológica de esta fase es nueva: todas provienen de un resultado de las fases anteriores.</a:t>
            </a:r>
          </a:p>
        </p:txBody>
      </p:sp>
      <p:grpSp>
        <p:nvGrpSpPr>
          <p:cNvPr id="8" name="Grupo 7">
            <a:extLst>
              <a:ext uri="{FF2B5EF4-FFF2-40B4-BE49-F238E27FC236}">
                <a16:creationId xmlns:a16="http://schemas.microsoft.com/office/drawing/2014/main" id="{6FF7A741-E6D2-4FDD-9F5C-9DDFC4954BAF}"/>
              </a:ext>
            </a:extLst>
          </p:cNvPr>
          <p:cNvGrpSpPr/>
          <p:nvPr/>
        </p:nvGrpSpPr>
        <p:grpSpPr>
          <a:xfrm>
            <a:off x="302002" y="-206018"/>
            <a:ext cx="11544754" cy="6812558"/>
            <a:chOff x="302002" y="-206018"/>
            <a:chExt cx="11544754" cy="6812558"/>
          </a:xfrm>
        </p:grpSpPr>
        <p:sp>
          <p:nvSpPr>
            <p:cNvPr id="9" name="Rectángulo 8">
              <a:extLst>
                <a:ext uri="{FF2B5EF4-FFF2-40B4-BE49-F238E27FC236}">
                  <a16:creationId xmlns:a16="http://schemas.microsoft.com/office/drawing/2014/main" id="{2F27250F-C848-235D-E653-70F65D012EC5}"/>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10" name="Grupo 9">
              <a:extLst>
                <a:ext uri="{FF2B5EF4-FFF2-40B4-BE49-F238E27FC236}">
                  <a16:creationId xmlns:a16="http://schemas.microsoft.com/office/drawing/2014/main" id="{2DCD665D-4AAC-4906-F154-2F2CC78C6840}"/>
                </a:ext>
              </a:extLst>
            </p:cNvPr>
            <p:cNvGrpSpPr/>
            <p:nvPr/>
          </p:nvGrpSpPr>
          <p:grpSpPr>
            <a:xfrm>
              <a:off x="10266948" y="-206018"/>
              <a:ext cx="1339576" cy="1716660"/>
              <a:chOff x="10266948" y="-206018"/>
              <a:chExt cx="1339576" cy="1716660"/>
            </a:xfrm>
          </p:grpSpPr>
          <p:sp>
            <p:nvSpPr>
              <p:cNvPr id="12" name="Título 1">
                <a:extLst>
                  <a:ext uri="{FF2B5EF4-FFF2-40B4-BE49-F238E27FC236}">
                    <a16:creationId xmlns:a16="http://schemas.microsoft.com/office/drawing/2014/main" id="{5D8FA4FE-7036-9B75-9BCB-90444AA13492}"/>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5" name="Imagen 14">
                <a:extLst>
                  <a:ext uri="{FF2B5EF4-FFF2-40B4-BE49-F238E27FC236}">
                    <a16:creationId xmlns:a16="http://schemas.microsoft.com/office/drawing/2014/main" id="{808F2274-5EBE-CD55-0C3D-3B5DC114D6EA}"/>
                  </a:ext>
                </a:extLst>
              </p:cNvPr>
              <p:cNvPicPr>
                <a:picLocks noChangeAspect="1"/>
              </p:cNvPicPr>
              <p:nvPr/>
            </p:nvPicPr>
            <p:blipFill>
              <a:blip r:embed="rId4"/>
              <a:stretch>
                <a:fillRect/>
              </a:stretch>
            </p:blipFill>
            <p:spPr>
              <a:xfrm>
                <a:off x="10375523" y="394074"/>
                <a:ext cx="1151092" cy="973350"/>
              </a:xfrm>
              <a:prstGeom prst="rect">
                <a:avLst/>
              </a:prstGeom>
            </p:spPr>
          </p:pic>
        </p:grpSp>
      </p:grpSp>
    </p:spTree>
    <p:extLst>
      <p:ext uri="{BB962C8B-B14F-4D97-AF65-F5344CB8AC3E}">
        <p14:creationId xmlns:p14="http://schemas.microsoft.com/office/powerpoint/2010/main" val="992093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FEC22D5A-3C23-5016-41A3-8B5BC274D0E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FFBF986-AD27-9A41-A79D-69D10AD09B01}"/>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13" name="Grupo 12">
              <a:extLst>
                <a:ext uri="{FF2B5EF4-FFF2-40B4-BE49-F238E27FC236}">
                  <a16:creationId xmlns:a16="http://schemas.microsoft.com/office/drawing/2014/main" id="{28CDD850-5646-4AD6-8B5A-F8F5CBE1C7E8}"/>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EF66A722-3A5E-9405-F29C-D5E1DF85B86C}"/>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6" name="Imagen 15">
                <a:extLst>
                  <a:ext uri="{FF2B5EF4-FFF2-40B4-BE49-F238E27FC236}">
                    <a16:creationId xmlns:a16="http://schemas.microsoft.com/office/drawing/2014/main" id="{9F5C1299-86B3-B30B-CD51-74C83AFEF531}"/>
                  </a:ext>
                </a:extLst>
              </p:cNvPr>
              <p:cNvPicPr>
                <a:picLocks noChangeAspect="1"/>
              </p:cNvPicPr>
              <p:nvPr/>
            </p:nvPicPr>
            <p:blipFill>
              <a:blip r:embed="rId3"/>
              <a:stretch>
                <a:fillRect/>
              </a:stretch>
            </p:blipFill>
            <p:spPr>
              <a:xfrm>
                <a:off x="10375523" y="394074"/>
                <a:ext cx="1151092" cy="973350"/>
              </a:xfrm>
              <a:prstGeom prst="rect">
                <a:avLst/>
              </a:prstGeom>
            </p:spPr>
          </p:pic>
        </p:grpSp>
      </p:grpSp>
      <p:sp>
        <p:nvSpPr>
          <p:cNvPr id="8" name="CuadroTexto 7">
            <a:extLst>
              <a:ext uri="{FF2B5EF4-FFF2-40B4-BE49-F238E27FC236}">
                <a16:creationId xmlns:a16="http://schemas.microsoft.com/office/drawing/2014/main" id="{C2367F09-C3D0-E580-1228-D790B7E13002}"/>
              </a:ext>
            </a:extLst>
          </p:cNvPr>
          <p:cNvSpPr txBox="1"/>
          <p:nvPr/>
        </p:nvSpPr>
        <p:spPr>
          <a:xfrm>
            <a:off x="1264220" y="1783080"/>
            <a:ext cx="2971760" cy="2560320"/>
          </a:xfrm>
          <a:prstGeom prst="rect">
            <a:avLst/>
          </a:prstGeom>
          <a:noFill/>
        </p:spPr>
        <p:txBody>
          <a:bodyPr wrap="square">
            <a:spAutoFit/>
          </a:bodyPr>
          <a:lstStyle/>
          <a:p>
            <a:pPr algn="l">
              <a:spcBef>
                <a:spcPts val="0"/>
              </a:spcBef>
            </a:pPr>
            <a:r>
              <a:rPr lang="es-CL" sz="1400" b="0" i="0" dirty="0">
                <a:solidFill>
                  <a:srgbClr val="20236D"/>
                </a:solidFill>
              </a:rPr>
              <a:t xml:space="preserve">S1 · DESCRIBIÓ Y MIDIÓ</a:t>
            </a:r>
          </a:p>
          <a:p>
            <a:pPr marL="200025" indent="-200025" algn="l">
              <a:spcBef>
                <a:spcPts val="500"/>
              </a:spcBef>
              <a:buFont typeface="Arial"/>
              <a:buChar char="•"/>
            </a:pPr>
            <a:r>
              <a:rPr lang="es-CL" sz="1250" b="0" i="0" dirty="0">
                <a:solidFill>
                  <a:schemeClr val="tx1">
                    <a:lumMod val="75000"/>
                    <a:lumOff val="25000"/>
                  </a:schemeClr>
                </a:solidFill>
              </a:rPr>
              <a:t xml:space="preserve">Abandono medio 0,518 y su dispersión</a:t>
            </a:r>
          </a:p>
          <a:p>
            <a:pPr marL="200025" indent="-200025" algn="l">
              <a:spcBef>
                <a:spcPts val="500"/>
              </a:spcBef>
              <a:buFont typeface="Arial"/>
              <a:buChar char="•"/>
            </a:pPr>
            <a:r>
              <a:rPr lang="es-CL" sz="1250" b="0" i="0" dirty="0">
                <a:solidFill>
                  <a:schemeClr val="tx1">
                    <a:lumMod val="75000"/>
                    <a:lumOff val="25000"/>
                  </a:schemeClr>
                </a:solidFill>
              </a:rPr>
              <a:t xml:space="preserve">Nueve variables asociadas al abandono</a:t>
            </a:r>
          </a:p>
          <a:p>
            <a:pPr marL="200025" indent="-200025" algn="l">
              <a:spcBef>
                <a:spcPts val="500"/>
              </a:spcBef>
              <a:buFont typeface="Arial"/>
              <a:buChar char="•"/>
            </a:pPr>
            <a:r>
              <a:rPr lang="es-CL" sz="1250" b="0" i="0" dirty="0">
                <a:solidFill>
                  <a:schemeClr val="tx1">
                    <a:lumMod val="75000"/>
                    <a:lumOff val="25000"/>
                  </a:schemeClr>
                </a:solidFill>
              </a:rPr>
              <a:t xml:space="preserve">465 programas censurados en 0 y en 1</a:t>
            </a:r>
          </a:p>
          <a:p>
            <a:pPr marL="200025" indent="-200025" algn="l">
              <a:spcBef>
                <a:spcPts val="500"/>
              </a:spcBef>
              <a:buFont typeface="Arial"/>
              <a:buChar char="•"/>
            </a:pPr>
            <a:r>
              <a:rPr lang="es-CL" sz="1250" b="0" i="0" dirty="0">
                <a:solidFill>
                  <a:schemeClr val="tx1">
                    <a:lumMod val="75000"/>
                    <a:lumOff val="25000"/>
                  </a:schemeClr>
                </a:solidFill>
              </a:rPr>
              <a:t xml:space="preserve">Cero datos faltantes en 25 variables</a:t>
            </a:r>
          </a:p>
        </p:txBody>
      </p:sp>
      <p:sp>
        <p:nvSpPr>
          <p:cNvPr id="17" name="Rectángulo 16">
            <a:extLst>
              <a:ext uri="{FF2B5EF4-FFF2-40B4-BE49-F238E27FC236}">
                <a16:creationId xmlns:a16="http://schemas.microsoft.com/office/drawing/2014/main" id="{6448D6FB-F375-29BE-C296-B67DB9A18606}"/>
              </a:ext>
            </a:extLst>
          </p:cNvPr>
          <p:cNvSpPr/>
          <p:nvPr/>
        </p:nvSpPr>
        <p:spPr>
          <a:xfrm rot="16200000">
            <a:off x="3092980" y="2903220"/>
            <a:ext cx="2286000" cy="45720"/>
          </a:xfrm>
          <a:prstGeom prst="rect">
            <a:avLst/>
          </a:prstGeom>
          <a:solidFill>
            <a:schemeClr val="bg1">
              <a:lumMod val="85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11414FBC-036B-F32C-775B-F97BC997559D}"/>
              </a:ext>
            </a:extLst>
          </p:cNvPr>
          <p:cNvSpPr/>
          <p:nvPr/>
        </p:nvSpPr>
        <p:spPr>
          <a:xfrm rot="16200000">
            <a:off x="6216171" y="2903220"/>
            <a:ext cx="2286000" cy="45720"/>
          </a:xfrm>
          <a:prstGeom prst="rect">
            <a:avLst/>
          </a:prstGeom>
          <a:solidFill>
            <a:schemeClr val="bg1">
              <a:lumMod val="85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271A28B1-078C-167A-05FF-22C362B423AF}"/>
              </a:ext>
            </a:extLst>
          </p:cNvPr>
          <p:cNvSpPr/>
          <p:nvPr/>
        </p:nvSpPr>
        <p:spPr>
          <a:xfrm>
            <a:off x="1463041" y="648352"/>
            <a:ext cx="8591812"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rPr>
              <a:t>Qué aportó cada fase</a:t>
            </a:r>
          </a:p>
        </p:txBody>
      </p:sp>
      <p:sp>
        <p:nvSpPr>
          <p:cNvPr id="4" name="CuadroTexto 3">
            <a:extLst>
              <a:ext uri="{FF2B5EF4-FFF2-40B4-BE49-F238E27FC236}">
                <a16:creationId xmlns:a16="http://schemas.microsoft.com/office/drawing/2014/main" id="{B21BE484-1B8A-C467-7B63-8768B0E64AD2}"/>
              </a:ext>
            </a:extLst>
          </p:cNvPr>
          <p:cNvSpPr txBox="1"/>
          <p:nvPr/>
        </p:nvSpPr>
        <p:spPr>
          <a:xfrm>
            <a:off x="4336193" y="1783080"/>
            <a:ext cx="2971760" cy="2560320"/>
          </a:xfrm>
          <a:prstGeom prst="rect">
            <a:avLst/>
          </a:prstGeom>
          <a:noFill/>
        </p:spPr>
        <p:txBody>
          <a:bodyPr wrap="square">
            <a:spAutoFit/>
          </a:bodyPr>
          <a:lstStyle/>
          <a:p>
            <a:pPr algn="l">
              <a:spcBef>
                <a:spcPts val="0"/>
              </a:spcBef>
            </a:pPr>
            <a:r>
              <a:rPr lang="es-CL" sz="1400" b="0" i="0" dirty="0">
                <a:solidFill>
                  <a:srgbClr val="20236D"/>
                </a:solidFill>
              </a:rPr>
              <a:t xml:space="preserve">S2 · PUSO A PRUEBA</a:t>
            </a:r>
          </a:p>
          <a:p>
            <a:pPr marL="200025" indent="-200025" algn="l">
              <a:spcBef>
                <a:spcPts val="500"/>
              </a:spcBef>
              <a:buFont typeface="Arial"/>
              <a:buChar char="•"/>
            </a:pPr>
            <a:r>
              <a:rPr lang="es-CL" sz="1250" b="0" i="0" dirty="0">
                <a:solidFill>
                  <a:schemeClr val="tx1">
                    <a:lumMod val="75000"/>
                    <a:lumOff val="25000"/>
                  </a:schemeClr>
                </a:solidFill>
              </a:rPr>
              <a:t xml:space="preserve">Bootstrap: los IC clásicos eran fiables</a:t>
            </a:r>
          </a:p>
          <a:p>
            <a:pPr marL="200025" indent="-200025" algn="l">
              <a:spcBef>
                <a:spcPts val="500"/>
              </a:spcBef>
              <a:buFont typeface="Arial"/>
              <a:buChar char="•"/>
            </a:pPr>
            <a:r>
              <a:rPr lang="es-CL" sz="1250" b="0" i="0" dirty="0">
                <a:solidFill>
                  <a:schemeClr val="tx1">
                    <a:lumMod val="75000"/>
                    <a:lumOff val="25000"/>
                  </a:schemeClr>
                </a:solidFill>
              </a:rPr>
              <a:t xml:space="preserve">Permutación sin suponer normalidad</a:t>
            </a:r>
          </a:p>
          <a:p>
            <a:pPr marL="200025" indent="-200025" algn="l">
              <a:spcBef>
                <a:spcPts val="500"/>
              </a:spcBef>
              <a:buFont typeface="Arial"/>
              <a:buChar char="•"/>
            </a:pPr>
            <a:r>
              <a:rPr lang="es-CL" sz="1250" b="0" i="0" dirty="0">
                <a:solidFill>
                  <a:schemeClr val="tx1">
                    <a:lumMod val="75000"/>
                    <a:lumOff val="25000"/>
                  </a:schemeClr>
                </a:solidFill>
              </a:rPr>
              <a:t xml:space="preserve">Separó correlaciones sólidas de débiles</a:t>
            </a:r>
          </a:p>
          <a:p>
            <a:pPr marL="200025" indent="-200025" algn="l">
              <a:spcBef>
                <a:spcPts val="500"/>
              </a:spcBef>
              <a:buFont typeface="Arial"/>
              <a:buChar char="•"/>
            </a:pPr>
            <a:r>
              <a:rPr lang="es-CL" sz="1250" b="0" i="0" dirty="0">
                <a:solidFill>
                  <a:schemeClr val="tx1">
                    <a:lumMod val="75000"/>
                    <a:lumOff val="25000"/>
                  </a:schemeClr>
                </a:solidFill>
              </a:rPr>
              <a:t xml:space="preserve">Advirtió: los programas no son independientes</a:t>
            </a:r>
          </a:p>
        </p:txBody>
      </p:sp>
      <p:sp>
        <p:nvSpPr>
          <p:cNvPr id="5" name="CuadroTexto 4">
            <a:extLst>
              <a:ext uri="{FF2B5EF4-FFF2-40B4-BE49-F238E27FC236}">
                <a16:creationId xmlns:a16="http://schemas.microsoft.com/office/drawing/2014/main" id="{A5F384CB-153C-1BE9-3318-838F90040264}"/>
              </a:ext>
            </a:extLst>
          </p:cNvPr>
          <p:cNvSpPr txBox="1"/>
          <p:nvPr/>
        </p:nvSpPr>
        <p:spPr>
          <a:xfrm>
            <a:off x="7603375" y="1783080"/>
            <a:ext cx="2971760" cy="2560320"/>
          </a:xfrm>
          <a:prstGeom prst="rect">
            <a:avLst/>
          </a:prstGeom>
          <a:noFill/>
        </p:spPr>
        <p:txBody>
          <a:bodyPr wrap="square">
            <a:spAutoFit/>
          </a:bodyPr>
          <a:lstStyle/>
          <a:p>
            <a:pPr algn="l">
              <a:spcBef>
                <a:spcPts val="0"/>
              </a:spcBef>
            </a:pPr>
            <a:r>
              <a:rPr lang="es-CL" sz="1400" b="0" i="0" dirty="0">
                <a:solidFill>
                  <a:srgbClr val="20236D"/>
                </a:solidFill>
              </a:rPr>
              <a:t xml:space="preserve">S3 · MODELA Y PREDICE</a:t>
            </a:r>
          </a:p>
          <a:p>
            <a:pPr marL="200025" indent="-200025" algn="l">
              <a:spcBef>
                <a:spcPts val="500"/>
              </a:spcBef>
              <a:buFont typeface="Arial"/>
              <a:buChar char="•"/>
            </a:pPr>
            <a:r>
              <a:rPr lang="es-CL" sz="1250" b="0" i="0" dirty="0">
                <a:solidFill>
                  <a:schemeClr val="tx1">
                    <a:lumMod val="75000"/>
                    <a:lumOff val="25000"/>
                  </a:schemeClr>
                </a:solidFill>
              </a:rPr>
              <a:t xml:space="preserve">Imputación informada por la matriz de S1</a:t>
            </a:r>
          </a:p>
          <a:p>
            <a:pPr marL="200025" indent="-200025" algn="l">
              <a:spcBef>
                <a:spcPts val="500"/>
              </a:spcBef>
              <a:buFont typeface="Arial"/>
              <a:buChar char="•"/>
            </a:pPr>
            <a:r>
              <a:rPr lang="es-CL" sz="1250" b="0" i="0" dirty="0">
                <a:solidFill>
                  <a:schemeClr val="tx1">
                    <a:lumMod val="75000"/>
                    <a:lumOff val="25000"/>
                  </a:schemeClr>
                </a:solidFill>
              </a:rPr>
              <a:t xml:space="preserve">Modelo con las variables estables de S2</a:t>
            </a:r>
          </a:p>
          <a:p>
            <a:pPr marL="200025" indent="-200025" algn="l">
              <a:spcBef>
                <a:spcPts val="500"/>
              </a:spcBef>
              <a:buFont typeface="Arial"/>
              <a:buChar char="•"/>
            </a:pPr>
            <a:r>
              <a:rPr lang="es-CL" sz="1250" b="0" i="0" dirty="0">
                <a:solidFill>
                  <a:schemeClr val="tx1">
                    <a:lumMod val="75000"/>
                    <a:lumOff val="25000"/>
                  </a:schemeClr>
                </a:solidFill>
              </a:rPr>
              <a:t xml:space="preserve">Partición 70/30 estratificada, semilla 42</a:t>
            </a:r>
          </a:p>
          <a:p>
            <a:pPr marL="200025" indent="-200025" algn="l">
              <a:spcBef>
                <a:spcPts val="500"/>
              </a:spcBef>
              <a:buFont typeface="Arial"/>
              <a:buChar char="•"/>
            </a:pPr>
            <a:r>
              <a:rPr lang="es-CL" sz="1250" b="0" i="0" dirty="0">
                <a:solidFill>
                  <a:schemeClr val="tx1">
                    <a:lumMod val="75000"/>
                    <a:lumOff val="25000"/>
                  </a:schemeClr>
                </a:solidFill>
              </a:rPr>
              <a:t xml:space="preserve">Bootstrap aplicado a los coeficientes</a:t>
            </a:r>
          </a:p>
        </p:txBody>
      </p:sp>
      <p:sp>
        <p:nvSpPr>
          <p:cNvPr id="19" name="TextBox 18"/>
          <p:cNvSpPr txBox="1"/>
          <p:nvPr/>
        </p:nvSpPr>
        <p:spPr>
          <a:xfrm>
            <a:off x="1261872" y="4846320"/>
            <a:ext cx="9317736" cy="640080"/>
          </a:xfrm>
          <a:prstGeom prst="rect">
            <a:avLst/>
          </a:prstGeom>
          <a:noFill/>
        </p:spPr>
        <p:txBody>
          <a:bodyPr wrap="square" anchor="t">
            <a:spAutoFit/>
          </a:bodyPr>
          <a:lstStyle/>
          <a:p>
            <a:pPr algn="ctr">
              <a:spcBef>
                <a:spcPts val="0"/>
              </a:spcBef>
            </a:pPr>
            <a:r>
              <a:rPr lang="es-CL" sz="1300" b="0" i="1" dirty="0">
                <a:solidFill>
                  <a:schemeClr val="tx1">
                    <a:lumMod val="75000"/>
                    <a:lumOff val="25000"/>
                  </a:schemeClr>
                </a:solidFill>
              </a:rPr>
              <a:t xml:space="preserve">Cada columna es consecuencia directa de la anterior: esta fase no abre líneas nuevas, cierra las que S1 y S2 dejaron abiertas.</a:t>
            </a:r>
          </a:p>
        </p:txBody>
      </p:sp>
    </p:spTree>
    <p:extLst>
      <p:ext uri="{BB962C8B-B14F-4D97-AF65-F5344CB8AC3E}">
        <p14:creationId xmlns:p14="http://schemas.microsoft.com/office/powerpoint/2010/main" val="355413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3089DBCA-FFA2-7FCA-0978-020F1612CD9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C44C02C-081F-BED0-D6AD-14E853857BBA}"/>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6" name="Grupo 5">
              <a:extLst>
                <a:ext uri="{FF2B5EF4-FFF2-40B4-BE49-F238E27FC236}">
                  <a16:creationId xmlns:a16="http://schemas.microsoft.com/office/drawing/2014/main" id="{E15368CA-E4DB-7718-2A41-27F135DAB4D0}"/>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BD4FDC23-8EEC-4944-2580-A2FC374CD2D0}"/>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3" name="Imagen 12">
                <a:extLst>
                  <a:ext uri="{FF2B5EF4-FFF2-40B4-BE49-F238E27FC236}">
                    <a16:creationId xmlns:a16="http://schemas.microsoft.com/office/drawing/2014/main" id="{E22975E8-8974-FCA4-BF3D-C8A1AD8F6A79}"/>
                  </a:ext>
                </a:extLst>
              </p:cNvPr>
              <p:cNvPicPr>
                <a:picLocks noChangeAspect="1"/>
              </p:cNvPicPr>
              <p:nvPr/>
            </p:nvPicPr>
            <p:blipFill>
              <a:blip r:embed="rId3"/>
              <a:stretch>
                <a:fillRect/>
              </a:stretch>
            </p:blipFill>
            <p:spPr>
              <a:xfrm>
                <a:off x="10375523" y="394074"/>
                <a:ext cx="1151092" cy="973350"/>
              </a:xfrm>
              <a:prstGeom prst="rect">
                <a:avLst/>
              </a:prstGeom>
            </p:spPr>
          </p:pic>
        </p:grpSp>
      </p:grpSp>
      <p:sp>
        <p:nvSpPr>
          <p:cNvPr id="4" name="Rectángulo 3">
            <a:extLst>
              <a:ext uri="{FF2B5EF4-FFF2-40B4-BE49-F238E27FC236}">
                <a16:creationId xmlns:a16="http://schemas.microsoft.com/office/drawing/2014/main" id="{ACD47DFB-493A-6667-77EE-9717D911E58D}"/>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rPr>
              <a:t>De dónde viene cada decisión de esta fase</a:t>
            </a:r>
          </a:p>
        </p:txBody>
      </p:sp>
      <p:graphicFrame>
        <p:nvGraphicFramePr>
          <p:cNvPr id="15" name="Table 14"/>
          <p:cNvGraphicFramePr>
            <a:graphicFrameLocks noGrp="1"/>
          </p:cNvGraphicFramePr>
          <p:nvPr/>
        </p:nvGraphicFramePr>
        <p:xfrm>
          <a:off x="2093976" y="1481328"/>
          <a:ext cx="7964423" cy="2926080"/>
        </p:xfrm>
        <a:graphic>
          <a:graphicData uri="http://schemas.openxmlformats.org/drawingml/2006/table">
            <a:tbl>
              <a:tblPr firstRow="0" bandRow="0">
                <a:tableStyleId>{2D5ABB26-0587-4C30-8999-92F81FD0307C}</a:tableStyleId>
              </a:tblPr>
              <a:tblGrid>
                <a:gridCol w="3704383"/>
                <a:gridCol w="4260040"/>
              </a:tblGrid>
              <a:tr h="402336">
                <a:tc>
                  <a:txBody>
                    <a:bodyPr/>
                    <a:lstStyle/>
                    <a:p>
                      <a:pPr algn="l">
                        <a:spcBef>
                          <a:spcPts val="0"/>
                        </a:spcBef>
                      </a:pPr>
                      <a:r>
                        <a:rPr lang="es-CL" sz="1200" b="1" i="0" dirty="0">
                          <a:solidFill>
                            <a:srgbClr val="FFFFFF"/>
                          </a:solidFill>
                        </a:rPr>
                        <a:t xml:space="preserve">Decisión tomada en la Sumativa 3</a:t>
                      </a:r>
                    </a:p>
                  </a:txBody>
                  <a:tcPr anchor="ctr" marL="64008" marR="64008" marT="18288" marB="18288">
                    <a:solidFill>
                      <a:srgbClr val="20236D"/>
                    </a:solidFill>
                  </a:tcPr>
                </a:tc>
                <a:tc>
                  <a:txBody>
                    <a:bodyPr/>
                    <a:lstStyle/>
                    <a:p>
                      <a:pPr algn="ctr">
                        <a:spcBef>
                          <a:spcPts val="0"/>
                        </a:spcBef>
                      </a:pPr>
                      <a:r>
                        <a:rPr lang="es-CL" sz="1200" b="1" i="0" dirty="0">
                          <a:solidFill>
                            <a:srgbClr val="FFFFFF"/>
                          </a:solidFill>
                        </a:rPr>
                        <a:t xml:space="preserve">Resultado anterior que la justifica</a:t>
                      </a:r>
                    </a:p>
                  </a:txBody>
                  <a:tcPr anchor="ctr" marL="64008" marR="64008" marT="18288" marB="18288">
                    <a:solidFill>
                      <a:srgbClr val="20236D"/>
                    </a:solidFill>
                  </a:tcPr>
                </a:tc>
              </a:tr>
              <a:tr h="420624">
                <a:tc>
                  <a:txBody>
                    <a:bodyPr/>
                    <a:lstStyle/>
                    <a:p>
                      <a:pPr algn="l">
                        <a:spcBef>
                          <a:spcPts val="0"/>
                        </a:spcBef>
                      </a:pPr>
                      <a:r>
                        <a:rPr lang="es-CL" sz="1200" b="0" i="0" dirty="0">
                          <a:solidFill>
                            <a:schemeClr val="tx1">
                              <a:lumMod val="75000"/>
                              <a:lumOff val="25000"/>
                            </a:schemeClr>
                          </a:solidFill>
                        </a:rPr>
                        <a:t xml:space="preserve">Predictoras de los modelos de imputación</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200" b="0" i="0" dirty="0">
                          <a:solidFill>
                            <a:schemeClr val="tx1">
                              <a:lumMod val="75000"/>
                              <a:lumOff val="25000"/>
                            </a:schemeClr>
                          </a:solidFill>
                        </a:rPr>
                        <a:t xml:space="preserve">La matriz de correlaciones de S1</a:t>
                      </a:r>
                    </a:p>
                  </a:txBody>
                  <a:tcPr anchor="ctr" marL="64008" marR="64008" marT="18288" marB="18288">
                    <a:lnB w="9525" cap="flat">
                      <a:solidFill>
                        <a:srgbClr val="C9CCDB"/>
                      </a:solidFill>
                    </a:lnB>
                    <a:solidFill>
                      <a:srgbClr val="FFFFFF"/>
                    </a:solidFill>
                  </a:tcPr>
                </a:tc>
              </a:tr>
              <a:tr h="420624">
                <a:tc>
                  <a:txBody>
                    <a:bodyPr/>
                    <a:lstStyle/>
                    <a:p>
                      <a:pPr algn="l">
                        <a:spcBef>
                          <a:spcPts val="0"/>
                        </a:spcBef>
                      </a:pPr>
                      <a:r>
                        <a:rPr lang="es-CL" sz="1200" b="0" i="0" dirty="0">
                          <a:solidFill>
                            <a:schemeClr val="tx1">
                              <a:lumMod val="75000"/>
                              <a:lumOff val="25000"/>
                            </a:schemeClr>
                          </a:solidFill>
                        </a:rPr>
                        <a:t xml:space="preserve">Variables del modelo logístico</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200" b="0" i="0" dirty="0">
                          <a:solidFill>
                            <a:schemeClr val="tx1">
                              <a:lumMod val="75000"/>
                              <a:lumOff val="25000"/>
                            </a:schemeClr>
                          </a:solidFill>
                        </a:rPr>
                        <a:t xml:space="preserve">El filtro de estabilidad por bootstrap de S2</a:t>
                      </a:r>
                    </a:p>
                  </a:txBody>
                  <a:tcPr anchor="ctr" marL="64008" marR="64008" marT="18288" marB="18288">
                    <a:lnB w="9525" cap="flat">
                      <a:solidFill>
                        <a:srgbClr val="C9CCDB"/>
                      </a:solidFill>
                    </a:lnB>
                    <a:solidFill>
                      <a:srgbClr val="F2F3F8"/>
                    </a:solidFill>
                  </a:tcPr>
                </a:tc>
              </a:tr>
              <a:tr h="420624">
                <a:tc>
                  <a:txBody>
                    <a:bodyPr/>
                    <a:lstStyle/>
                    <a:p>
                      <a:pPr algn="l">
                        <a:spcBef>
                          <a:spcPts val="0"/>
                        </a:spcBef>
                      </a:pPr>
                      <a:r>
                        <a:rPr lang="es-CL" sz="1200" b="0" i="0" dirty="0">
                          <a:solidFill>
                            <a:schemeClr val="tx1">
                              <a:lumMod val="75000"/>
                              <a:lumOff val="25000"/>
                            </a:schemeClr>
                          </a:solidFill>
                        </a:rPr>
                        <a:t xml:space="preserve">Conservar los 465 programas censurados</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200" b="0" i="0" dirty="0">
                          <a:solidFill>
                            <a:schemeClr val="tx1">
                              <a:lumMod val="75000"/>
                              <a:lumOff val="25000"/>
                            </a:schemeClr>
                          </a:solidFill>
                        </a:rPr>
                        <a:t xml:space="preserve">La auditoría caso a caso que hizo S2</a:t>
                      </a:r>
                    </a:p>
                  </a:txBody>
                  <a:tcPr anchor="ctr" marL="64008" marR="64008" marT="18288" marB="18288">
                    <a:lnB w="9525" cap="flat">
                      <a:solidFill>
                        <a:srgbClr val="C9CCDB"/>
                      </a:solidFill>
                    </a:lnB>
                    <a:solidFill>
                      <a:srgbClr val="FFFFFF"/>
                    </a:solidFill>
                  </a:tcPr>
                </a:tc>
              </a:tr>
              <a:tr h="420624">
                <a:tc>
                  <a:txBody>
                    <a:bodyPr/>
                    <a:lstStyle/>
                    <a:p>
                      <a:pPr algn="l">
                        <a:spcBef>
                          <a:spcPts val="0"/>
                        </a:spcBef>
                      </a:pPr>
                      <a:r>
                        <a:rPr lang="es-CL" sz="1200" b="0" i="0" dirty="0">
                          <a:solidFill>
                            <a:schemeClr val="tx1">
                              <a:lumMod val="75000"/>
                              <a:lumOff val="25000"/>
                            </a:schemeClr>
                          </a:solidFill>
                        </a:rPr>
                        <a:t xml:space="preserve">Umbral del 50 % en la variable respuesta</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200" b="0" i="0" dirty="0">
                          <a:solidFill>
                            <a:schemeClr val="tx1">
                              <a:lumMod val="75000"/>
                              <a:lumOff val="25000"/>
                            </a:schemeClr>
                          </a:solidFill>
                        </a:rPr>
                        <a:t xml:space="preserve">El 54,94 % de S1, validado por Wilson y Z en S2</a:t>
                      </a:r>
                    </a:p>
                  </a:txBody>
                  <a:tcPr anchor="ctr" marL="64008" marR="64008" marT="18288" marB="18288">
                    <a:lnB w="9525" cap="flat">
                      <a:solidFill>
                        <a:srgbClr val="C9CCDB"/>
                      </a:solidFill>
                    </a:lnB>
                    <a:solidFill>
                      <a:srgbClr val="F2F3F8"/>
                    </a:solidFill>
                  </a:tcPr>
                </a:tc>
              </a:tr>
              <a:tr h="420624">
                <a:tc>
                  <a:txBody>
                    <a:bodyPr/>
                    <a:lstStyle/>
                    <a:p>
                      <a:pPr algn="l">
                        <a:spcBef>
                          <a:spcPts val="0"/>
                        </a:spcBef>
                      </a:pPr>
                      <a:r>
                        <a:rPr lang="es-CL" sz="1200" b="0" i="0" dirty="0">
                          <a:solidFill>
                            <a:schemeClr val="tx1">
                              <a:lumMod val="75000"/>
                              <a:lumOff val="25000"/>
                            </a:schemeClr>
                          </a:solidFill>
                        </a:rPr>
                        <a:t xml:space="preserve">Bootstrap de los coeficientes del modelo</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200" b="0" i="0" dirty="0">
                          <a:solidFill>
                            <a:schemeClr val="tx1">
                              <a:lumMod val="75000"/>
                              <a:lumOff val="25000"/>
                            </a:schemeClr>
                          </a:solidFill>
                        </a:rPr>
                        <a:t xml:space="preserve">El mismo instrumento que S2 aplicó a medias</a:t>
                      </a:r>
                    </a:p>
                  </a:txBody>
                  <a:tcPr anchor="ctr" marL="64008" marR="64008" marT="18288" marB="18288">
                    <a:lnB w="9525" cap="flat">
                      <a:solidFill>
                        <a:srgbClr val="C9CCDB"/>
                      </a:solidFill>
                    </a:lnB>
                    <a:solidFill>
                      <a:srgbClr val="FFFFFF"/>
                    </a:solidFill>
                  </a:tcPr>
                </a:tc>
              </a:tr>
              <a:tr h="420624">
                <a:tc>
                  <a:txBody>
                    <a:bodyPr/>
                    <a:lstStyle/>
                    <a:p>
                      <a:pPr algn="l">
                        <a:spcBef>
                          <a:spcPts val="0"/>
                        </a:spcBef>
                      </a:pPr>
                      <a:r>
                        <a:rPr lang="es-CL" sz="1200" b="0" i="0" dirty="0">
                          <a:solidFill>
                            <a:schemeClr val="tx1">
                              <a:lumMod val="75000"/>
                              <a:lumOff val="25000"/>
                            </a:schemeClr>
                          </a:solidFill>
                        </a:rPr>
                        <a:t xml:space="preserve">Bootstrap por institución, como extensión</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200" b="0" i="0" dirty="0">
                          <a:solidFill>
                            <a:schemeClr val="tx1">
                              <a:lumMod val="75000"/>
                              <a:lumOff val="25000"/>
                            </a:schemeClr>
                          </a:solidFill>
                        </a:rPr>
                        <a:t xml:space="preserve">La advertencia de S2 sobre la no independencia</a:t>
                      </a:r>
                    </a:p>
                  </a:txBody>
                  <a:tcPr anchor="ctr" marL="64008" marR="64008" marT="18288" marB="18288">
                    <a:lnB w="9525" cap="flat">
                      <a:solidFill>
                        <a:srgbClr val="C9CCDB"/>
                      </a:solidFill>
                    </a:lnB>
                    <a:solidFill>
                      <a:srgbClr val="F2F3F8"/>
                    </a:solidFill>
                  </a:tcPr>
                </a:tc>
              </a:tr>
            </a:tbl>
          </a:graphicData>
        </a:graphic>
      </p:graphicFrame>
      <p:sp>
        <p:nvSpPr>
          <p:cNvPr id="16" name="TextBox 15"/>
          <p:cNvSpPr txBox="1"/>
          <p:nvPr/>
        </p:nvSpPr>
        <p:spPr>
          <a:xfrm>
            <a:off x="2093976" y="4617720"/>
            <a:ext cx="7964424" cy="731520"/>
          </a:xfrm>
          <a:prstGeom prst="rect">
            <a:avLst/>
          </a:prstGeom>
          <a:noFill/>
        </p:spPr>
        <p:txBody>
          <a:bodyPr wrap="square" anchor="t">
            <a:spAutoFit/>
          </a:bodyPr>
          <a:lstStyle/>
          <a:p>
            <a:pPr algn="ctr">
              <a:spcBef>
                <a:spcPts val="0"/>
              </a:spcBef>
            </a:pPr>
            <a:r>
              <a:rPr lang="es-CL" sz="1300" b="0" i="1" dirty="0">
                <a:solidFill>
                  <a:schemeClr val="tx1">
                    <a:lumMod val="75000"/>
                    <a:lumOff val="25000"/>
                  </a:schemeClr>
                </a:solidFill>
              </a:rPr>
              <a:t xml:space="preserve">La columna izquierda no contiene ninguna decisión que se haya tomado en esta fase sin un antecedente documentado.</a:t>
            </a:r>
          </a:p>
        </p:txBody>
      </p:sp>
    </p:spTree>
    <p:extLst>
      <p:ext uri="{BB962C8B-B14F-4D97-AF65-F5344CB8AC3E}">
        <p14:creationId xmlns:p14="http://schemas.microsoft.com/office/powerpoint/2010/main" val="3985140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3089DBCA-FFA2-7FCA-0978-020F1612CD9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C44C02C-081F-BED0-D6AD-14E853857BBA}"/>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6" name="Grupo 5">
              <a:extLst>
                <a:ext uri="{FF2B5EF4-FFF2-40B4-BE49-F238E27FC236}">
                  <a16:creationId xmlns:a16="http://schemas.microsoft.com/office/drawing/2014/main" id="{E15368CA-E4DB-7718-2A41-27F135DAB4D0}"/>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BD4FDC23-8EEC-4944-2580-A2FC374CD2D0}"/>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3" name="Imagen 12">
                <a:extLst>
                  <a:ext uri="{FF2B5EF4-FFF2-40B4-BE49-F238E27FC236}">
                    <a16:creationId xmlns:a16="http://schemas.microsoft.com/office/drawing/2014/main" id="{E22975E8-8974-FCA4-BF3D-C8A1AD8F6A79}"/>
                  </a:ext>
                </a:extLst>
              </p:cNvPr>
              <p:cNvPicPr>
                <a:picLocks noChangeAspect="1"/>
              </p:cNvPicPr>
              <p:nvPr/>
            </p:nvPicPr>
            <p:blipFill>
              <a:blip r:embed="rId3"/>
              <a:stretch>
                <a:fillRect/>
              </a:stretch>
            </p:blipFill>
            <p:spPr>
              <a:xfrm>
                <a:off x="10375523" y="394074"/>
                <a:ext cx="1151092" cy="973350"/>
              </a:xfrm>
              <a:prstGeom prst="rect">
                <a:avLst/>
              </a:prstGeom>
            </p:spPr>
          </p:pic>
        </p:grpSp>
      </p:grpSp>
      <p:sp>
        <p:nvSpPr>
          <p:cNvPr id="4" name="Rectángulo 3">
            <a:extLst>
              <a:ext uri="{FF2B5EF4-FFF2-40B4-BE49-F238E27FC236}">
                <a16:creationId xmlns:a16="http://schemas.microsoft.com/office/drawing/2014/main" id="{ACD47DFB-493A-6667-77EE-9717D911E58D}"/>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rPr>
              <a:t>El conjunto no tiene faltantes: cómo resolvimos eso</a:t>
            </a:r>
          </a:p>
        </p:txBody>
      </p:sp>
      <p:graphicFrame>
        <p:nvGraphicFramePr>
          <p:cNvPr id="15" name="Table 14"/>
          <p:cNvGraphicFramePr>
            <a:graphicFrameLocks noGrp="1"/>
          </p:cNvGraphicFramePr>
          <p:nvPr/>
        </p:nvGraphicFramePr>
        <p:xfrm>
          <a:off x="1143000" y="1554480"/>
          <a:ext cx="5074919" cy="1207008"/>
        </p:xfrm>
        <a:graphic>
          <a:graphicData uri="http://schemas.openxmlformats.org/drawingml/2006/table">
            <a:tbl>
              <a:tblPr firstRow="0" bandRow="0">
                <a:tableStyleId>{2D5ABB26-0587-4C30-8999-92F81FD0307C}</a:tableStyleId>
              </a:tblPr>
              <a:tblGrid>
                <a:gridCol w="1619655"/>
                <a:gridCol w="1079770"/>
                <a:gridCol w="1079770"/>
                <a:gridCol w="1295724"/>
              </a:tblGrid>
              <a:tr h="329184">
                <a:tc>
                  <a:txBody>
                    <a:bodyPr/>
                    <a:lstStyle/>
                    <a:p>
                      <a:pPr algn="l">
                        <a:spcBef>
                          <a:spcPts val="0"/>
                        </a:spcBef>
                      </a:pPr>
                      <a:r>
                        <a:rPr lang="es-CL" sz="1100" b="1" i="0" dirty="0">
                          <a:solidFill>
                            <a:srgbClr val="FFFFFF"/>
                          </a:solidFill>
                        </a:rPr>
                        <a:t xml:space="preserve">Variable</a:t>
                      </a:r>
                    </a:p>
                  </a:txBody>
                  <a:tcPr anchor="ctr" marL="64008" marR="64008" marT="18288" marB="18288">
                    <a:solidFill>
                      <a:srgbClr val="20236D"/>
                    </a:solidFill>
                  </a:tcPr>
                </a:tc>
                <a:tc>
                  <a:txBody>
                    <a:bodyPr/>
                    <a:lstStyle/>
                    <a:p>
                      <a:pPr algn="ctr">
                        <a:spcBef>
                          <a:spcPts val="0"/>
                        </a:spcBef>
                      </a:pPr>
                      <a:r>
                        <a:rPr lang="es-CL" sz="1100" b="1" i="0" dirty="0">
                          <a:solidFill>
                            <a:srgbClr val="FFFFFF"/>
                          </a:solidFill>
                        </a:rPr>
                        <a:t xml:space="preserve">Mecanismo</a:t>
                      </a:r>
                    </a:p>
                  </a:txBody>
                  <a:tcPr anchor="ctr" marL="64008" marR="64008" marT="18288" marB="18288">
                    <a:solidFill>
                      <a:srgbClr val="20236D"/>
                    </a:solidFill>
                  </a:tcPr>
                </a:tc>
                <a:tc>
                  <a:txBody>
                    <a:bodyPr/>
                    <a:lstStyle/>
                    <a:p>
                      <a:pPr algn="ctr">
                        <a:spcBef>
                          <a:spcPts val="0"/>
                        </a:spcBef>
                      </a:pPr>
                      <a:r>
                        <a:rPr lang="es-CL" sz="1100" b="1" i="0" dirty="0">
                          <a:solidFill>
                            <a:srgbClr val="FFFFFF"/>
                          </a:solidFill>
                        </a:rPr>
                        <a:t xml:space="preserve">Ausencia</a:t>
                      </a:r>
                    </a:p>
                  </a:txBody>
                  <a:tcPr anchor="ctr" marL="64008" marR="64008" marT="18288" marB="18288">
                    <a:solidFill>
                      <a:srgbClr val="20236D"/>
                    </a:solidFill>
                  </a:tcPr>
                </a:tc>
                <a:tc>
                  <a:txBody>
                    <a:bodyPr/>
                    <a:lstStyle/>
                    <a:p>
                      <a:pPr algn="ctr">
                        <a:spcBef>
                          <a:spcPts val="0"/>
                        </a:spcBef>
                      </a:pPr>
                      <a:r>
                        <a:rPr lang="es-CL" sz="1100" b="1" i="0" dirty="0">
                          <a:solidFill>
                            <a:srgbClr val="FFFFFF"/>
                          </a:solidFill>
                        </a:rPr>
                        <a:t xml:space="preserve">Sesgo en la media</a:t>
                      </a:r>
                    </a:p>
                  </a:txBody>
                  <a:tcPr anchor="ctr" marL="64008" marR="64008" marT="18288" marB="18288">
                    <a:solidFill>
                      <a:srgbClr val="20236D"/>
                    </a:solidFill>
                  </a:tcPr>
                </a:tc>
              </a:tr>
              <a:tr h="292608">
                <a:tc>
                  <a:txBody>
                    <a:bodyPr/>
                    <a:lstStyle/>
                    <a:p>
                      <a:pPr algn="l">
                        <a:spcBef>
                          <a:spcPts val="0"/>
                        </a:spcBef>
                      </a:pPr>
                      <a:r>
                        <a:rPr lang="es-CL" sz="1100" b="0" i="0" dirty="0">
                          <a:solidFill>
                            <a:schemeClr val="tx1">
                              <a:lumMod val="75000"/>
                              <a:lumOff val="25000"/>
                            </a:schemeClr>
                          </a:solidFill>
                        </a:rPr>
                        <a:t xml:space="preserve">edad_promedio</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MCAR</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14,9 %</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+0,015</a:t>
                      </a:r>
                    </a:p>
                  </a:txBody>
                  <a:tcPr anchor="ctr" marL="64008" marR="64008" marT="18288" marB="18288">
                    <a:lnB w="9525" cap="flat">
                      <a:solidFill>
                        <a:srgbClr val="C9CCDB"/>
                      </a:solidFill>
                    </a:lnB>
                    <a:solidFill>
                      <a:srgbClr val="FFFFFF"/>
                    </a:solidFill>
                  </a:tcPr>
                </a:tc>
              </a:tr>
              <a:tr h="292608">
                <a:tc>
                  <a:txBody>
                    <a:bodyPr/>
                    <a:lstStyle/>
                    <a:p>
                      <a:pPr algn="l">
                        <a:spcBef>
                          <a:spcPts val="0"/>
                        </a:spcBef>
                      </a:pPr>
                      <a:r>
                        <a:rPr lang="es-CL" sz="1100" b="0" i="0" dirty="0">
                          <a:solidFill>
                            <a:schemeClr val="tx1">
                              <a:lumMod val="75000"/>
                              <a:lumOff val="25000"/>
                            </a:schemeClr>
                          </a:solidFill>
                        </a:rPr>
                        <a:t xml:space="preserve">pct_mujeres</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MAR</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24,5 %</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−0,002</a:t>
                      </a:r>
                    </a:p>
                  </a:txBody>
                  <a:tcPr anchor="ctr" marL="64008" marR="64008" marT="18288" marB="18288">
                    <a:lnB w="9525" cap="flat">
                      <a:solidFill>
                        <a:srgbClr val="C9CCDB"/>
                      </a:solidFill>
                    </a:lnB>
                    <a:solidFill>
                      <a:srgbClr val="F2F3F8"/>
                    </a:solidFill>
                  </a:tcPr>
                </a:tc>
              </a:tr>
              <a:tr h="292608">
                <a:tc>
                  <a:txBody>
                    <a:bodyPr/>
                    <a:lstStyle/>
                    <a:p>
                      <a:pPr algn="l">
                        <a:spcBef>
                          <a:spcPts val="0"/>
                        </a:spcBef>
                      </a:pPr>
                      <a:r>
                        <a:rPr lang="es-CL" sz="1100" b="0" i="0" dirty="0">
                          <a:solidFill>
                            <a:schemeClr val="tx1">
                              <a:lumMod val="75000"/>
                              <a:lumOff val="25000"/>
                            </a:schemeClr>
                          </a:solidFill>
                        </a:rPr>
                        <a:t xml:space="preserve">log_matricula</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MNAR</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24,6 %</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1" i="0" dirty="0">
                          <a:solidFill>
                            <a:schemeClr val="tx1">
                              <a:lumMod val="75000"/>
                              <a:lumOff val="25000"/>
                            </a:schemeClr>
                          </a:solidFill>
                        </a:rPr>
                        <a:t xml:space="preserve">+0,129</a:t>
                      </a:r>
                    </a:p>
                  </a:txBody>
                  <a:tcPr anchor="ctr" marL="64008" marR="64008" marT="18288" marB="18288">
                    <a:lnB w="9525" cap="flat">
                      <a:solidFill>
                        <a:srgbClr val="C9CCDB"/>
                      </a:solidFill>
                    </a:lnB>
                    <a:solidFill>
                      <a:srgbClr val="FFFFFF"/>
                    </a:solidFill>
                  </a:tcPr>
                </a:tc>
              </a:tr>
            </a:tbl>
          </a:graphicData>
        </a:graphic>
      </p:graphicFrame>
      <p:sp>
        <p:nvSpPr>
          <p:cNvPr id="16" name="TextBox 15"/>
          <p:cNvSpPr txBox="1"/>
          <p:nvPr/>
        </p:nvSpPr>
        <p:spPr>
          <a:xfrm>
            <a:off x="1143000" y="3127248"/>
            <a:ext cx="5074920" cy="2377440"/>
          </a:xfrm>
          <a:prstGeom prst="rect">
            <a:avLst/>
          </a:prstGeom>
          <a:noFill/>
        </p:spPr>
        <p:txBody>
          <a:bodyPr wrap="square" anchor="t">
            <a:spAutoFit/>
          </a:bodyPr>
          <a:lstStyle/>
          <a:p>
            <a:pPr algn="l">
              <a:spcBef>
                <a:spcPts val="0"/>
              </a:spcBef>
            </a:pPr>
            <a:r>
              <a:rPr lang="es-CL" sz="1500" b="0" i="0" dirty="0">
                <a:solidFill>
                  <a:srgbClr val="20236D"/>
                </a:solidFill>
              </a:rPr>
              <a:t xml:space="preserve">El problema</a:t>
            </a:r>
          </a:p>
          <a:p>
            <a:pPr algn="just">
              <a:spcBef>
                <a:spcPts val="400"/>
              </a:spcBef>
            </a:pPr>
            <a:r>
              <a:rPr lang="es-CL" sz="1250" b="0" i="0" dirty="0">
                <a:solidFill>
                  <a:schemeClr val="tx1">
                    <a:lumMod val="75000"/>
                    <a:lumOff val="25000"/>
                  </a:schemeClr>
                </a:solidFill>
              </a:rPr>
              <a:t xml:space="preserve">La pauta pide imputar datos faltantes y S1 demostró que no hay ninguno. El conjunto no los tuvo nunca: cada fila es un agregado por programa, y un programa sin los campos necesarios no produce una fila con huecos, no produce fila.</a:t>
            </a:r>
          </a:p>
          <a:p>
            <a:pPr algn="just">
              <a:spcBef>
                <a:spcPts val="800"/>
              </a:spcBef>
            </a:pPr>
            <a:r>
              <a:rPr lang="es-CL" sz="1250" b="0" i="0" dirty="0">
                <a:solidFill>
                  <a:schemeClr val="tx1">
                    <a:lumMod val="75000"/>
                    <a:lumOff val="25000"/>
                  </a:schemeClr>
                </a:solidFill>
              </a:rPr>
              <a:t xml:space="preserve">Solución: un experimento controlado de ausencia bajo los tres mecanismos de Rubin. La ventaja es decisiva, porque conocemos los valores verdaderos y podemos medir el error de cada estrategia.</a:t>
            </a:r>
          </a:p>
        </p:txBody>
      </p:sp>
      <p:sp>
        <p:nvSpPr>
          <p:cNvPr id="17" name="TextBox 16"/>
          <p:cNvSpPr txBox="1"/>
          <p:nvPr/>
        </p:nvSpPr>
        <p:spPr>
          <a:xfrm>
            <a:off x="6537960" y="1554480"/>
            <a:ext cx="4069080" cy="3931920"/>
          </a:xfrm>
          <a:prstGeom prst="rect">
            <a:avLst/>
          </a:prstGeom>
          <a:noFill/>
        </p:spPr>
        <p:txBody>
          <a:bodyPr wrap="square" anchor="t">
            <a:spAutoFit/>
          </a:bodyPr>
          <a:lstStyle/>
          <a:p>
            <a:pPr algn="l">
              <a:spcBef>
                <a:spcPts val="0"/>
              </a:spcBef>
            </a:pPr>
            <a:r>
              <a:rPr lang="es-CL" sz="1500" b="0" i="0" dirty="0">
                <a:solidFill>
                  <a:srgbClr val="20236D"/>
                </a:solidFill>
              </a:rPr>
              <a:t xml:space="preserve">La lección, y no es la esperada</a:t>
            </a:r>
          </a:p>
          <a:p>
            <a:pPr marL="200025" indent="-200025" algn="just">
              <a:spcBef>
                <a:spcPts val="600"/>
              </a:spcBef>
              <a:buFont typeface="Arial"/>
              <a:buChar char="•"/>
            </a:pPr>
            <a:r>
              <a:rPr lang="es-CL" sz="1250" b="0" i="0" dirty="0">
                <a:solidFill>
                  <a:schemeClr val="tx1">
                    <a:lumMod val="75000"/>
                    <a:lumOff val="25000"/>
                  </a:schemeClr>
                </a:solidFill>
              </a:rPr>
              <a:t xml:space="preserve">Bajo </a:t>
            </a:r>
            <a:r>
              <a:rPr lang="es-CL" sz="1250" b="1" i="0" dirty="0">
                <a:solidFill>
                  <a:schemeClr val="tx1">
                    <a:lumMod val="75000"/>
                    <a:lumOff val="25000"/>
                  </a:schemeClr>
                </a:solidFill>
              </a:rPr>
              <a:t xml:space="preserve">MNAR</a:t>
            </a:r>
            <a:r>
              <a:rPr lang="es-CL" sz="1250" b="0" i="0" dirty="0">
                <a:solidFill>
                  <a:schemeClr val="tx1">
                    <a:lumMod val="75000"/>
                    <a:lumOff val="25000"/>
                  </a:schemeClr>
                </a:solidFill>
              </a:rPr>
              <a:t xml:space="preserve"> el sesgo es grande: faltan los programas pequeños y la media observada sobreestima el tamaño típico.</a:t>
            </a:r>
          </a:p>
          <a:p>
            <a:pPr marL="200025" indent="-200025" algn="just">
              <a:spcBef>
                <a:spcPts val="600"/>
              </a:spcBef>
              <a:buFont typeface="Arial"/>
              <a:buChar char="•"/>
            </a:pPr>
            <a:r>
              <a:rPr lang="es-CL" sz="1250" b="0" i="0" dirty="0">
                <a:solidFill>
                  <a:schemeClr val="tx1">
                    <a:lumMod val="75000"/>
                    <a:lumOff val="25000"/>
                  </a:schemeClr>
                </a:solidFill>
              </a:rPr>
              <a:t xml:space="preserve">Bajo </a:t>
            </a:r>
            <a:r>
              <a:rPr lang="es-CL" sz="1250" b="1" i="0" dirty="0">
                <a:solidFill>
                  <a:schemeClr val="tx1">
                    <a:lumMod val="75000"/>
                    <a:lumOff val="25000"/>
                  </a:schemeClr>
                </a:solidFill>
              </a:rPr>
              <a:t xml:space="preserve">MAR</a:t>
            </a:r>
            <a:r>
              <a:rPr lang="es-CL" sz="1250" b="0" i="0" dirty="0">
                <a:solidFill>
                  <a:schemeClr val="tx1">
                    <a:lumMod val="75000"/>
                    <a:lumOff val="25000"/>
                  </a:schemeClr>
                </a:solidFill>
              </a:rPr>
              <a:t xml:space="preserve"> el sesgo de la media es despreciable, porque la duración apenas correlaciona con la variable afectada.</a:t>
            </a:r>
          </a:p>
          <a:p>
            <a:pPr marL="200025" indent="-200025" algn="just">
              <a:spcBef>
                <a:spcPts val="600"/>
              </a:spcBef>
              <a:buFont typeface="Arial"/>
              <a:buChar char="•"/>
            </a:pPr>
            <a:r>
              <a:rPr lang="es-CL" sz="1250" b="0" i="0" dirty="0">
                <a:solidFill>
                  <a:schemeClr val="tx1">
                    <a:lumMod val="75000"/>
                    <a:lumOff val="25000"/>
                  </a:schemeClr>
                </a:solidFill>
              </a:rPr>
              <a:t xml:space="preserve">MAR no sesga necesariamente las medias; lo que distorsiona son las relaciones condicionales.</a:t>
            </a:r>
          </a:p>
          <a:p>
            <a:pPr algn="just">
              <a:spcBef>
                <a:spcPts val="1000"/>
              </a:spcBef>
            </a:pPr>
            <a:r>
              <a:rPr lang="es-CL" sz="1150" b="0" i="1" dirty="0">
                <a:solidFill>
                  <a:schemeClr val="tx1">
                    <a:lumMod val="75000"/>
                    <a:lumOff val="25000"/>
                  </a:schemeClr>
                </a:solidFill>
              </a:rPr>
              <a:t xml:space="preserve">La pauta prescribe una variable MCAR entre el 10 y el 15 %: es la edad promedio, con 14,9 % y semilla fija. MAR y MNAR los declaramos extensión voluntaria.</a:t>
            </a:r>
          </a:p>
        </p:txBody>
      </p:sp>
    </p:spTree>
    <p:extLst>
      <p:ext uri="{BB962C8B-B14F-4D97-AF65-F5344CB8AC3E}">
        <p14:creationId xmlns:p14="http://schemas.microsoft.com/office/powerpoint/2010/main" val="3985140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4EE738EC-B53A-ABCD-9FA6-598A49119069}"/>
              </a:ext>
            </a:extLst>
          </p:cNvPr>
          <p:cNvPicPr>
            <a:picLocks noChangeAspect="1"/>
          </p:cNvPicPr>
          <p:nvPr/>
        </p:nvPicPr>
        <p:blipFill rotWithShape="1">
          <a:blip r:embed="rId3">
            <a:extLst>
              <a:ext uri="{28A0092B-C50C-407E-A947-70E740481C1C}">
                <a14:useLocalDpi xmlns:a14="http://schemas.microsoft.com/office/drawing/2010/main" val="0"/>
              </a:ext>
            </a:extLst>
          </a:blip>
          <a:srcRect l="38369" r="7163"/>
          <a:stretch/>
        </p:blipFill>
        <p:spPr>
          <a:xfrm>
            <a:off x="6549030" y="-79378"/>
            <a:ext cx="5738628" cy="7016756"/>
          </a:xfrm>
          <a:prstGeom prst="rect">
            <a:avLst/>
          </a:prstGeom>
        </p:spPr>
      </p:pic>
      <p:sp>
        <p:nvSpPr>
          <p:cNvPr id="5" name="CuadroTexto 4">
            <a:extLst>
              <a:ext uri="{FF2B5EF4-FFF2-40B4-BE49-F238E27FC236}">
                <a16:creationId xmlns:a16="http://schemas.microsoft.com/office/drawing/2014/main" id="{C6FFEBCA-443A-A485-8CB8-8F346C8CD519}"/>
              </a:ext>
            </a:extLst>
          </p:cNvPr>
          <p:cNvSpPr txBox="1"/>
          <p:nvPr/>
        </p:nvSpPr>
        <p:spPr>
          <a:xfrm>
            <a:off x="1069848" y="2377440"/>
            <a:ext cx="5111496" cy="2377440"/>
          </a:xfrm>
          <a:prstGeom prst="rect">
            <a:avLst/>
          </a:prstGeom>
          <a:noFill/>
        </p:spPr>
        <p:txBody>
          <a:bodyPr wrap="square">
            <a:spAutoFit/>
          </a:bodyPr>
          <a:lstStyle/>
          <a:p>
            <a:pPr algn="l">
              <a:spcBef>
                <a:spcPts val="0"/>
              </a:spcBef>
            </a:pPr>
            <a:r>
              <a:rPr lang="es-CL" sz="1500" b="0" i="0" dirty="0">
                <a:solidFill>
                  <a:srgbClr val="20236D"/>
                </a:solidFill>
              </a:rPr>
              <a:t xml:space="preserve">Hallazgos</a:t>
            </a:r>
          </a:p>
          <a:p>
            <a:pPr algn="l">
              <a:spcBef>
                <a:spcPts val="600"/>
              </a:spcBef>
            </a:pPr>
            <a:r>
              <a:rPr lang="es-CL" sz="3200" b="0" i="0" dirty="0">
                <a:solidFill>
                  <a:srgbClr val="20236D"/>
                </a:solidFill>
              </a:rPr>
              <a:t xml:space="preserve">Resultados</a:t>
            </a:r>
          </a:p>
          <a:p>
            <a:pPr algn="just">
              <a:spcBef>
                <a:spcPts val="1400"/>
              </a:spcBef>
            </a:pPr>
            <a:r>
              <a:rPr lang="es-CL" sz="1600" b="0" i="0" dirty="0">
                <a:solidFill>
                  <a:schemeClr val="tx1">
                    <a:lumMod val="75000"/>
                    <a:lumOff val="25000"/>
                  </a:schemeClr>
                </a:solidFill>
              </a:rPr>
              <a:t xml:space="preserve">Cuatro hallazgos: qué imputación gana, qué factores explican el abandono, qué tan bien se predice y cuánta precisión declarábamos de más.</a:t>
            </a:r>
          </a:p>
        </p:txBody>
      </p:sp>
      <p:grpSp>
        <p:nvGrpSpPr>
          <p:cNvPr id="8" name="Grupo 7">
            <a:extLst>
              <a:ext uri="{FF2B5EF4-FFF2-40B4-BE49-F238E27FC236}">
                <a16:creationId xmlns:a16="http://schemas.microsoft.com/office/drawing/2014/main" id="{6FF7A741-E6D2-4FDD-9F5C-9DDFC4954BAF}"/>
              </a:ext>
            </a:extLst>
          </p:cNvPr>
          <p:cNvGrpSpPr/>
          <p:nvPr/>
        </p:nvGrpSpPr>
        <p:grpSpPr>
          <a:xfrm>
            <a:off x="302002" y="-206018"/>
            <a:ext cx="11544754" cy="6812558"/>
            <a:chOff x="302002" y="-206018"/>
            <a:chExt cx="11544754" cy="6812558"/>
          </a:xfrm>
        </p:grpSpPr>
        <p:sp>
          <p:nvSpPr>
            <p:cNvPr id="9" name="Rectángulo 8">
              <a:extLst>
                <a:ext uri="{FF2B5EF4-FFF2-40B4-BE49-F238E27FC236}">
                  <a16:creationId xmlns:a16="http://schemas.microsoft.com/office/drawing/2014/main" id="{2F27250F-C848-235D-E653-70F65D012EC5}"/>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10" name="Grupo 9">
              <a:extLst>
                <a:ext uri="{FF2B5EF4-FFF2-40B4-BE49-F238E27FC236}">
                  <a16:creationId xmlns:a16="http://schemas.microsoft.com/office/drawing/2014/main" id="{2DCD665D-4AAC-4906-F154-2F2CC78C6840}"/>
                </a:ext>
              </a:extLst>
            </p:cNvPr>
            <p:cNvGrpSpPr/>
            <p:nvPr/>
          </p:nvGrpSpPr>
          <p:grpSpPr>
            <a:xfrm>
              <a:off x="10266948" y="-206018"/>
              <a:ext cx="1339576" cy="1716660"/>
              <a:chOff x="10266948" y="-206018"/>
              <a:chExt cx="1339576" cy="1716660"/>
            </a:xfrm>
          </p:grpSpPr>
          <p:sp>
            <p:nvSpPr>
              <p:cNvPr id="12" name="Título 1">
                <a:extLst>
                  <a:ext uri="{FF2B5EF4-FFF2-40B4-BE49-F238E27FC236}">
                    <a16:creationId xmlns:a16="http://schemas.microsoft.com/office/drawing/2014/main" id="{5D8FA4FE-7036-9B75-9BCB-90444AA13492}"/>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5" name="Imagen 14">
                <a:extLst>
                  <a:ext uri="{FF2B5EF4-FFF2-40B4-BE49-F238E27FC236}">
                    <a16:creationId xmlns:a16="http://schemas.microsoft.com/office/drawing/2014/main" id="{808F2274-5EBE-CD55-0C3D-3B5DC114D6EA}"/>
                  </a:ext>
                </a:extLst>
              </p:cNvPr>
              <p:cNvPicPr>
                <a:picLocks noChangeAspect="1"/>
              </p:cNvPicPr>
              <p:nvPr/>
            </p:nvPicPr>
            <p:blipFill>
              <a:blip r:embed="rId4"/>
              <a:stretch>
                <a:fillRect/>
              </a:stretch>
            </p:blipFill>
            <p:spPr>
              <a:xfrm>
                <a:off x="10375523" y="394074"/>
                <a:ext cx="1151092" cy="973350"/>
              </a:xfrm>
              <a:prstGeom prst="rect">
                <a:avLst/>
              </a:prstGeom>
            </p:spPr>
          </p:pic>
        </p:grpSp>
      </p:grpSp>
    </p:spTree>
    <p:extLst>
      <p:ext uri="{BB962C8B-B14F-4D97-AF65-F5344CB8AC3E}">
        <p14:creationId xmlns:p14="http://schemas.microsoft.com/office/powerpoint/2010/main" val="992093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3089DBCA-FFA2-7FCA-0978-020F1612CD9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C44C02C-081F-BED0-D6AD-14E853857BBA}"/>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6" name="Grupo 5">
              <a:extLst>
                <a:ext uri="{FF2B5EF4-FFF2-40B4-BE49-F238E27FC236}">
                  <a16:creationId xmlns:a16="http://schemas.microsoft.com/office/drawing/2014/main" id="{E15368CA-E4DB-7718-2A41-27F135DAB4D0}"/>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BD4FDC23-8EEC-4944-2580-A2FC374CD2D0}"/>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3" name="Imagen 12">
                <a:extLst>
                  <a:ext uri="{FF2B5EF4-FFF2-40B4-BE49-F238E27FC236}">
                    <a16:creationId xmlns:a16="http://schemas.microsoft.com/office/drawing/2014/main" id="{E22975E8-8974-FCA4-BF3D-C8A1AD8F6A79}"/>
                  </a:ext>
                </a:extLst>
              </p:cNvPr>
              <p:cNvPicPr>
                <a:picLocks noChangeAspect="1"/>
              </p:cNvPicPr>
              <p:nvPr/>
            </p:nvPicPr>
            <p:blipFill>
              <a:blip r:embed="rId3"/>
              <a:stretch>
                <a:fillRect/>
              </a:stretch>
            </p:blipFill>
            <p:spPr>
              <a:xfrm>
                <a:off x="10375523" y="394074"/>
                <a:ext cx="1151092" cy="973350"/>
              </a:xfrm>
              <a:prstGeom prst="rect">
                <a:avLst/>
              </a:prstGeom>
            </p:spPr>
          </p:pic>
        </p:grpSp>
      </p:grpSp>
      <p:sp>
        <p:nvSpPr>
          <p:cNvPr id="4" name="Rectángulo 3">
            <a:extLst>
              <a:ext uri="{FF2B5EF4-FFF2-40B4-BE49-F238E27FC236}">
                <a16:creationId xmlns:a16="http://schemas.microsoft.com/office/drawing/2014/main" id="{ACD47DFB-493A-6667-77EE-9717D911E58D}"/>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rPr>
              <a:t>Resultado 1: la imputación por regresión gana en las tres dimensiones</a:t>
            </a:r>
          </a:p>
        </p:txBody>
      </p:sp>
      <p:pic>
        <p:nvPicPr>
          <p:cNvPr id="15" name="Picture 14" descr="fig1_estrategias_imputacion.png"/>
          <p:cNvPicPr>
            <a:picLocks noChangeAspect="1"/>
          </p:cNvPicPr>
          <p:nvPr/>
        </p:nvPicPr>
        <p:blipFill>
          <a:blip r:embed="rId2"/>
          <a:stretch>
            <a:fillRect/>
          </a:stretch>
        </p:blipFill>
        <p:spPr>
          <a:xfrm>
            <a:off x="1984248" y="1481328"/>
            <a:ext cx="8183879" cy="2941548"/>
          </a:xfrm>
          <a:prstGeom prst="rect">
            <a:avLst/>
          </a:prstGeom>
        </p:spPr>
      </p:pic>
      <p:sp>
        <p:nvSpPr>
          <p:cNvPr id="16" name="TextBox 15"/>
          <p:cNvSpPr txBox="1"/>
          <p:nvPr/>
        </p:nvSpPr>
        <p:spPr>
          <a:xfrm>
            <a:off x="2093976" y="4572000"/>
            <a:ext cx="7964424" cy="1280160"/>
          </a:xfrm>
          <a:prstGeom prst="rect">
            <a:avLst/>
          </a:prstGeom>
          <a:noFill/>
        </p:spPr>
        <p:txBody>
          <a:bodyPr wrap="square" anchor="t">
            <a:spAutoFit/>
          </a:bodyPr>
          <a:lstStyle/>
          <a:p>
            <a:pPr algn="just">
              <a:spcBef>
                <a:spcPts val="0"/>
              </a:spcBef>
            </a:pPr>
            <a:r>
              <a:rPr lang="es-CL" sz="1300" b="0" i="0" dirty="0">
                <a:solidFill>
                  <a:schemeClr val="tx1">
                    <a:lumMod val="75000"/>
                    <a:lumOff val="25000"/>
                  </a:schemeClr>
                </a:solidFill>
              </a:rPr>
              <a:t xml:space="preserve">Conserva el </a:t>
            </a:r>
            <a:r>
              <a:rPr lang="es-CL" sz="1300" b="1" i="0" dirty="0">
                <a:solidFill>
                  <a:schemeClr val="tx1">
                    <a:lumMod val="75000"/>
                    <a:lumOff val="25000"/>
                  </a:schemeClr>
                </a:solidFill>
              </a:rPr>
              <a:t xml:space="preserve">100 % de la muestra</a:t>
            </a:r>
            <a:r>
              <a:rPr lang="es-CL" sz="1300" b="0" i="0" dirty="0">
                <a:solidFill>
                  <a:schemeClr val="tx1">
                    <a:lumMod val="75000"/>
                    <a:lumOff val="25000"/>
                  </a:schemeClr>
                </a:solidFill>
              </a:rPr>
              <a:t xml:space="preserve"> frente al 47,5 % que deja la eliminación; su desvío respecto de las correlaciones de S1 es el menor de los tres (0,0135 contra 0,0183 y 0,0197); y su RMSE es menor en las tres variables. Pero bajo MNAR ninguna estrategia recupera lo perdido: el sesgo persiste.</a:t>
            </a:r>
          </a:p>
        </p:txBody>
      </p:sp>
    </p:spTree>
    <p:extLst>
      <p:ext uri="{BB962C8B-B14F-4D97-AF65-F5344CB8AC3E}">
        <p14:creationId xmlns:p14="http://schemas.microsoft.com/office/powerpoint/2010/main" val="3985140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3089DBCA-FFA2-7FCA-0978-020F1612CD9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C44C02C-081F-BED0-D6AD-14E853857BBA}"/>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6" name="Grupo 5">
              <a:extLst>
                <a:ext uri="{FF2B5EF4-FFF2-40B4-BE49-F238E27FC236}">
                  <a16:creationId xmlns:a16="http://schemas.microsoft.com/office/drawing/2014/main" id="{E15368CA-E4DB-7718-2A41-27F135DAB4D0}"/>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BD4FDC23-8EEC-4944-2580-A2FC374CD2D0}"/>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3" name="Imagen 12">
                <a:extLst>
                  <a:ext uri="{FF2B5EF4-FFF2-40B4-BE49-F238E27FC236}">
                    <a16:creationId xmlns:a16="http://schemas.microsoft.com/office/drawing/2014/main" id="{E22975E8-8974-FCA4-BF3D-C8A1AD8F6A79}"/>
                  </a:ext>
                </a:extLst>
              </p:cNvPr>
              <p:cNvPicPr>
                <a:picLocks noChangeAspect="1"/>
              </p:cNvPicPr>
              <p:nvPr/>
            </p:nvPicPr>
            <p:blipFill>
              <a:blip r:embed="rId3"/>
              <a:stretch>
                <a:fillRect/>
              </a:stretch>
            </p:blipFill>
            <p:spPr>
              <a:xfrm>
                <a:off x="10375523" y="394074"/>
                <a:ext cx="1151092" cy="973350"/>
              </a:xfrm>
              <a:prstGeom prst="rect">
                <a:avLst/>
              </a:prstGeom>
            </p:spPr>
          </p:pic>
        </p:grpSp>
      </p:grpSp>
      <p:sp>
        <p:nvSpPr>
          <p:cNvPr id="4" name="Rectángulo 3">
            <a:extLst>
              <a:ext uri="{FF2B5EF4-FFF2-40B4-BE49-F238E27FC236}">
                <a16:creationId xmlns:a16="http://schemas.microsoft.com/office/drawing/2014/main" id="{ACD47DFB-493A-6667-77EE-9717D911E58D}"/>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rPr>
              <a:t>Resultado 2: cuatro factores, y los cuatro protegen</a:t>
            </a:r>
          </a:p>
        </p:txBody>
      </p:sp>
      <p:graphicFrame>
        <p:nvGraphicFramePr>
          <p:cNvPr id="15" name="Chart 14"/>
          <p:cNvGraphicFramePr>
            <a:graphicFrameLocks noGrp="1"/>
          </p:cNvGraphicFramePr>
          <p:nvPr/>
        </p:nvGraphicFramePr>
        <p:xfrm>
          <a:off x="1188720" y="1554480"/>
          <a:ext cx="6035040" cy="3291840"/>
        </p:xfrm>
        <a:graphic>
          <a:graphicData uri="http://schemas.openxmlformats.org/drawingml/2006/chart">
            <c:chart xmlns:c="http://schemas.openxmlformats.org/drawingml/2006/chart" r:id="rId2"/>
          </a:graphicData>
        </a:graphic>
      </p:graphicFrame>
      <p:sp>
        <p:nvSpPr>
          <p:cNvPr id="16" name="TextBox 15"/>
          <p:cNvSpPr txBox="1"/>
          <p:nvPr/>
        </p:nvSpPr>
        <p:spPr>
          <a:xfrm>
            <a:off x="7452360" y="1554480"/>
            <a:ext cx="3154680" cy="3474720"/>
          </a:xfrm>
          <a:prstGeom prst="rect">
            <a:avLst/>
          </a:prstGeom>
          <a:noFill/>
        </p:spPr>
        <p:txBody>
          <a:bodyPr wrap="square" anchor="t">
            <a:spAutoFit/>
          </a:bodyPr>
          <a:lstStyle/>
          <a:p>
            <a:pPr algn="l">
              <a:spcBef>
                <a:spcPts val="0"/>
              </a:spcBef>
            </a:pPr>
            <a:r>
              <a:rPr lang="es-CL" sz="1500" b="0" i="0" dirty="0">
                <a:solidFill>
                  <a:srgbClr val="20236D"/>
                </a:solidFill>
              </a:rPr>
              <a:t xml:space="preserve">Cómo se lee</a:t>
            </a:r>
          </a:p>
          <a:p>
            <a:pPr algn="just">
              <a:spcBef>
                <a:spcPts val="600"/>
              </a:spcBef>
            </a:pPr>
            <a:r>
              <a:rPr lang="es-CL" sz="1250" b="0" i="0" dirty="0">
                <a:solidFill>
                  <a:schemeClr val="tx1">
                    <a:lumMod val="75000"/>
                    <a:lumOff val="25000"/>
                  </a:schemeClr>
                </a:solidFill>
              </a:rPr>
              <a:t xml:space="preserve">Las variables están estandarizadas, así que cada razón de momios es el efecto de </a:t>
            </a:r>
            <a:r>
              <a:rPr lang="es-CL" sz="1250" b="1" i="0" dirty="0">
                <a:solidFill>
                  <a:schemeClr val="tx1">
                    <a:lumMod val="75000"/>
                    <a:lumOff val="25000"/>
                  </a:schemeClr>
                </a:solidFill>
              </a:rPr>
              <a:t xml:space="preserve">una desviación típica</a:t>
            </a:r>
            <a:r>
              <a:rPr lang="es-CL" sz="1250" b="0" i="0" dirty="0">
                <a:solidFill>
                  <a:schemeClr val="tx1">
                    <a:lumMod val="75000"/>
                    <a:lumOff val="25000"/>
                  </a:schemeClr>
                </a:solidFill>
              </a:rPr>
              <a:t xml:space="preserve">. Un valor bajo 1 reduce el riesgo.</a:t>
            </a:r>
          </a:p>
          <a:p>
            <a:pPr algn="just">
              <a:spcBef>
                <a:spcPts val="800"/>
              </a:spcBef>
            </a:pPr>
            <a:r>
              <a:rPr lang="es-CL" sz="1250" b="0" i="0" dirty="0">
                <a:solidFill>
                  <a:schemeClr val="tx1">
                    <a:lumMod val="75000"/>
                    <a:lumOff val="25000"/>
                  </a:schemeClr>
                </a:solidFill>
              </a:rPr>
              <a:t xml:space="preserve">Una desviación típica más de acreditación, tamaño o presencia femenina reduce </a:t>
            </a:r>
            <a:r>
              <a:rPr lang="es-CL" sz="1250" b="1" i="0" dirty="0">
                <a:solidFill>
                  <a:schemeClr val="tx1">
                    <a:lumMod val="75000"/>
                    <a:lumOff val="25000"/>
                  </a:schemeClr>
                </a:solidFill>
              </a:rPr>
              <a:t xml:space="preserve">entre un 24 % y un 37 %</a:t>
            </a:r>
            <a:r>
              <a:rPr lang="es-CL" sz="1250" b="0" i="0" dirty="0">
                <a:solidFill>
                  <a:schemeClr val="tx1">
                    <a:lumMod val="75000"/>
                    <a:lumOff val="25000"/>
                  </a:schemeClr>
                </a:solidFill>
              </a:rPr>
              <a:t xml:space="preserve"> la probabilidad relativa de abandono alto.</a:t>
            </a:r>
          </a:p>
          <a:p>
            <a:pPr algn="just">
              <a:spcBef>
                <a:spcPts val="800"/>
              </a:spcBef>
            </a:pPr>
            <a:r>
              <a:rPr lang="es-CL" sz="1250" b="0" i="0" dirty="0">
                <a:solidFill>
                  <a:schemeClr val="tx1">
                    <a:lumMod val="75000"/>
                    <a:lumOff val="25000"/>
                  </a:schemeClr>
                </a:solidFill>
              </a:rPr>
              <a:t xml:space="preserve">Las cuatro son significativas al 0,1 %, y cada una entra al modelo con su cifra de S1 y su intervalo de S2.</a:t>
            </a:r>
          </a:p>
        </p:txBody>
      </p:sp>
      <p:sp>
        <p:nvSpPr>
          <p:cNvPr id="17" name="TextBox 16"/>
          <p:cNvSpPr txBox="1"/>
          <p:nvPr/>
        </p:nvSpPr>
        <p:spPr>
          <a:xfrm>
            <a:off x="1188720" y="4983480"/>
            <a:ext cx="9418320" cy="640080"/>
          </a:xfrm>
          <a:prstGeom prst="rect">
            <a:avLst/>
          </a:prstGeom>
          <a:noFill/>
        </p:spPr>
        <p:txBody>
          <a:bodyPr wrap="square" anchor="t">
            <a:spAutoFit/>
          </a:bodyPr>
          <a:lstStyle/>
          <a:p>
            <a:pPr algn="ctr">
              <a:spcBef>
                <a:spcPts val="0"/>
              </a:spcBef>
            </a:pPr>
            <a:r>
              <a:rPr lang="es-CL" sz="1300" b="0" i="1" dirty="0">
                <a:solidFill>
                  <a:schemeClr val="tx1">
                    <a:lumMod val="75000"/>
                    <a:lumOff val="25000"/>
                  </a:schemeClr>
                </a:solidFill>
              </a:rPr>
              <a:t xml:space="preserve">Las tres selecciones de variables (dominio, stepwise por AIC y reducida) retienen exactamente estas cuatro continuas.</a:t>
            </a:r>
          </a:p>
        </p:txBody>
      </p:sp>
    </p:spTree>
    <p:extLst>
      <p:ext uri="{BB962C8B-B14F-4D97-AF65-F5344CB8AC3E}">
        <p14:creationId xmlns:p14="http://schemas.microsoft.com/office/powerpoint/2010/main" val="3985140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3089DBCA-FFA2-7FCA-0978-020F1612CD9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C44C02C-081F-BED0-D6AD-14E853857BBA}"/>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6" name="Grupo 5">
              <a:extLst>
                <a:ext uri="{FF2B5EF4-FFF2-40B4-BE49-F238E27FC236}">
                  <a16:creationId xmlns:a16="http://schemas.microsoft.com/office/drawing/2014/main" id="{E15368CA-E4DB-7718-2A41-27F135DAB4D0}"/>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BD4FDC23-8EEC-4944-2580-A2FC374CD2D0}"/>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3" name="Imagen 12">
                <a:extLst>
                  <a:ext uri="{FF2B5EF4-FFF2-40B4-BE49-F238E27FC236}">
                    <a16:creationId xmlns:a16="http://schemas.microsoft.com/office/drawing/2014/main" id="{E22975E8-8974-FCA4-BF3D-C8A1AD8F6A79}"/>
                  </a:ext>
                </a:extLst>
              </p:cNvPr>
              <p:cNvPicPr>
                <a:picLocks noChangeAspect="1"/>
              </p:cNvPicPr>
              <p:nvPr/>
            </p:nvPicPr>
            <p:blipFill>
              <a:blip r:embed="rId3"/>
              <a:stretch>
                <a:fillRect/>
              </a:stretch>
            </p:blipFill>
            <p:spPr>
              <a:xfrm>
                <a:off x="10375523" y="394074"/>
                <a:ext cx="1151092" cy="973350"/>
              </a:xfrm>
              <a:prstGeom prst="rect">
                <a:avLst/>
              </a:prstGeom>
            </p:spPr>
          </p:pic>
        </p:grpSp>
      </p:grpSp>
      <p:sp>
        <p:nvSpPr>
          <p:cNvPr id="4" name="Rectángulo 3">
            <a:extLst>
              <a:ext uri="{FF2B5EF4-FFF2-40B4-BE49-F238E27FC236}">
                <a16:creationId xmlns:a16="http://schemas.microsoft.com/office/drawing/2014/main" id="{ACD47DFB-493A-6667-77EE-9717D911E58D}"/>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rPr>
              <a:t>Resultado 3: la línea base manda, y el umbral más que la ponderación</a:t>
            </a:r>
          </a:p>
        </p:txBody>
      </p:sp>
      <p:graphicFrame>
        <p:nvGraphicFramePr>
          <p:cNvPr id="15" name="Table 14"/>
          <p:cNvGraphicFramePr>
            <a:graphicFrameLocks noGrp="1"/>
          </p:cNvGraphicFramePr>
          <p:nvPr/>
        </p:nvGraphicFramePr>
        <p:xfrm>
          <a:off x="1143000" y="1481328"/>
          <a:ext cx="6172196" cy="1499616"/>
        </p:xfrm>
        <a:graphic>
          <a:graphicData uri="http://schemas.openxmlformats.org/drawingml/2006/table">
            <a:tbl>
              <a:tblPr firstRow="0" bandRow="0">
                <a:tableStyleId>{2D5ABB26-0587-4C30-8999-92F81FD0307C}</a:tableStyleId>
              </a:tblPr>
              <a:tblGrid>
                <a:gridCol w="2490536"/>
                <a:gridCol w="974557"/>
                <a:gridCol w="974557"/>
                <a:gridCol w="866273"/>
                <a:gridCol w="866273"/>
              </a:tblGrid>
              <a:tr h="329184">
                <a:tc>
                  <a:txBody>
                    <a:bodyPr/>
                    <a:lstStyle/>
                    <a:p>
                      <a:pPr algn="l">
                        <a:spcBef>
                          <a:spcPts val="0"/>
                        </a:spcBef>
                      </a:pPr>
                      <a:r>
                        <a:rPr lang="es-CL" sz="1100" b="1" i="0" dirty="0">
                          <a:solidFill>
                            <a:srgbClr val="FFFFFF"/>
                          </a:solidFill>
                        </a:rPr>
                        <a:t xml:space="preserve">Conjunto de prueba</a:t>
                      </a:r>
                    </a:p>
                  </a:txBody>
                  <a:tcPr anchor="ctr" marL="64008" marR="64008" marT="18288" marB="18288">
                    <a:solidFill>
                      <a:srgbClr val="20236D"/>
                    </a:solidFill>
                  </a:tcPr>
                </a:tc>
                <a:tc>
                  <a:txBody>
                    <a:bodyPr/>
                    <a:lstStyle/>
                    <a:p>
                      <a:pPr algn="ctr">
                        <a:spcBef>
                          <a:spcPts val="0"/>
                        </a:spcBef>
                      </a:pPr>
                      <a:r>
                        <a:rPr lang="es-CL" sz="1100" b="1" i="0" dirty="0">
                          <a:solidFill>
                            <a:srgbClr val="FFFFFF"/>
                          </a:solidFill>
                        </a:rPr>
                        <a:t xml:space="preserve">Exactitud</a:t>
                      </a:r>
                    </a:p>
                  </a:txBody>
                  <a:tcPr anchor="ctr" marL="64008" marR="64008" marT="18288" marB="18288">
                    <a:solidFill>
                      <a:srgbClr val="20236D"/>
                    </a:solidFill>
                  </a:tcPr>
                </a:tc>
                <a:tc>
                  <a:txBody>
                    <a:bodyPr/>
                    <a:lstStyle/>
                    <a:p>
                      <a:pPr algn="ctr">
                        <a:spcBef>
                          <a:spcPts val="0"/>
                        </a:spcBef>
                      </a:pPr>
                      <a:r>
                        <a:rPr lang="es-CL" sz="1100" b="1" i="0" dirty="0">
                          <a:solidFill>
                            <a:srgbClr val="FFFFFF"/>
                          </a:solidFill>
                        </a:rPr>
                        <a:t xml:space="preserve">Sensib.</a:t>
                      </a:r>
                    </a:p>
                  </a:txBody>
                  <a:tcPr anchor="ctr" marL="64008" marR="64008" marT="18288" marB="18288">
                    <a:solidFill>
                      <a:srgbClr val="20236D"/>
                    </a:solidFill>
                  </a:tcPr>
                </a:tc>
                <a:tc>
                  <a:txBody>
                    <a:bodyPr/>
                    <a:lstStyle/>
                    <a:p>
                      <a:pPr algn="ctr">
                        <a:spcBef>
                          <a:spcPts val="0"/>
                        </a:spcBef>
                      </a:pPr>
                      <a:r>
                        <a:rPr lang="es-CL" sz="1100" b="1" i="0" dirty="0">
                          <a:solidFill>
                            <a:srgbClr val="FFFFFF"/>
                          </a:solidFill>
                        </a:rPr>
                        <a:t xml:space="preserve">F1</a:t>
                      </a:r>
                    </a:p>
                  </a:txBody>
                  <a:tcPr anchor="ctr" marL="64008" marR="64008" marT="18288" marB="18288">
                    <a:solidFill>
                      <a:srgbClr val="20236D"/>
                    </a:solidFill>
                  </a:tcPr>
                </a:tc>
                <a:tc>
                  <a:txBody>
                    <a:bodyPr/>
                    <a:lstStyle/>
                    <a:p>
                      <a:pPr algn="ctr">
                        <a:spcBef>
                          <a:spcPts val="0"/>
                        </a:spcBef>
                      </a:pPr>
                      <a:r>
                        <a:rPr lang="es-CL" sz="1100" b="1" i="0" dirty="0">
                          <a:solidFill>
                            <a:srgbClr val="FFFFFF"/>
                          </a:solidFill>
                        </a:rPr>
                        <a:t xml:space="preserve">AUC</a:t>
                      </a:r>
                    </a:p>
                  </a:txBody>
                  <a:tcPr anchor="ctr" marL="64008" marR="64008" marT="18288" marB="18288">
                    <a:solidFill>
                      <a:srgbClr val="20236D"/>
                    </a:solidFill>
                  </a:tcPr>
                </a:tc>
              </a:tr>
              <a:tr h="292608">
                <a:tc>
                  <a:txBody>
                    <a:bodyPr/>
                    <a:lstStyle/>
                    <a:p>
                      <a:pPr algn="l">
                        <a:spcBef>
                          <a:spcPts val="0"/>
                        </a:spcBef>
                      </a:pPr>
                      <a:r>
                        <a:rPr lang="es-CL" sz="1100" b="0" i="0" dirty="0">
                          <a:solidFill>
                            <a:schemeClr val="tx1">
                              <a:lumMod val="75000"/>
                              <a:lumOff val="25000"/>
                            </a:schemeClr>
                          </a:solidFill>
                        </a:rPr>
                        <a:t xml:space="preserve">Línea base (siempre «alto»)</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0,549</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1,000</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0,709</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0,500</a:t>
                      </a:r>
                    </a:p>
                  </a:txBody>
                  <a:tcPr anchor="ctr" marL="64008" marR="64008" marT="18288" marB="18288">
                    <a:lnB w="9525" cap="flat">
                      <a:solidFill>
                        <a:srgbClr val="C9CCDB"/>
                      </a:solidFill>
                    </a:lnB>
                    <a:solidFill>
                      <a:srgbClr val="FFFFFF"/>
                    </a:solidFill>
                  </a:tcPr>
                </a:tc>
              </a:tr>
              <a:tr h="292608">
                <a:tc>
                  <a:txBody>
                    <a:bodyPr/>
                    <a:lstStyle/>
                    <a:p>
                      <a:pPr algn="l">
                        <a:spcBef>
                          <a:spcPts val="0"/>
                        </a:spcBef>
                      </a:pPr>
                      <a:r>
                        <a:rPr lang="es-CL" sz="1100" b="0" i="0" dirty="0">
                          <a:solidFill>
                            <a:schemeClr val="tx1">
                              <a:lumMod val="75000"/>
                              <a:lumOff val="25000"/>
                            </a:schemeClr>
                          </a:solidFill>
                        </a:rPr>
                        <a:t xml:space="preserve">M1, umbral 0,50</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0,678</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0,754</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0,720</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0,730</a:t>
                      </a:r>
                    </a:p>
                  </a:txBody>
                  <a:tcPr anchor="ctr" marL="64008" marR="64008" marT="18288" marB="18288">
                    <a:lnB w="9525" cap="flat">
                      <a:solidFill>
                        <a:srgbClr val="C9CCDB"/>
                      </a:solidFill>
                    </a:lnB>
                    <a:solidFill>
                      <a:srgbClr val="F2F3F8"/>
                    </a:solidFill>
                  </a:tcPr>
                </a:tc>
              </a:tr>
              <a:tr h="292608">
                <a:tc>
                  <a:txBody>
                    <a:bodyPr/>
                    <a:lstStyle/>
                    <a:p>
                      <a:pPr algn="l">
                        <a:spcBef>
                          <a:spcPts val="0"/>
                        </a:spcBef>
                      </a:pPr>
                      <a:r>
                        <a:rPr lang="es-CL" sz="1100" b="0" i="0" dirty="0">
                          <a:solidFill>
                            <a:schemeClr val="tx1">
                              <a:lumMod val="75000"/>
                              <a:lumOff val="25000"/>
                            </a:schemeClr>
                          </a:solidFill>
                        </a:rPr>
                        <a:t xml:space="preserve">M1 con ponderación de clase</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0,664</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1" i="0" dirty="0">
                          <a:solidFill>
                            <a:schemeClr val="tx1">
                              <a:lumMod val="75000"/>
                              <a:lumOff val="25000"/>
                            </a:schemeClr>
                          </a:solidFill>
                        </a:rPr>
                        <a:t xml:space="preserve">0,674</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0,688</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0,730</a:t>
                      </a:r>
                    </a:p>
                  </a:txBody>
                  <a:tcPr anchor="ctr" marL="64008" marR="64008" marT="18288" marB="18288">
                    <a:lnB w="9525" cap="flat">
                      <a:solidFill>
                        <a:srgbClr val="C9CCDB"/>
                      </a:solidFill>
                    </a:lnB>
                    <a:solidFill>
                      <a:srgbClr val="FFFFFF"/>
                    </a:solidFill>
                  </a:tcPr>
                </a:tc>
              </a:tr>
              <a:tr h="292608">
                <a:tc>
                  <a:txBody>
                    <a:bodyPr/>
                    <a:lstStyle/>
                    <a:p>
                      <a:pPr algn="l">
                        <a:spcBef>
                          <a:spcPts val="0"/>
                        </a:spcBef>
                      </a:pPr>
                      <a:r>
                        <a:rPr lang="es-CL" sz="1100" b="0" i="0" dirty="0">
                          <a:solidFill>
                            <a:schemeClr val="tx1">
                              <a:lumMod val="75000"/>
                              <a:lumOff val="25000"/>
                            </a:schemeClr>
                          </a:solidFill>
                        </a:rPr>
                        <a:t xml:space="preserve">M1, umbral 0,418</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0,672</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1" i="0" dirty="0">
                          <a:solidFill>
                            <a:schemeClr val="tx1">
                              <a:lumMod val="75000"/>
                              <a:lumOff val="25000"/>
                            </a:schemeClr>
                          </a:solidFill>
                        </a:rPr>
                        <a:t xml:space="preserve">0,850</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1" i="0" dirty="0">
                          <a:solidFill>
                            <a:schemeClr val="tx1">
                              <a:lumMod val="75000"/>
                              <a:lumOff val="25000"/>
                            </a:schemeClr>
                          </a:solidFill>
                        </a:rPr>
                        <a:t xml:space="preserve">0,740</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0,730</a:t>
                      </a:r>
                    </a:p>
                  </a:txBody>
                  <a:tcPr anchor="ctr" marL="64008" marR="64008" marT="18288" marB="18288">
                    <a:lnB w="9525" cap="flat">
                      <a:solidFill>
                        <a:srgbClr val="C9CCDB"/>
                      </a:solidFill>
                    </a:lnB>
                    <a:solidFill>
                      <a:srgbClr val="F2F3F8"/>
                    </a:solidFill>
                  </a:tcPr>
                </a:tc>
              </a:tr>
            </a:tbl>
          </a:graphicData>
        </a:graphic>
      </p:graphicFrame>
      <p:sp>
        <p:nvSpPr>
          <p:cNvPr id="16" name="TextBox 15"/>
          <p:cNvSpPr txBox="1"/>
          <p:nvPr/>
        </p:nvSpPr>
        <p:spPr>
          <a:xfrm>
            <a:off x="1143000" y="3291840"/>
            <a:ext cx="6172200" cy="2286000"/>
          </a:xfrm>
          <a:prstGeom prst="rect">
            <a:avLst/>
          </a:prstGeom>
          <a:noFill/>
        </p:spPr>
        <p:txBody>
          <a:bodyPr wrap="square" anchor="t">
            <a:spAutoFit/>
          </a:bodyPr>
          <a:lstStyle/>
          <a:p>
            <a:pPr algn="l">
              <a:spcBef>
                <a:spcPts val="0"/>
              </a:spcBef>
            </a:pPr>
            <a:r>
              <a:rPr lang="es-CL" sz="1500" b="0" i="0" dirty="0">
                <a:solidFill>
                  <a:srgbClr val="20236D"/>
                </a:solidFill>
              </a:rPr>
              <a:t xml:space="preserve">Tres lecturas</a:t>
            </a:r>
          </a:p>
          <a:p>
            <a:pPr marL="200025" indent="-200025" algn="just">
              <a:spcBef>
                <a:spcPts val="600"/>
              </a:spcBef>
              <a:buFont typeface="Arial"/>
              <a:buChar char="•"/>
            </a:pPr>
            <a:r>
              <a:rPr lang="es-CL" sz="1250" b="0" i="0" dirty="0">
                <a:solidFill>
                  <a:schemeClr val="tx1">
                    <a:lumMod val="75000"/>
                    <a:lumOff val="25000"/>
                  </a:schemeClr>
                </a:solidFill>
              </a:rPr>
              <a:t xml:space="preserve">Sin línea base nada significa: en un conjunto 55/45, acertar la mitad es gratis. La ganancia real es el AUC, de 0,500 a 0,730.</a:t>
            </a:r>
          </a:p>
          <a:p>
            <a:pPr marL="200025" indent="-200025" algn="just">
              <a:spcBef>
                <a:spcPts val="600"/>
              </a:spcBef>
              <a:buFont typeface="Arial"/>
              <a:buChar char="•"/>
            </a:pPr>
            <a:r>
              <a:rPr lang="es-CL" sz="1250" b="0" i="0" dirty="0">
                <a:solidFill>
                  <a:schemeClr val="tx1">
                    <a:lumMod val="75000"/>
                    <a:lumOff val="25000"/>
                  </a:schemeClr>
                </a:solidFill>
              </a:rPr>
              <a:t xml:space="preserve">La ponderación de clase </a:t>
            </a:r>
            <a:r>
              <a:rPr lang="es-CL" sz="1250" b="1" i="0" dirty="0">
                <a:solidFill>
                  <a:schemeClr val="tx1">
                    <a:lumMod val="75000"/>
                    <a:lumOff val="25000"/>
                  </a:schemeClr>
                </a:solidFill>
              </a:rPr>
              <a:t xml:space="preserve">baja</a:t>
            </a:r>
            <a:r>
              <a:rPr lang="es-CL" sz="1250" b="0" i="0" dirty="0">
                <a:solidFill>
                  <a:schemeClr val="tx1">
                    <a:lumMod val="75000"/>
                    <a:lumOff val="25000"/>
                  </a:schemeClr>
                </a:solidFill>
              </a:rPr>
              <a:t xml:space="preserve"> la sensibilidad ocho puntos, porque aquí la clase positiva es la mayoritaria.</a:t>
            </a:r>
          </a:p>
          <a:p>
            <a:pPr marL="200025" indent="-200025" algn="just">
              <a:spcBef>
                <a:spcPts val="600"/>
              </a:spcBef>
              <a:buFont typeface="Arial"/>
              <a:buChar char="•"/>
            </a:pPr>
            <a:r>
              <a:rPr lang="es-CL" sz="1250" b="0" i="0" dirty="0">
                <a:solidFill>
                  <a:schemeClr val="tx1">
                    <a:lumMod val="75000"/>
                    <a:lumOff val="25000"/>
                  </a:schemeClr>
                </a:solidFill>
              </a:rPr>
              <a:t xml:space="preserve">Bajar el umbral a 0,418 la sube a 0,850 y da el mejor F1 de todas las configuraciones.</a:t>
            </a:r>
          </a:p>
        </p:txBody>
      </p:sp>
      <p:sp>
        <p:nvSpPr>
          <p:cNvPr id="17" name="TextBox 16"/>
          <p:cNvSpPr txBox="1"/>
          <p:nvPr/>
        </p:nvSpPr>
        <p:spPr>
          <a:xfrm>
            <a:off x="7635240" y="1481328"/>
            <a:ext cx="3017520" cy="4023360"/>
          </a:xfrm>
          <a:prstGeom prst="rect">
            <a:avLst/>
          </a:prstGeom>
          <a:noFill/>
        </p:spPr>
        <p:txBody>
          <a:bodyPr wrap="square" anchor="t">
            <a:spAutoFit/>
          </a:bodyPr>
          <a:lstStyle/>
          <a:p>
            <a:pPr algn="l">
              <a:spcBef>
                <a:spcPts val="0"/>
              </a:spcBef>
            </a:pPr>
            <a:r>
              <a:rPr lang="es-CL" sz="1500" b="0" i="0" dirty="0">
                <a:solidFill>
                  <a:srgbClr val="20236D"/>
                </a:solidFill>
              </a:rPr>
              <a:t xml:space="preserve">Por qué se invierte</a:t>
            </a:r>
          </a:p>
          <a:p>
            <a:pPr algn="just">
              <a:spcBef>
                <a:spcPts val="600"/>
              </a:spcBef>
            </a:pPr>
            <a:r>
              <a:rPr lang="es-CL" sz="1250" b="0" i="0" dirty="0">
                <a:solidFill>
                  <a:schemeClr val="tx1">
                    <a:lumMod val="75000"/>
                    <a:lumOff val="25000"/>
                  </a:schemeClr>
                </a:solidFill>
              </a:rPr>
              <a:t xml:space="preserve">La ponderación equilibrada rebaja el peso de la clase mayoritaria. El recetario «ponderar sube el recall» supone que la positiva es la minoritaria.</a:t>
            </a:r>
          </a:p>
          <a:p>
            <a:pPr algn="just">
              <a:spcBef>
                <a:spcPts val="800"/>
              </a:spcBef>
            </a:pPr>
            <a:r>
              <a:rPr lang="es-CL" sz="1250" b="0" i="0" dirty="0">
                <a:solidFill>
                  <a:schemeClr val="tx1">
                    <a:lumMod val="75000"/>
                    <a:lumOff val="25000"/>
                  </a:schemeClr>
                </a:solidFill>
              </a:rPr>
              <a:t xml:space="preserve">Aquí la positiva es «abandono alto», con </a:t>
            </a:r>
            <a:r>
              <a:rPr lang="es-CL" sz="1250" b="1" i="0" dirty="0">
                <a:solidFill>
                  <a:schemeClr val="tx1">
                    <a:lumMod val="75000"/>
                    <a:lumOff val="25000"/>
                  </a:schemeClr>
                </a:solidFill>
              </a:rPr>
              <a:t xml:space="preserve">54,9 %</a:t>
            </a:r>
            <a:r>
              <a:rPr lang="es-CL" sz="1250" b="0" i="0" dirty="0">
                <a:solidFill>
                  <a:schemeClr val="tx1">
                    <a:lumMod val="75000"/>
                    <a:lumOff val="25000"/>
                  </a:schemeClr>
                </a:solidFill>
              </a:rPr>
              <a:t xml:space="preserve">. Los pesos quedan en 0,910 y 1,110 y el efecto se da vuelta.</a:t>
            </a:r>
          </a:p>
          <a:p>
            <a:pPr algn="just">
              <a:spcBef>
                <a:spcPts val="800"/>
              </a:spcBef>
            </a:pPr>
            <a:r>
              <a:rPr lang="es-CL" sz="1250" b="0" i="0" dirty="0">
                <a:solidFill>
                  <a:schemeClr val="tx1">
                    <a:lumMod val="75000"/>
                    <a:lumOff val="25000"/>
                  </a:schemeClr>
                </a:solidFill>
              </a:rPr>
              <a:t xml:space="preserve">El AUC no se mueve en ninguna configuración: ninguna palanca cambia el orden de las probabilidades, solo el punto de corte.</a:t>
            </a:r>
          </a:p>
        </p:txBody>
      </p:sp>
      <p:sp>
        <p:nvSpPr>
          <p:cNvPr id="18" name="TextBox 17"/>
          <p:cNvSpPr txBox="1"/>
          <p:nvPr/>
        </p:nvSpPr>
        <p:spPr>
          <a:xfrm>
            <a:off x="1143000" y="5532120"/>
            <a:ext cx="9509760" cy="548640"/>
          </a:xfrm>
          <a:prstGeom prst="rect">
            <a:avLst/>
          </a:prstGeom>
          <a:noFill/>
        </p:spPr>
        <p:txBody>
          <a:bodyPr wrap="square" anchor="t">
            <a:spAutoFit/>
          </a:bodyPr>
          <a:lstStyle/>
          <a:p>
            <a:pPr algn="ctr">
              <a:spcBef>
                <a:spcPts val="0"/>
              </a:spcBef>
            </a:pPr>
            <a:r>
              <a:rPr lang="es-CL" sz="1250" b="0" i="1" dirty="0">
                <a:solidFill>
                  <a:schemeClr val="tx1">
                    <a:lumMod val="75000"/>
                    <a:lumOff val="25000"/>
                  </a:schemeClr>
                </a:solidFill>
              </a:rPr>
              <a:t xml:space="preserve">Los tres modelos rinden casi igual en prueba, con AUC de 0,712 a 0,733: la decisión del umbral pesa más que la elección entre ellos.</a:t>
            </a:r>
          </a:p>
        </p:txBody>
      </p:sp>
    </p:spTree>
    <p:extLst>
      <p:ext uri="{BB962C8B-B14F-4D97-AF65-F5344CB8AC3E}">
        <p14:creationId xmlns:p14="http://schemas.microsoft.com/office/powerpoint/2010/main" val="3985140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3089DBCA-FFA2-7FCA-0978-020F1612CD9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C44C02C-081F-BED0-D6AD-14E853857BBA}"/>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6" name="Grupo 5">
              <a:extLst>
                <a:ext uri="{FF2B5EF4-FFF2-40B4-BE49-F238E27FC236}">
                  <a16:creationId xmlns:a16="http://schemas.microsoft.com/office/drawing/2014/main" id="{E15368CA-E4DB-7718-2A41-27F135DAB4D0}"/>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BD4FDC23-8EEC-4944-2580-A2FC374CD2D0}"/>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3" name="Imagen 12">
                <a:extLst>
                  <a:ext uri="{FF2B5EF4-FFF2-40B4-BE49-F238E27FC236}">
                    <a16:creationId xmlns:a16="http://schemas.microsoft.com/office/drawing/2014/main" id="{E22975E8-8974-FCA4-BF3D-C8A1AD8F6A79}"/>
                  </a:ext>
                </a:extLst>
              </p:cNvPr>
              <p:cNvPicPr>
                <a:picLocks noChangeAspect="1"/>
              </p:cNvPicPr>
              <p:nvPr/>
            </p:nvPicPr>
            <p:blipFill>
              <a:blip r:embed="rId3"/>
              <a:stretch>
                <a:fillRect/>
              </a:stretch>
            </p:blipFill>
            <p:spPr>
              <a:xfrm>
                <a:off x="10375523" y="394074"/>
                <a:ext cx="1151092" cy="973350"/>
              </a:xfrm>
              <a:prstGeom prst="rect">
                <a:avLst/>
              </a:prstGeom>
            </p:spPr>
          </p:pic>
        </p:grpSp>
      </p:grpSp>
      <p:sp>
        <p:nvSpPr>
          <p:cNvPr id="4" name="Rectángulo 3">
            <a:extLst>
              <a:ext uri="{FF2B5EF4-FFF2-40B4-BE49-F238E27FC236}">
                <a16:creationId xmlns:a16="http://schemas.microsoft.com/office/drawing/2014/main" id="{ACD47DFB-493A-6667-77EE-9717D911E58D}"/>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rPr>
              <a:t>Resultado 4: dos bootstraps que responden preguntas distintas</a:t>
            </a:r>
          </a:p>
        </p:txBody>
      </p:sp>
      <p:pic>
        <p:nvPicPr>
          <p:cNvPr id="15" name="Picture 14" descr="fig3_bootstrap_coeficientes.png"/>
          <p:cNvPicPr>
            <a:picLocks noChangeAspect="1"/>
          </p:cNvPicPr>
          <p:nvPr/>
        </p:nvPicPr>
        <p:blipFill>
          <a:blip r:embed="rId2"/>
          <a:stretch>
            <a:fillRect/>
          </a:stretch>
        </p:blipFill>
        <p:spPr>
          <a:xfrm>
            <a:off x="1984248" y="1463040"/>
            <a:ext cx="8183879" cy="2815995"/>
          </a:xfrm>
          <a:prstGeom prst="rect">
            <a:avLst/>
          </a:prstGeom>
        </p:spPr>
      </p:pic>
      <p:sp>
        <p:nvSpPr>
          <p:cNvPr id="16" name="TextBox 15"/>
          <p:cNvSpPr txBox="1"/>
          <p:nvPr/>
        </p:nvSpPr>
        <p:spPr>
          <a:xfrm>
            <a:off x="2093976" y="4480560"/>
            <a:ext cx="3840480" cy="1371600"/>
          </a:xfrm>
          <a:prstGeom prst="rect">
            <a:avLst/>
          </a:prstGeom>
          <a:noFill/>
        </p:spPr>
        <p:txBody>
          <a:bodyPr wrap="square" anchor="t">
            <a:spAutoFit/>
          </a:bodyPr>
          <a:lstStyle/>
          <a:p>
            <a:pPr algn="l">
              <a:spcBef>
                <a:spcPts val="0"/>
              </a:spcBef>
            </a:pPr>
            <a:r>
              <a:rPr lang="es-CL" sz="1400" b="0" i="0" dirty="0">
                <a:solidFill>
                  <a:srgbClr val="20236D"/>
                </a:solidFill>
              </a:rPr>
              <a:t xml:space="preserve">Remuestreando observaciones</a:t>
            </a:r>
          </a:p>
          <a:p>
            <a:pPr algn="just">
              <a:spcBef>
                <a:spcPts val="400"/>
              </a:spcBef>
            </a:pPr>
            <a:r>
              <a:rPr lang="es-CL" sz="1250" b="0" i="0" dirty="0">
                <a:solidFill>
                  <a:schemeClr val="tx1">
                    <a:lumMod val="75000"/>
                    <a:lumOff val="25000"/>
                  </a:schemeClr>
                </a:solidFill>
              </a:rPr>
              <a:t xml:space="preserve">Los intervalos reproducen los clásicos: razón 1,00 a 1,12. La precisión declarada es correcta.</a:t>
            </a:r>
          </a:p>
        </p:txBody>
      </p:sp>
      <p:sp>
        <p:nvSpPr>
          <p:cNvPr id="17" name="TextBox 16"/>
          <p:cNvSpPr txBox="1"/>
          <p:nvPr/>
        </p:nvSpPr>
        <p:spPr>
          <a:xfrm>
            <a:off x="6217920" y="4480560"/>
            <a:ext cx="3840480" cy="1371600"/>
          </a:xfrm>
          <a:prstGeom prst="rect">
            <a:avLst/>
          </a:prstGeom>
          <a:noFill/>
        </p:spPr>
        <p:txBody>
          <a:bodyPr wrap="square" anchor="t">
            <a:spAutoFit/>
          </a:bodyPr>
          <a:lstStyle/>
          <a:p>
            <a:pPr algn="l">
              <a:spcBef>
                <a:spcPts val="0"/>
              </a:spcBef>
            </a:pPr>
            <a:r>
              <a:rPr lang="es-CL" sz="1400" b="0" i="0" dirty="0">
                <a:solidFill>
                  <a:srgbClr val="20236D"/>
                </a:solidFill>
              </a:rPr>
              <a:t xml:space="preserve">Remuestreando instituciones</a:t>
            </a:r>
          </a:p>
          <a:p>
            <a:pPr algn="just">
              <a:spcBef>
                <a:spcPts val="400"/>
              </a:spcBef>
            </a:pPr>
            <a:r>
              <a:rPr lang="es-CL" sz="1250" b="0" i="0" dirty="0">
                <a:solidFill>
                  <a:schemeClr val="tx1">
                    <a:lumMod val="75000"/>
                    <a:lumOff val="25000"/>
                  </a:schemeClr>
                </a:solidFill>
              </a:rPr>
              <a:t xml:space="preserve">Se ensanchan entre </a:t>
            </a:r>
            <a:r>
              <a:rPr lang="es-CL" sz="1250" b="1" i="0" dirty="0">
                <a:solidFill>
                  <a:schemeClr val="tx1">
                    <a:lumMod val="75000"/>
                    <a:lumOff val="25000"/>
                  </a:schemeClr>
                </a:solidFill>
              </a:rPr>
              <a:t xml:space="preserve">1,62 y 3,01 veces</a:t>
            </a:r>
            <a:r>
              <a:rPr lang="es-CL" sz="1250" b="0" i="0" dirty="0">
                <a:solidFill>
                  <a:schemeClr val="tx1">
                    <a:lumMod val="75000"/>
                    <a:lumOff val="25000"/>
                  </a:schemeClr>
                </a:solidFill>
              </a:rPr>
              <a:t xml:space="preserve">, y siete de veinte coeficientes pierden el signo.</a:t>
            </a:r>
          </a:p>
        </p:txBody>
      </p:sp>
    </p:spTree>
    <p:extLst>
      <p:ext uri="{BB962C8B-B14F-4D97-AF65-F5344CB8AC3E}">
        <p14:creationId xmlns:p14="http://schemas.microsoft.com/office/powerpoint/2010/main" val="3985140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3089DBCA-FFA2-7FCA-0978-020F1612CD9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C44C02C-081F-BED0-D6AD-14E853857BBA}"/>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6" name="Grupo 5">
              <a:extLst>
                <a:ext uri="{FF2B5EF4-FFF2-40B4-BE49-F238E27FC236}">
                  <a16:creationId xmlns:a16="http://schemas.microsoft.com/office/drawing/2014/main" id="{E15368CA-E4DB-7718-2A41-27F135DAB4D0}"/>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BD4FDC23-8EEC-4944-2580-A2FC374CD2D0}"/>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3" name="Imagen 12">
                <a:extLst>
                  <a:ext uri="{FF2B5EF4-FFF2-40B4-BE49-F238E27FC236}">
                    <a16:creationId xmlns:a16="http://schemas.microsoft.com/office/drawing/2014/main" id="{E22975E8-8974-FCA4-BF3D-C8A1AD8F6A79}"/>
                  </a:ext>
                </a:extLst>
              </p:cNvPr>
              <p:cNvPicPr>
                <a:picLocks noChangeAspect="1"/>
              </p:cNvPicPr>
              <p:nvPr/>
            </p:nvPicPr>
            <p:blipFill>
              <a:blip r:embed="rId3"/>
              <a:stretch>
                <a:fillRect/>
              </a:stretch>
            </p:blipFill>
            <p:spPr>
              <a:xfrm>
                <a:off x="10375523" y="394074"/>
                <a:ext cx="1151092" cy="973350"/>
              </a:xfrm>
              <a:prstGeom prst="rect">
                <a:avLst/>
              </a:prstGeom>
            </p:spPr>
          </p:pic>
        </p:grpSp>
      </p:grpSp>
      <p:sp>
        <p:nvSpPr>
          <p:cNvPr id="4" name="Rectángulo 3">
            <a:extLst>
              <a:ext uri="{FF2B5EF4-FFF2-40B4-BE49-F238E27FC236}">
                <a16:creationId xmlns:a16="http://schemas.microsoft.com/office/drawing/2014/main" id="{ACD47DFB-493A-6667-77EE-9717D911E58D}"/>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rPr>
              <a:t>Lo que el diagnóstico no deja pasar</a:t>
            </a:r>
          </a:p>
        </p:txBody>
      </p:sp>
      <p:graphicFrame>
        <p:nvGraphicFramePr>
          <p:cNvPr id="15" name="Table 14"/>
          <p:cNvGraphicFramePr>
            <a:graphicFrameLocks noGrp="1"/>
          </p:cNvGraphicFramePr>
          <p:nvPr/>
        </p:nvGraphicFramePr>
        <p:xfrm>
          <a:off x="1143000" y="1481328"/>
          <a:ext cx="5486400" cy="1499616"/>
        </p:xfrm>
        <a:graphic>
          <a:graphicData uri="http://schemas.openxmlformats.org/drawingml/2006/table">
            <a:tbl>
              <a:tblPr firstRow="0" bandRow="0">
                <a:tableStyleId>{2D5ABB26-0587-4C30-8999-92F81FD0307C}</a:tableStyleId>
              </a:tblPr>
              <a:tblGrid>
                <a:gridCol w="2072640"/>
                <a:gridCol w="731520"/>
                <a:gridCol w="1097280"/>
                <a:gridCol w="1584960"/>
              </a:tblGrid>
              <a:tr h="329184">
                <a:tc>
                  <a:txBody>
                    <a:bodyPr/>
                    <a:lstStyle/>
                    <a:p>
                      <a:pPr algn="l">
                        <a:spcBef>
                          <a:spcPts val="0"/>
                        </a:spcBef>
                      </a:pPr>
                      <a:r>
                        <a:rPr lang="es-CL" sz="1100" b="1" i="0" dirty="0">
                          <a:solidFill>
                            <a:srgbClr val="FFFFFF"/>
                          </a:solidFill>
                        </a:rPr>
                        <a:t xml:space="preserve">Variable continua</a:t>
                      </a:r>
                    </a:p>
                  </a:txBody>
                  <a:tcPr anchor="ctr" marL="64008" marR="64008" marT="18288" marB="18288">
                    <a:solidFill>
                      <a:srgbClr val="20236D"/>
                    </a:solidFill>
                  </a:tcPr>
                </a:tc>
                <a:tc>
                  <a:txBody>
                    <a:bodyPr/>
                    <a:lstStyle/>
                    <a:p>
                      <a:pPr algn="ctr">
                        <a:spcBef>
                          <a:spcPts val="0"/>
                        </a:spcBef>
                      </a:pPr>
                      <a:r>
                        <a:rPr lang="es-CL" sz="1100" b="1" i="0" dirty="0">
                          <a:solidFill>
                            <a:srgbClr val="FFFFFF"/>
                          </a:solidFill>
                        </a:rPr>
                        <a:t xml:space="preserve">VIF</a:t>
                      </a:r>
                    </a:p>
                  </a:txBody>
                  <a:tcPr anchor="ctr" marL="64008" marR="64008" marT="18288" marB="18288">
                    <a:solidFill>
                      <a:srgbClr val="20236D"/>
                    </a:solidFill>
                  </a:tcPr>
                </a:tc>
                <a:tc>
                  <a:txBody>
                    <a:bodyPr/>
                    <a:lstStyle/>
                    <a:p>
                      <a:pPr algn="ctr">
                        <a:spcBef>
                          <a:spcPts val="0"/>
                        </a:spcBef>
                      </a:pPr>
                      <a:r>
                        <a:rPr lang="es-CL" sz="1100" b="1" i="0" dirty="0">
                          <a:solidFill>
                            <a:srgbClr val="FFFFFF"/>
                          </a:solidFill>
                        </a:rPr>
                        <a:t xml:space="preserve">Box-Tidwell</a:t>
                      </a:r>
                    </a:p>
                  </a:txBody>
                  <a:tcPr anchor="ctr" marL="64008" marR="64008" marT="18288" marB="18288">
                    <a:solidFill>
                      <a:srgbClr val="20236D"/>
                    </a:solidFill>
                  </a:tcPr>
                </a:tc>
                <a:tc>
                  <a:txBody>
                    <a:bodyPr/>
                    <a:lstStyle/>
                    <a:p>
                      <a:pPr algn="ctr">
                        <a:spcBef>
                          <a:spcPts val="0"/>
                        </a:spcBef>
                      </a:pPr>
                      <a:r>
                        <a:rPr lang="es-CL" sz="1100" b="1" i="0" dirty="0">
                          <a:solidFill>
                            <a:srgbClr val="FFFFFF"/>
                          </a:solidFill>
                        </a:rPr>
                        <a:t xml:space="preserve">Linealidad en el logit</a:t>
                      </a:r>
                    </a:p>
                  </a:txBody>
                  <a:tcPr anchor="ctr" marL="64008" marR="64008" marT="18288" marB="18288">
                    <a:solidFill>
                      <a:srgbClr val="20236D"/>
                    </a:solidFill>
                  </a:tcPr>
                </a:tc>
              </a:tr>
              <a:tr h="292608">
                <a:tc>
                  <a:txBody>
                    <a:bodyPr/>
                    <a:lstStyle/>
                    <a:p>
                      <a:pPr algn="l">
                        <a:spcBef>
                          <a:spcPts val="0"/>
                        </a:spcBef>
                      </a:pPr>
                      <a:r>
                        <a:rPr lang="es-CL" sz="1100" b="0" i="0" dirty="0">
                          <a:solidFill>
                            <a:schemeClr val="tx1">
                              <a:lumMod val="75000"/>
                              <a:lumOff val="25000"/>
                            </a:schemeClr>
                          </a:solidFill>
                        </a:rPr>
                        <a:t xml:space="preserve">carrera_acreditada</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1,21</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&lt; 0,001</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1" i="0" dirty="0">
                          <a:solidFill>
                            <a:schemeClr val="tx1">
                              <a:lumMod val="75000"/>
                              <a:lumOff val="25000"/>
                            </a:schemeClr>
                          </a:solidFill>
                        </a:rPr>
                        <a:t xml:space="preserve">No lineal</a:t>
                      </a:r>
                    </a:p>
                  </a:txBody>
                  <a:tcPr anchor="ctr" marL="64008" marR="64008" marT="18288" marB="18288">
                    <a:lnB w="9525" cap="flat">
                      <a:solidFill>
                        <a:srgbClr val="C9CCDB"/>
                      </a:solidFill>
                    </a:lnB>
                    <a:solidFill>
                      <a:srgbClr val="FFFFFF"/>
                    </a:solidFill>
                  </a:tcPr>
                </a:tc>
              </a:tr>
              <a:tr h="292608">
                <a:tc>
                  <a:txBody>
                    <a:bodyPr/>
                    <a:lstStyle/>
                    <a:p>
                      <a:pPr algn="l">
                        <a:spcBef>
                          <a:spcPts val="0"/>
                        </a:spcBef>
                      </a:pPr>
                      <a:r>
                        <a:rPr lang="es-CL" sz="1100" b="0" i="0" dirty="0">
                          <a:solidFill>
                            <a:schemeClr val="tx1">
                              <a:lumMod val="75000"/>
                              <a:lumOff val="25000"/>
                            </a:schemeClr>
                          </a:solidFill>
                        </a:rPr>
                        <a:t xml:space="preserve">inst_acreditada</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1,13</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&lt; 0,001</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1" i="0" dirty="0">
                          <a:solidFill>
                            <a:schemeClr val="tx1">
                              <a:lumMod val="75000"/>
                              <a:lumOff val="25000"/>
                            </a:schemeClr>
                          </a:solidFill>
                        </a:rPr>
                        <a:t xml:space="preserve">No lineal</a:t>
                      </a:r>
                    </a:p>
                  </a:txBody>
                  <a:tcPr anchor="ctr" marL="64008" marR="64008" marT="18288" marB="18288">
                    <a:lnB w="9525" cap="flat">
                      <a:solidFill>
                        <a:srgbClr val="C9CCDB"/>
                      </a:solidFill>
                    </a:lnB>
                    <a:solidFill>
                      <a:srgbClr val="F2F3F8"/>
                    </a:solidFill>
                  </a:tcPr>
                </a:tc>
              </a:tr>
              <a:tr h="292608">
                <a:tc>
                  <a:txBody>
                    <a:bodyPr/>
                    <a:lstStyle/>
                    <a:p>
                      <a:pPr algn="l">
                        <a:spcBef>
                          <a:spcPts val="0"/>
                        </a:spcBef>
                      </a:pPr>
                      <a:r>
                        <a:rPr lang="es-CL" sz="1100" b="0" i="0" dirty="0">
                          <a:solidFill>
                            <a:schemeClr val="tx1">
                              <a:lumMod val="75000"/>
                              <a:lumOff val="25000"/>
                            </a:schemeClr>
                          </a:solidFill>
                        </a:rPr>
                        <a:t xml:space="preserve">log_matricula</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1,12</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0,369</a:t>
                      </a:r>
                    </a:p>
                  </a:txBody>
                  <a:tcPr anchor="ctr" marL="64008" marR="64008" marT="18288" marB="18288">
                    <a:lnB w="9525" cap="flat">
                      <a:solidFill>
                        <a:srgbClr val="C9CCDB"/>
                      </a:solidFill>
                    </a:lnB>
                    <a:solidFill>
                      <a:srgbClr val="FFFFFF"/>
                    </a:solidFill>
                  </a:tcPr>
                </a:tc>
                <a:tc>
                  <a:txBody>
                    <a:bodyPr/>
                    <a:lstStyle/>
                    <a:p>
                      <a:pPr algn="ctr">
                        <a:spcBef>
                          <a:spcPts val="0"/>
                        </a:spcBef>
                      </a:pPr>
                      <a:r>
                        <a:rPr lang="es-CL" sz="1100" b="0" i="0" dirty="0">
                          <a:solidFill>
                            <a:schemeClr val="tx1">
                              <a:lumMod val="75000"/>
                              <a:lumOff val="25000"/>
                            </a:schemeClr>
                          </a:solidFill>
                        </a:rPr>
                        <a:t xml:space="preserve">Lineal</a:t>
                      </a:r>
                    </a:p>
                  </a:txBody>
                  <a:tcPr anchor="ctr" marL="64008" marR="64008" marT="18288" marB="18288">
                    <a:lnB w="9525" cap="flat">
                      <a:solidFill>
                        <a:srgbClr val="C9CCDB"/>
                      </a:solidFill>
                    </a:lnB>
                    <a:solidFill>
                      <a:srgbClr val="FFFFFF"/>
                    </a:solidFill>
                  </a:tcPr>
                </a:tc>
              </a:tr>
              <a:tr h="292608">
                <a:tc>
                  <a:txBody>
                    <a:bodyPr/>
                    <a:lstStyle/>
                    <a:p>
                      <a:pPr algn="l">
                        <a:spcBef>
                          <a:spcPts val="0"/>
                        </a:spcBef>
                      </a:pPr>
                      <a:r>
                        <a:rPr lang="es-CL" sz="1100" b="0" i="0" dirty="0">
                          <a:solidFill>
                            <a:schemeClr val="tx1">
                              <a:lumMod val="75000"/>
                              <a:lumOff val="25000"/>
                            </a:schemeClr>
                          </a:solidFill>
                        </a:rPr>
                        <a:t xml:space="preserve">pct_mujeres</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1,03</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0" i="0" dirty="0">
                          <a:solidFill>
                            <a:schemeClr val="tx1">
                              <a:lumMod val="75000"/>
                              <a:lumOff val="25000"/>
                            </a:schemeClr>
                          </a:solidFill>
                        </a:rPr>
                        <a:t xml:space="preserve">&lt; 0,001</a:t>
                      </a:r>
                    </a:p>
                  </a:txBody>
                  <a:tcPr anchor="ctr" marL="64008" marR="64008" marT="18288" marB="18288">
                    <a:lnB w="9525" cap="flat">
                      <a:solidFill>
                        <a:srgbClr val="C9CCDB"/>
                      </a:solidFill>
                    </a:lnB>
                    <a:solidFill>
                      <a:srgbClr val="F2F3F8"/>
                    </a:solidFill>
                  </a:tcPr>
                </a:tc>
                <a:tc>
                  <a:txBody>
                    <a:bodyPr/>
                    <a:lstStyle/>
                    <a:p>
                      <a:pPr algn="ctr">
                        <a:spcBef>
                          <a:spcPts val="0"/>
                        </a:spcBef>
                      </a:pPr>
                      <a:r>
                        <a:rPr lang="es-CL" sz="1100" b="1" i="0" dirty="0">
                          <a:solidFill>
                            <a:schemeClr val="tx1">
                              <a:lumMod val="75000"/>
                              <a:lumOff val="25000"/>
                            </a:schemeClr>
                          </a:solidFill>
                        </a:rPr>
                        <a:t xml:space="preserve">No lineal</a:t>
                      </a:r>
                    </a:p>
                  </a:txBody>
                  <a:tcPr anchor="ctr" marL="64008" marR="64008" marT="18288" marB="18288">
                    <a:lnB w="9525" cap="flat">
                      <a:solidFill>
                        <a:srgbClr val="C9CCDB"/>
                      </a:solidFill>
                    </a:lnB>
                    <a:solidFill>
                      <a:srgbClr val="F2F3F8"/>
                    </a:solidFill>
                  </a:tcPr>
                </a:tc>
              </a:tr>
            </a:tbl>
          </a:graphicData>
        </a:graphic>
      </p:graphicFrame>
      <p:sp>
        <p:nvSpPr>
          <p:cNvPr id="16" name="TextBox 15"/>
          <p:cNvSpPr txBox="1"/>
          <p:nvPr/>
        </p:nvSpPr>
        <p:spPr>
          <a:xfrm>
            <a:off x="1143000" y="3291840"/>
            <a:ext cx="5486400" cy="2377440"/>
          </a:xfrm>
          <a:prstGeom prst="rect">
            <a:avLst/>
          </a:prstGeom>
          <a:noFill/>
        </p:spPr>
        <p:txBody>
          <a:bodyPr wrap="square" anchor="t">
            <a:spAutoFit/>
          </a:bodyPr>
          <a:lstStyle/>
          <a:p>
            <a:pPr algn="l">
              <a:spcBef>
                <a:spcPts val="0"/>
              </a:spcBef>
            </a:pPr>
            <a:r>
              <a:rPr lang="es-CL" sz="1500" b="0" i="0" dirty="0">
                <a:solidFill>
                  <a:srgbClr val="20236D"/>
                </a:solidFill>
              </a:rPr>
              <a:t xml:space="preserve">Dos límites reales</a:t>
            </a:r>
          </a:p>
          <a:p>
            <a:pPr algn="just">
              <a:spcBef>
                <a:spcPts val="600"/>
              </a:spcBef>
            </a:pPr>
            <a:r>
              <a:rPr lang="es-CL" sz="1250" b="1" i="0" dirty="0">
                <a:solidFill>
                  <a:schemeClr val="tx1">
                    <a:lumMod val="75000"/>
                    <a:lumOff val="25000"/>
                  </a:schemeClr>
                </a:solidFill>
              </a:rPr>
              <a:t xml:space="preserve">Linealidad en el logit.</a:t>
            </a:r>
            <a:r>
              <a:rPr lang="es-CL" sz="1250" b="0" i="0" dirty="0">
                <a:solidFill>
                  <a:schemeClr val="tx1">
                    <a:lumMod val="75000"/>
                    <a:lumOff val="25000"/>
                  </a:schemeClr>
                </a:solidFill>
              </a:rPr>
              <a:t xml:space="preserve"> Box-Tidwell la rechaza en tres de las cuatro variables continuas. El modelo lineal es una aproximación y los efectos son promedios, no uniformes.</a:t>
            </a:r>
          </a:p>
          <a:p>
            <a:pPr algn="just">
              <a:spcBef>
                <a:spcPts val="800"/>
              </a:spcBef>
            </a:pPr>
            <a:r>
              <a:rPr lang="es-CL" sz="1250" b="1" i="0" dirty="0">
                <a:solidFill>
                  <a:schemeClr val="tx1">
                    <a:lumMod val="75000"/>
                    <a:lumOff val="25000"/>
                  </a:schemeClr>
                </a:solidFill>
              </a:rPr>
              <a:t xml:space="preserve">Observaciones influyentes.</a:t>
            </a:r>
            <a:r>
              <a:rPr lang="es-CL" sz="1250" b="0" i="0" dirty="0">
                <a:solidFill>
                  <a:schemeClr val="tx1">
                    <a:lumMod val="75000"/>
                    <a:lumOff val="25000"/>
                  </a:schemeClr>
                </a:solidFill>
              </a:rPr>
              <a:t xml:space="preserve"> Ninguna domina: la distancia de Cook máxima es 0,0095. Pero retirar en bloque las 237 que superan 4/n mueve el coeficiente de la acreditación institucional un 87,7 %.</a:t>
            </a:r>
          </a:p>
        </p:txBody>
      </p:sp>
      <p:sp>
        <p:nvSpPr>
          <p:cNvPr id="17" name="TextBox 16"/>
          <p:cNvSpPr txBox="1"/>
          <p:nvPr/>
        </p:nvSpPr>
        <p:spPr>
          <a:xfrm>
            <a:off x="6949440" y="1481328"/>
            <a:ext cx="3657600" cy="4206240"/>
          </a:xfrm>
          <a:prstGeom prst="rect">
            <a:avLst/>
          </a:prstGeom>
          <a:noFill/>
        </p:spPr>
        <p:txBody>
          <a:bodyPr wrap="square" anchor="t">
            <a:spAutoFit/>
          </a:bodyPr>
          <a:lstStyle/>
          <a:p>
            <a:pPr algn="l">
              <a:spcBef>
                <a:spcPts val="0"/>
              </a:spcBef>
            </a:pPr>
            <a:r>
              <a:rPr lang="es-CL" sz="1500" b="0" i="0" dirty="0">
                <a:solidFill>
                  <a:srgbClr val="20236D"/>
                </a:solidFill>
              </a:rPr>
              <a:t xml:space="preserve">Lo que queda tranquilo</a:t>
            </a:r>
          </a:p>
          <a:p>
            <a:pPr marL="200025" indent="-200025" algn="just">
              <a:spcBef>
                <a:spcPts val="600"/>
              </a:spcBef>
              <a:buFont typeface="Arial"/>
              <a:buChar char="•"/>
            </a:pPr>
            <a:r>
              <a:rPr lang="es-CL" sz="1250" b="1" i="0" dirty="0">
                <a:solidFill>
                  <a:schemeClr val="tx1">
                    <a:lumMod val="75000"/>
                    <a:lumOff val="25000"/>
                  </a:schemeClr>
                </a:solidFill>
              </a:rPr>
              <a:t xml:space="preserve">Colinealidad:</a:t>
            </a:r>
            <a:r>
              <a:rPr lang="es-CL" sz="1250" b="0" i="0" dirty="0">
                <a:solidFill>
                  <a:schemeClr val="tx1">
                    <a:lumMod val="75000"/>
                    <a:lumOff val="25000"/>
                  </a:schemeClr>
                </a:solidFill>
              </a:rPr>
              <a:t xml:space="preserve"> los cuatro VIF por debajo de 1,21, lejos del umbral de 5.</a:t>
            </a:r>
          </a:p>
          <a:p>
            <a:pPr marL="200025" indent="-200025" algn="just">
              <a:spcBef>
                <a:spcPts val="600"/>
              </a:spcBef>
              <a:buFont typeface="Arial"/>
              <a:buChar char="•"/>
            </a:pPr>
            <a:r>
              <a:rPr lang="es-CL" sz="1250" b="1" i="0" dirty="0">
                <a:solidFill>
                  <a:schemeClr val="tx1">
                    <a:lumMod val="75000"/>
                    <a:lumOff val="25000"/>
                  </a:schemeClr>
                </a:solidFill>
              </a:rPr>
              <a:t xml:space="preserve">Calibración:</a:t>
            </a:r>
            <a:r>
              <a:rPr lang="es-CL" sz="1250" b="0" i="0" dirty="0">
                <a:solidFill>
                  <a:schemeClr val="tx1">
                    <a:lumMod val="75000"/>
                    <a:lumOff val="25000"/>
                  </a:schemeClr>
                </a:solidFill>
              </a:rPr>
              <a:t xml:space="preserve"> la probabilidad predicha sigue la frecuencia observada por deciles.</a:t>
            </a:r>
          </a:p>
          <a:p>
            <a:pPr marL="200025" indent="-200025" algn="just">
              <a:spcBef>
                <a:spcPts val="600"/>
              </a:spcBef>
              <a:buFont typeface="Arial"/>
              <a:buChar char="•"/>
            </a:pPr>
            <a:r>
              <a:rPr lang="es-CL" sz="1250" b="1" i="0" dirty="0">
                <a:solidFill>
                  <a:schemeClr val="tx1">
                    <a:lumMod val="75000"/>
                    <a:lumOff val="25000"/>
                  </a:schemeClr>
                </a:solidFill>
              </a:rPr>
              <a:t xml:space="preserve">Residuos:</a:t>
            </a:r>
            <a:r>
              <a:rPr lang="es-CL" sz="1250" b="0" i="0" dirty="0">
                <a:solidFill>
                  <a:schemeClr val="tx1">
                    <a:lumMod val="75000"/>
                    <a:lumOff val="25000"/>
                  </a:schemeClr>
                </a:solidFill>
              </a:rPr>
              <a:t xml:space="preserve"> solo 28 de 6.774 con |r| &gt; 3, el 0,41 %.</a:t>
            </a:r>
          </a:p>
          <a:p>
            <a:pPr algn="just">
              <a:spcBef>
                <a:spcPts val="1200"/>
              </a:spcBef>
            </a:pPr>
            <a:r>
              <a:rPr lang="es-CL" sz="1150" b="0" i="1" dirty="0">
                <a:solidFill>
                  <a:schemeClr val="tx1">
                    <a:lumMod val="75000"/>
                    <a:lumOff val="25000"/>
                  </a:schemeClr>
                </a:solidFill>
              </a:rPr>
              <a:t xml:space="preserve">La acreditación institucional es la variable de mayor efecto y la de menor solidez: es también la que más se ensancha al remuestrear por institución.</a:t>
            </a:r>
          </a:p>
        </p:txBody>
      </p:sp>
    </p:spTree>
    <p:extLst>
      <p:ext uri="{BB962C8B-B14F-4D97-AF65-F5344CB8AC3E}">
        <p14:creationId xmlns:p14="http://schemas.microsoft.com/office/powerpoint/2010/main" val="3985140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FEC22D5A-3C23-5016-41A3-8B5BC274D0E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FFBF986-AD27-9A41-A79D-69D10AD09B01}"/>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13" name="Grupo 12">
              <a:extLst>
                <a:ext uri="{FF2B5EF4-FFF2-40B4-BE49-F238E27FC236}">
                  <a16:creationId xmlns:a16="http://schemas.microsoft.com/office/drawing/2014/main" id="{28CDD850-5646-4AD6-8B5A-F8F5CBE1C7E8}"/>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EF66A722-3A5E-9405-F29C-D5E1DF85B86C}"/>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6" name="Imagen 15">
                <a:extLst>
                  <a:ext uri="{FF2B5EF4-FFF2-40B4-BE49-F238E27FC236}">
                    <a16:creationId xmlns:a16="http://schemas.microsoft.com/office/drawing/2014/main" id="{9F5C1299-86B3-B30B-CD51-74C83AFEF531}"/>
                  </a:ext>
                </a:extLst>
              </p:cNvPr>
              <p:cNvPicPr>
                <a:picLocks noChangeAspect="1"/>
              </p:cNvPicPr>
              <p:nvPr/>
            </p:nvPicPr>
            <p:blipFill>
              <a:blip r:embed="rId3"/>
              <a:stretch>
                <a:fillRect/>
              </a:stretch>
            </p:blipFill>
            <p:spPr>
              <a:xfrm>
                <a:off x="10375523" y="394074"/>
                <a:ext cx="1151092" cy="973350"/>
              </a:xfrm>
              <a:prstGeom prst="rect">
                <a:avLst/>
              </a:prstGeom>
            </p:spPr>
          </p:pic>
        </p:grpSp>
      </p:grpSp>
      <p:sp>
        <p:nvSpPr>
          <p:cNvPr id="8" name="CuadroTexto 7">
            <a:extLst>
              <a:ext uri="{FF2B5EF4-FFF2-40B4-BE49-F238E27FC236}">
                <a16:creationId xmlns:a16="http://schemas.microsoft.com/office/drawing/2014/main" id="{C2367F09-C3D0-E580-1228-D790B7E13002}"/>
              </a:ext>
            </a:extLst>
          </p:cNvPr>
          <p:cNvSpPr txBox="1"/>
          <p:nvPr/>
        </p:nvSpPr>
        <p:spPr>
          <a:xfrm>
            <a:off x="1325880" y="1691640"/>
            <a:ext cx="4297680" cy="3840480"/>
          </a:xfrm>
          <a:prstGeom prst="rect">
            <a:avLst/>
          </a:prstGeom>
          <a:noFill/>
        </p:spPr>
        <p:txBody>
          <a:bodyPr wrap="square">
            <a:spAutoFit/>
          </a:bodyPr>
          <a:lstStyle/>
          <a:p>
            <a:pPr algn="l">
              <a:spcBef>
                <a:spcPts val="0"/>
              </a:spcBef>
            </a:pPr>
            <a:r>
              <a:rPr lang="es-CL" sz="1500" b="0" i="0" dirty="0">
                <a:solidFill>
                  <a:srgbClr val="20236D"/>
                </a:solidFill>
              </a:rPr>
              <a:t xml:space="preserve">SÍ PERMITE AFIRMAR</a:t>
            </a:r>
          </a:p>
          <a:p>
            <a:pPr marL="200025" indent="-200025" algn="just">
              <a:spcBef>
                <a:spcPts val="800"/>
              </a:spcBef>
              <a:buFont typeface="Arial"/>
              <a:buChar char="•"/>
            </a:pPr>
            <a:r>
              <a:rPr lang="es-CL" sz="1300" b="0" i="0" dirty="0">
                <a:solidFill>
                  <a:schemeClr val="tx1">
                    <a:lumMod val="75000"/>
                    <a:lumOff val="25000"/>
                  </a:schemeClr>
                </a:solidFill>
              </a:rPr>
              <a:t xml:space="preserve">El abandono aparente se asocia de forma robusta con la acreditación, el tamaño y la composición de género del programa.</a:t>
            </a:r>
          </a:p>
          <a:p>
            <a:pPr marL="200025" indent="-200025" algn="just">
              <a:spcBef>
                <a:spcPts val="800"/>
              </a:spcBef>
              <a:buFont typeface="Arial"/>
              <a:buChar char="•"/>
            </a:pPr>
            <a:r>
              <a:rPr lang="es-CL" sz="1300" b="0" i="0" dirty="0">
                <a:solidFill>
                  <a:schemeClr val="tx1">
                    <a:lumMod val="75000"/>
                    <a:lumOff val="25000"/>
                  </a:schemeClr>
                </a:solidFill>
              </a:rPr>
              <a:t xml:space="preserve">El modelo discrimina claramente mejor que el azar y suma casi trece puntos de exactitud sobre la línea base.</a:t>
            </a:r>
          </a:p>
          <a:p>
            <a:pPr marL="200025" indent="-200025" algn="just">
              <a:spcBef>
                <a:spcPts val="800"/>
              </a:spcBef>
              <a:buFont typeface="Arial"/>
              <a:buChar char="•"/>
            </a:pPr>
            <a:r>
              <a:rPr lang="es-CL" sz="1300" b="0" i="0" dirty="0">
                <a:solidFill>
                  <a:schemeClr val="tx1">
                    <a:lumMod val="75000"/>
                    <a:lumOff val="25000"/>
                  </a:schemeClr>
                </a:solidFill>
              </a:rPr>
              <a:t xml:space="preserve">Las cuatro variables que lo sostienen son las mismas que resistieron el remuestreo en S2.</a:t>
            </a:r>
          </a:p>
        </p:txBody>
      </p:sp>
      <p:sp>
        <p:nvSpPr>
          <p:cNvPr id="17" name="Rectángulo 16">
            <a:extLst>
              <a:ext uri="{FF2B5EF4-FFF2-40B4-BE49-F238E27FC236}">
                <a16:creationId xmlns:a16="http://schemas.microsoft.com/office/drawing/2014/main" id="{6448D6FB-F375-29BE-C296-B67DB9A18606}"/>
              </a:ext>
            </a:extLst>
          </p:cNvPr>
          <p:cNvSpPr/>
          <p:nvPr/>
        </p:nvSpPr>
        <p:spPr>
          <a:xfrm rot="16200000">
            <a:off x="4828032" y="2857500"/>
            <a:ext cx="2560320" cy="45720"/>
          </a:xfrm>
          <a:prstGeom prst="rect">
            <a:avLst/>
          </a:prstGeom>
          <a:solidFill>
            <a:schemeClr val="bg1">
              <a:lumMod val="85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271A28B1-078C-167A-05FF-22C362B423AF}"/>
              </a:ext>
            </a:extLst>
          </p:cNvPr>
          <p:cNvSpPr/>
          <p:nvPr/>
        </p:nvSpPr>
        <p:spPr>
          <a:xfrm>
            <a:off x="1463041" y="648352"/>
            <a:ext cx="8591812"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rPr>
              <a:t>Lo que el proyecto permite afirmar, y lo que no</a:t>
            </a:r>
          </a:p>
        </p:txBody>
      </p:sp>
      <p:sp>
        <p:nvSpPr>
          <p:cNvPr id="4" name="CuadroTexto 3">
            <a:extLst>
              <a:ext uri="{FF2B5EF4-FFF2-40B4-BE49-F238E27FC236}">
                <a16:creationId xmlns:a16="http://schemas.microsoft.com/office/drawing/2014/main" id="{B21BE484-1B8A-C467-7B63-8768B0E64AD2}"/>
              </a:ext>
            </a:extLst>
          </p:cNvPr>
          <p:cNvSpPr txBox="1"/>
          <p:nvPr/>
        </p:nvSpPr>
        <p:spPr>
          <a:xfrm>
            <a:off x="6583680" y="1691640"/>
            <a:ext cx="4297680" cy="3840480"/>
          </a:xfrm>
          <a:prstGeom prst="rect">
            <a:avLst/>
          </a:prstGeom>
          <a:noFill/>
        </p:spPr>
        <p:txBody>
          <a:bodyPr wrap="square">
            <a:spAutoFit/>
          </a:bodyPr>
          <a:lstStyle/>
          <a:p>
            <a:pPr algn="l">
              <a:spcBef>
                <a:spcPts val="0"/>
              </a:spcBef>
            </a:pPr>
            <a:r>
              <a:rPr lang="es-CL" sz="1500" b="0" i="0" dirty="0">
                <a:solidFill>
                  <a:srgbClr val="20236D"/>
                </a:solidFill>
              </a:rPr>
              <a:t xml:space="preserve">NO PERMITE AFIRMAR</a:t>
            </a:r>
          </a:p>
          <a:p>
            <a:pPr marL="200025" indent="-200025" algn="just">
              <a:spcBef>
                <a:spcPts val="800"/>
              </a:spcBef>
              <a:buFont typeface="Arial"/>
              <a:buChar char="•"/>
            </a:pPr>
            <a:r>
              <a:rPr lang="es-CL" sz="1300" b="0" i="0" dirty="0">
                <a:solidFill>
                  <a:schemeClr val="tx1">
                    <a:lumMod val="75000"/>
                    <a:lumOff val="25000"/>
                  </a:schemeClr>
                </a:solidFill>
              </a:rPr>
              <a:t xml:space="preserve">Nada sobre estudiantes individuales: la unidad de análisis es el programa.</a:t>
            </a:r>
          </a:p>
          <a:p>
            <a:pPr marL="200025" indent="-200025" algn="just">
              <a:spcBef>
                <a:spcPts val="800"/>
              </a:spcBef>
              <a:buFont typeface="Arial"/>
              <a:buChar char="•"/>
            </a:pPr>
            <a:r>
              <a:rPr lang="es-CL" sz="1300" b="0" i="0" dirty="0">
                <a:solidFill>
                  <a:schemeClr val="tx1">
                    <a:lumMod val="75000"/>
                    <a:lumOff val="25000"/>
                  </a:schemeClr>
                </a:solidFill>
              </a:rPr>
              <a:t xml:space="preserve">Nada sobre causas: no hay grupo de control ni variación exógena.</a:t>
            </a:r>
          </a:p>
          <a:p>
            <a:pPr marL="200025" indent="-200025" algn="just">
              <a:spcBef>
                <a:spcPts val="800"/>
              </a:spcBef>
              <a:buFont typeface="Arial"/>
              <a:buChar char="•"/>
            </a:pPr>
            <a:r>
              <a:rPr lang="es-CL" sz="1300" b="0" i="0" dirty="0">
                <a:solidFill>
                  <a:schemeClr val="tx1">
                    <a:lumMod val="75000"/>
                    <a:lumOff val="25000"/>
                  </a:schemeClr>
                </a:solidFill>
              </a:rPr>
              <a:t xml:space="preserve">Nada sobre el abandono real: lo medido es aparente.</a:t>
            </a:r>
          </a:p>
          <a:p>
            <a:pPr marL="200025" indent="-200025" algn="just">
              <a:spcBef>
                <a:spcPts val="800"/>
              </a:spcBef>
              <a:buFont typeface="Arial"/>
              <a:buChar char="•"/>
            </a:pPr>
            <a:r>
              <a:rPr lang="es-CL" sz="1300" b="0" i="0" dirty="0">
                <a:solidFill>
                  <a:schemeClr val="tx1">
                    <a:lumMod val="75000"/>
                    <a:lumOff val="25000"/>
                  </a:schemeClr>
                </a:solidFill>
              </a:rPr>
              <a:t xml:space="preserve">Nada firme sobre los efectos categóricos: al remuestrear por institución, siete de veinte pierden el signo.</a:t>
            </a:r>
          </a:p>
        </p:txBody>
      </p:sp>
    </p:spTree>
    <p:extLst>
      <p:ext uri="{BB962C8B-B14F-4D97-AF65-F5344CB8AC3E}">
        <p14:creationId xmlns:p14="http://schemas.microsoft.com/office/powerpoint/2010/main" val="3554131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FEC22D5A-3C23-5016-41A3-8B5BC274D0E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FFBF986-AD27-9A41-A79D-69D10AD09B01}"/>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13" name="Grupo 12">
              <a:extLst>
                <a:ext uri="{FF2B5EF4-FFF2-40B4-BE49-F238E27FC236}">
                  <a16:creationId xmlns:a16="http://schemas.microsoft.com/office/drawing/2014/main" id="{28CDD850-5646-4AD6-8B5A-F8F5CBE1C7E8}"/>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EF66A722-3A5E-9405-F29C-D5E1DF85B86C}"/>
                  </a:ext>
                </a:extLst>
              </p:cNvPr>
              <p:cNvSpPr txBox="1">
                <a:spLocks/>
              </p:cNvSpPr>
              <p:nvPr/>
            </p:nvSpPr>
            <p:spPr>
              <a:xfrm>
                <a:off x="10266948" y="-206018"/>
                <a:ext cx="1339576" cy="1716660"/>
              </a:xfrm>
              <a:prstGeom prst="rect">
                <a:avLst/>
              </a:prstGeom>
              <a:solidFill>
                <a:srgbClr val="20236D"/>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6" name="Imagen 15">
                <a:extLst>
                  <a:ext uri="{FF2B5EF4-FFF2-40B4-BE49-F238E27FC236}">
                    <a16:creationId xmlns:a16="http://schemas.microsoft.com/office/drawing/2014/main" id="{9F5C1299-86B3-B30B-CD51-74C83AFEF531}"/>
                  </a:ext>
                </a:extLst>
              </p:cNvPr>
              <p:cNvPicPr>
                <a:picLocks noChangeAspect="1"/>
              </p:cNvPicPr>
              <p:nvPr/>
            </p:nvPicPr>
            <p:blipFill>
              <a:blip r:embed="rId3"/>
              <a:stretch>
                <a:fillRect/>
              </a:stretch>
            </p:blipFill>
            <p:spPr>
              <a:xfrm>
                <a:off x="10375523" y="394074"/>
                <a:ext cx="1151092" cy="973350"/>
              </a:xfrm>
              <a:prstGeom prst="rect">
                <a:avLst/>
              </a:prstGeom>
            </p:spPr>
          </p:pic>
        </p:grpSp>
      </p:grpSp>
      <p:sp>
        <p:nvSpPr>
          <p:cNvPr id="8" name="CuadroTexto 7">
            <a:extLst>
              <a:ext uri="{FF2B5EF4-FFF2-40B4-BE49-F238E27FC236}">
                <a16:creationId xmlns:a16="http://schemas.microsoft.com/office/drawing/2014/main" id="{C2367F09-C3D0-E580-1228-D790B7E13002}"/>
              </a:ext>
            </a:extLst>
          </p:cNvPr>
          <p:cNvSpPr txBox="1"/>
          <p:nvPr/>
        </p:nvSpPr>
        <p:spPr>
          <a:xfrm>
            <a:off x="1264220" y="3794760"/>
            <a:ext cx="2971760" cy="1645920"/>
          </a:xfrm>
          <a:prstGeom prst="rect">
            <a:avLst/>
          </a:prstGeom>
          <a:noFill/>
        </p:spPr>
        <p:txBody>
          <a:bodyPr wrap="square">
            <a:spAutoFit/>
          </a:bodyPr>
          <a:lstStyle/>
          <a:p>
            <a:pPr algn="l">
              <a:spcBef>
                <a:spcPts val="0"/>
              </a:spcBef>
            </a:pPr>
            <a:r>
              <a:rPr lang="es-CL" sz="1350" b="0" i="0" dirty="0">
                <a:solidFill>
                  <a:srgbClr val="20236D"/>
                </a:solidFill>
              </a:rPr>
              <a:t xml:space="preserve">1 · IMPUTACIÓN MÚLTIPLE</a:t>
            </a:r>
          </a:p>
          <a:p>
            <a:pPr algn="just">
              <a:spcBef>
                <a:spcPts val="400"/>
              </a:spcBef>
            </a:pPr>
            <a:r>
              <a:rPr lang="es-CL" sz="1200" b="0" i="0" dirty="0">
                <a:solidFill>
                  <a:schemeClr val="tx1">
                    <a:lumMod val="75000"/>
                    <a:lumOff val="25000"/>
                  </a:schemeClr>
                </a:solidFill>
              </a:rPr>
              <a:t xml:space="preserve">Ninguna de las dos imputaciones propaga la incertidumbre de haber imputado: ambas tratan un valor predicho como observado.</a:t>
            </a:r>
          </a:p>
        </p:txBody>
      </p:sp>
      <p:sp>
        <p:nvSpPr>
          <p:cNvPr id="17" name="Rectángulo 16">
            <a:extLst>
              <a:ext uri="{FF2B5EF4-FFF2-40B4-BE49-F238E27FC236}">
                <a16:creationId xmlns:a16="http://schemas.microsoft.com/office/drawing/2014/main" id="{6448D6FB-F375-29BE-C296-B67DB9A18606}"/>
              </a:ext>
            </a:extLst>
          </p:cNvPr>
          <p:cNvSpPr/>
          <p:nvPr/>
        </p:nvSpPr>
        <p:spPr>
          <a:xfrm rot="16200000">
            <a:off x="3367300" y="4549140"/>
            <a:ext cx="1737360" cy="45720"/>
          </a:xfrm>
          <a:prstGeom prst="rect">
            <a:avLst/>
          </a:prstGeom>
          <a:solidFill>
            <a:schemeClr val="bg1">
              <a:lumMod val="85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11414FBC-036B-F32C-775B-F97BC997559D}"/>
              </a:ext>
            </a:extLst>
          </p:cNvPr>
          <p:cNvSpPr/>
          <p:nvPr/>
        </p:nvSpPr>
        <p:spPr>
          <a:xfrm rot="16200000">
            <a:off x="6490491" y="4549140"/>
            <a:ext cx="1737360" cy="45720"/>
          </a:xfrm>
          <a:prstGeom prst="rect">
            <a:avLst/>
          </a:prstGeom>
          <a:solidFill>
            <a:schemeClr val="bg1">
              <a:lumMod val="85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271A28B1-078C-167A-05FF-22C362B423AF}"/>
              </a:ext>
            </a:extLst>
          </p:cNvPr>
          <p:cNvSpPr/>
          <p:nvPr/>
        </p:nvSpPr>
        <p:spPr>
          <a:xfrm>
            <a:off x="1463041" y="648352"/>
            <a:ext cx="8591812"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rPr>
              <a:t>Recomendaciones y hacia dónde sigue</a:t>
            </a:r>
          </a:p>
        </p:txBody>
      </p:sp>
      <p:sp>
        <p:nvSpPr>
          <p:cNvPr id="4" name="CuadroTexto 3">
            <a:extLst>
              <a:ext uri="{FF2B5EF4-FFF2-40B4-BE49-F238E27FC236}">
                <a16:creationId xmlns:a16="http://schemas.microsoft.com/office/drawing/2014/main" id="{B21BE484-1B8A-C467-7B63-8768B0E64AD2}"/>
              </a:ext>
            </a:extLst>
          </p:cNvPr>
          <p:cNvSpPr txBox="1"/>
          <p:nvPr/>
        </p:nvSpPr>
        <p:spPr>
          <a:xfrm>
            <a:off x="4336193" y="3794760"/>
            <a:ext cx="2971760" cy="1645920"/>
          </a:xfrm>
          <a:prstGeom prst="rect">
            <a:avLst/>
          </a:prstGeom>
          <a:noFill/>
        </p:spPr>
        <p:txBody>
          <a:bodyPr wrap="square">
            <a:spAutoFit/>
          </a:bodyPr>
          <a:lstStyle/>
          <a:p>
            <a:pPr algn="l">
              <a:spcBef>
                <a:spcPts val="0"/>
              </a:spcBef>
            </a:pPr>
            <a:r>
              <a:rPr lang="es-CL" sz="1350" b="0" i="0" dirty="0">
                <a:solidFill>
                  <a:srgbClr val="20236D"/>
                </a:solidFill>
              </a:rPr>
              <a:t xml:space="preserve">2 · TÉRMINOS NO LINEALES</a:t>
            </a:r>
          </a:p>
          <a:p>
            <a:pPr algn="just">
              <a:spcBef>
                <a:spcPts val="400"/>
              </a:spcBef>
            </a:pPr>
            <a:r>
              <a:rPr lang="es-CL" sz="1200" b="0" i="0" dirty="0">
                <a:solidFill>
                  <a:schemeClr val="tx1">
                    <a:lumMod val="75000"/>
                    <a:lumOff val="25000"/>
                  </a:schemeClr>
                </a:solidFill>
              </a:rPr>
              <a:t xml:space="preserve">Para las tres variables donde Box-Tidwell rechaza la linealidad en el logit.</a:t>
            </a:r>
          </a:p>
        </p:txBody>
      </p:sp>
      <p:sp>
        <p:nvSpPr>
          <p:cNvPr id="5" name="CuadroTexto 4">
            <a:extLst>
              <a:ext uri="{FF2B5EF4-FFF2-40B4-BE49-F238E27FC236}">
                <a16:creationId xmlns:a16="http://schemas.microsoft.com/office/drawing/2014/main" id="{A5F384CB-153C-1BE9-3318-838F90040264}"/>
              </a:ext>
            </a:extLst>
          </p:cNvPr>
          <p:cNvSpPr txBox="1"/>
          <p:nvPr/>
        </p:nvSpPr>
        <p:spPr>
          <a:xfrm>
            <a:off x="7603375" y="3794760"/>
            <a:ext cx="2971760" cy="1645920"/>
          </a:xfrm>
          <a:prstGeom prst="rect">
            <a:avLst/>
          </a:prstGeom>
          <a:noFill/>
        </p:spPr>
        <p:txBody>
          <a:bodyPr wrap="square">
            <a:spAutoFit/>
          </a:bodyPr>
          <a:lstStyle/>
          <a:p>
            <a:pPr algn="l">
              <a:spcBef>
                <a:spcPts val="0"/>
              </a:spcBef>
            </a:pPr>
            <a:r>
              <a:rPr lang="es-CL" sz="1350" b="0" i="0" dirty="0">
                <a:solidFill>
                  <a:srgbClr val="20236D"/>
                </a:solidFill>
              </a:rPr>
              <a:t xml:space="preserve">3 · MODELO MULTINIVEL</a:t>
            </a:r>
          </a:p>
          <a:p>
            <a:pPr algn="just">
              <a:spcBef>
                <a:spcPts val="400"/>
              </a:spcBef>
            </a:pPr>
            <a:r>
              <a:rPr lang="es-CL" sz="1200" b="0" i="0" dirty="0">
                <a:solidFill>
                  <a:schemeClr val="tx1">
                    <a:lumMod val="75000"/>
                    <a:lumOff val="25000"/>
                  </a:schemeClr>
                </a:solidFill>
              </a:rPr>
              <a:t xml:space="preserve">Tratar la institución como efecto aleatorio, en lugar de limitarse a cuantificar su efecto por remuestreo.</a:t>
            </a:r>
          </a:p>
        </p:txBody>
      </p:sp>
      <p:sp>
        <p:nvSpPr>
          <p:cNvPr id="19" name="TextBox 18"/>
          <p:cNvSpPr txBox="1"/>
          <p:nvPr/>
        </p:nvSpPr>
        <p:spPr>
          <a:xfrm>
            <a:off x="1261872" y="1389888"/>
            <a:ext cx="9317736" cy="1874519"/>
          </a:xfrm>
          <a:prstGeom prst="rect">
            <a:avLst/>
          </a:prstGeom>
          <a:noFill/>
        </p:spPr>
        <p:txBody>
          <a:bodyPr wrap="square" anchor="t">
            <a:spAutoFit/>
          </a:bodyPr>
          <a:lstStyle/>
          <a:p>
            <a:pPr algn="l">
              <a:spcBef>
                <a:spcPts val="0"/>
              </a:spcBef>
            </a:pPr>
            <a:r>
              <a:rPr lang="es-CL" sz="1500" b="0" i="0" dirty="0">
                <a:solidFill>
                  <a:srgbClr val="20236D"/>
                </a:solidFill>
              </a:rPr>
              <a:t xml:space="preserve">Sobre el tratamiento de datos faltantes</a:t>
            </a:r>
          </a:p>
          <a:p>
            <a:pPr marL="200025" indent="-200025" algn="just">
              <a:spcBef>
                <a:spcPts val="500"/>
              </a:spcBef>
              <a:buFont typeface="Arial"/>
              <a:buChar char="•"/>
            </a:pPr>
            <a:r>
              <a:rPr lang="es-CL" sz="1250" b="0" i="0" dirty="0">
                <a:solidFill>
                  <a:schemeClr val="tx1">
                    <a:lumMod val="75000"/>
                    <a:lumOff val="25000"/>
                  </a:schemeClr>
                </a:solidFill>
              </a:rPr>
              <a:t xml:space="preserve">Preferir la </a:t>
            </a:r>
            <a:r>
              <a:rPr lang="es-CL" sz="1250" b="1" i="0" dirty="0">
                <a:solidFill>
                  <a:schemeClr val="tx1">
                    <a:lumMod val="75000"/>
                    <a:lumOff val="25000"/>
                  </a:schemeClr>
                </a:solidFill>
              </a:rPr>
              <a:t xml:space="preserve">imputación por regresión</a:t>
            </a:r>
            <a:r>
              <a:rPr lang="es-CL" sz="1250" b="0" i="0" dirty="0">
                <a:solidFill>
                  <a:schemeClr val="tx1">
                    <a:lumMod val="75000"/>
                    <a:lumOff val="25000"/>
                  </a:schemeClr>
                </a:solidFill>
              </a:rPr>
              <a:t xml:space="preserve">: conserva la muestra, preserva mejor las correlaciones y rinde algo más que la mediana.</a:t>
            </a:r>
          </a:p>
          <a:p>
            <a:pPr marL="200025" indent="-200025" algn="just">
              <a:spcBef>
                <a:spcPts val="500"/>
              </a:spcBef>
              <a:buFont typeface="Arial"/>
              <a:buChar char="•"/>
            </a:pPr>
            <a:r>
              <a:rPr lang="es-CL" sz="1250" b="1" i="0" dirty="0">
                <a:solidFill>
                  <a:schemeClr val="tx1">
                    <a:lumMod val="75000"/>
                    <a:lumOff val="25000"/>
                  </a:schemeClr>
                </a:solidFill>
              </a:rPr>
              <a:t xml:space="preserve">No eliminar casos</a:t>
            </a:r>
            <a:r>
              <a:rPr lang="es-CL" sz="1250" b="0" i="0" dirty="0">
                <a:solidFill>
                  <a:schemeClr val="tx1">
                    <a:lumMod val="75000"/>
                    <a:lumOff val="25000"/>
                  </a:schemeClr>
                </a:solidFill>
              </a:rPr>
              <a:t xml:space="preserve"> cuando la ausencia no es MCAR: el conjunto superviviente deja de representar al sistema.</a:t>
            </a:r>
          </a:p>
          <a:p>
            <a:pPr marL="200025" indent="-200025" algn="just">
              <a:spcBef>
                <a:spcPts val="500"/>
              </a:spcBef>
              <a:buFont typeface="Arial"/>
              <a:buChar char="•"/>
            </a:pPr>
            <a:r>
              <a:rPr lang="es-CL" sz="1250" b="1" i="0" dirty="0">
                <a:solidFill>
                  <a:schemeClr val="tx1">
                    <a:lumMod val="75000"/>
                    <a:lumOff val="25000"/>
                  </a:schemeClr>
                </a:solidFill>
              </a:rPr>
              <a:t xml:space="preserve">Declarar siempre el mecanismo supuesto</a:t>
            </a:r>
            <a:r>
              <a:rPr lang="es-CL" sz="1250" b="0" i="0" dirty="0">
                <a:solidFill>
                  <a:schemeClr val="tx1">
                    <a:lumMod val="75000"/>
                    <a:lumOff val="25000"/>
                  </a:schemeClr>
                </a:solidFill>
              </a:rPr>
              <a:t xml:space="preserve">: bajo MNAR ninguna estrategia es insesgada.</a:t>
            </a:r>
          </a:p>
          <a:p>
            <a:pPr marL="200025" indent="-200025" algn="just">
              <a:spcBef>
                <a:spcPts val="500"/>
              </a:spcBef>
              <a:buFont typeface="Arial"/>
              <a:buChar char="•"/>
            </a:pPr>
            <a:r>
              <a:rPr lang="es-CL" sz="1250" b="0" i="0" dirty="0">
                <a:solidFill>
                  <a:schemeClr val="tx1">
                    <a:lumMod val="75000"/>
                    <a:lumOff val="25000"/>
                  </a:schemeClr>
                </a:solidFill>
              </a:rPr>
              <a:t xml:space="preserve">Tratar como </a:t>
            </a:r>
            <a:r>
              <a:rPr lang="es-CL" sz="1250" b="1" i="0" dirty="0">
                <a:solidFill>
                  <a:schemeClr val="tx1">
                    <a:lumMod val="75000"/>
                    <a:lumOff val="25000"/>
                  </a:schemeClr>
                </a:solidFill>
              </a:rPr>
              <a:t xml:space="preserve">optimista</a:t>
            </a:r>
            <a:r>
              <a:rPr lang="es-CL" sz="1250" b="0" i="0" dirty="0">
                <a:solidFill>
                  <a:schemeClr val="tx1">
                    <a:lumMod val="75000"/>
                    <a:lumOff val="25000"/>
                  </a:schemeClr>
                </a:solidFill>
              </a:rPr>
              <a:t xml:space="preserve"> todo intervalo posterior a una imputación simple.</a:t>
            </a:r>
          </a:p>
        </p:txBody>
      </p:sp>
      <p:sp>
        <p:nvSpPr>
          <p:cNvPr id="20" name="TextBox 19"/>
          <p:cNvSpPr txBox="1"/>
          <p:nvPr/>
        </p:nvSpPr>
        <p:spPr>
          <a:xfrm>
            <a:off x="1261872" y="5669280"/>
            <a:ext cx="9317736" cy="502920"/>
          </a:xfrm>
          <a:prstGeom prst="rect">
            <a:avLst/>
          </a:prstGeom>
          <a:noFill/>
        </p:spPr>
        <p:txBody>
          <a:bodyPr wrap="square" anchor="t">
            <a:spAutoFit/>
          </a:bodyPr>
          <a:lstStyle/>
          <a:p>
            <a:pPr algn="ctr">
              <a:spcBef>
                <a:spcPts val="0"/>
              </a:spcBef>
            </a:pPr>
            <a:r>
              <a:rPr lang="es-CL" sz="1250" b="0" i="1" dirty="0">
                <a:solidFill>
                  <a:schemeClr val="tx1">
                    <a:lumMod val="75000"/>
                    <a:lumOff val="25000"/>
                  </a:schemeClr>
                </a:solidFill>
              </a:rPr>
              <a:t xml:space="preserve">La progresión completa: S1 describió y midió · S2 puso a prueba y validó · S3 modela y predice sobre lo que quedó en pie.</a:t>
            </a:r>
          </a:p>
        </p:txBody>
      </p:sp>
    </p:spTree>
    <p:extLst>
      <p:ext uri="{BB962C8B-B14F-4D97-AF65-F5344CB8AC3E}">
        <p14:creationId xmlns:p14="http://schemas.microsoft.com/office/powerpoint/2010/main" val="3554131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D903B572-7AB0-4369-C487-D62538C3B61C}"/>
              </a:ext>
            </a:extLst>
          </p:cNvPr>
          <p:cNvPicPr>
            <a:picLocks noChangeAspect="1"/>
          </p:cNvPicPr>
          <p:nvPr/>
        </p:nvPicPr>
        <p:blipFill>
          <a:blip r:embed="rId3"/>
          <a:stretch>
            <a:fillRect/>
          </a:stretch>
        </p:blipFill>
        <p:spPr>
          <a:xfrm>
            <a:off x="5232400" y="2606876"/>
            <a:ext cx="1727200" cy="1460500"/>
          </a:xfrm>
          <a:prstGeom prst="rect">
            <a:avLst/>
          </a:prstGeom>
        </p:spPr>
      </p:pic>
    </p:spTree>
    <p:extLst>
      <p:ext uri="{BB962C8B-B14F-4D97-AF65-F5344CB8AC3E}">
        <p14:creationId xmlns:p14="http://schemas.microsoft.com/office/powerpoint/2010/main" val="2207412846"/>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2256</TotalTime>
  <Words>493</Words>
  <Application>Microsoft Macintosh PowerPoint</Application>
  <PresentationFormat>Panorámica</PresentationFormat>
  <Paragraphs>36</Paragraphs>
  <Slides>7</Slides>
  <Notes>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vt:i4>
      </vt:variant>
    </vt:vector>
  </HeadingPairs>
  <TitlesOfParts>
    <vt:vector size="13" baseType="lpstr">
      <vt:lpstr>Arial</vt:lpstr>
      <vt:lpstr>Calibri</vt:lpstr>
      <vt:lpstr>Calibri Light</vt:lpstr>
      <vt:lpstr>Cambria</vt:lpstr>
      <vt:lpstr>Montserrat</vt:lpstr>
      <vt:lpstr>Tema de Office</vt:lpstr>
      <vt:lpstr>Presentación de PowerPoint</vt:lpstr>
      <vt:lpstr>Presentación de PowerPoint</vt:lpstr>
      <vt:lpstr>Presentación de PowerPoint</vt:lpstr>
      <vt:lpstr>Presentación de PowerPoint</vt:lpstr>
      <vt:lpstr>Presentación de PowerPoint</vt:lpstr>
      <vt:lpstr>LOREM IPSUM DOLOR SIT AMET, CONSECTETUR ADIPISCING ELIT. MORBI TURPIS</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Deserción en la educación superior chilena — Sumativa 3</dc:title>
  <dc:subject/>
  <dc:creator>María Fassler Neumann; Sebastian Antunez Noguera</dc:creator>
  <cp:keywords/>
  <dc:description/>
  <cp:lastModifiedBy>Sebastian Antunez Noguera</cp:lastModifiedBy>
  <cp:revision>30</cp:revision>
  <dcterms:created xsi:type="dcterms:W3CDTF">2023-10-13T18:05:47Z</dcterms:created>
  <dcterms:modified xsi:type="dcterms:W3CDTF">2026-07-06T14:35:48Z</dcterms:modified>
  <cp:category/>
</cp:coreProperties>
</file>