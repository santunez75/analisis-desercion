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17"/>
  </p:notesMasterIdLst>
  <p:sldIdLst>
    <p:sldId id="2076137175" r:id="rId2"/>
    <p:sldId id="2076137361" r:id="rId3"/>
    <p:sldId id="2076137362" r:id="rId4"/>
    <p:sldId id="2076137363" r:id="rId5"/>
    <p:sldId id="2076137364" r:id="rId6"/>
    <p:sldId id="2076137365" r:id="rId7"/>
    <p:sldId id="2076137366" r:id="rId8"/>
    <p:sldId id="2076137367" r:id="rId9"/>
    <p:sldId id="2076137368" r:id="rId10"/>
    <p:sldId id="2076137369" r:id="rId11"/>
    <p:sldId id="2076137370" r:id="rId12"/>
    <p:sldId id="2076137371" r:id="rId13"/>
    <p:sldId id="2076137372" r:id="rId14"/>
    <p:sldId id="2076137373" r:id="rId15"/>
    <p:sldId id="2076137374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B1660F4-BA9A-82B8-C334-CF91C75A5656}" name="Ruth Marcela Espinosa Sarmiento" initials="RS" userId="S::ruth.espinosa@unab.cl::2acad1b5-36c7-4a86-bd14-a01055d811d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236D"/>
    <a:srgbClr val="B63C0F"/>
    <a:srgbClr val="A4C93C"/>
    <a:srgbClr val="01BF9F"/>
    <a:srgbClr val="4A7AEB"/>
    <a:srgbClr val="00644F"/>
    <a:srgbClr val="40306E"/>
    <a:srgbClr val="41BBD2"/>
    <a:srgbClr val="43546A"/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Estilo claro 2 - Acento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Estilo claro 3 - Acento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850"/>
    <p:restoredTop sz="78668" autoAdjust="0"/>
  </p:normalViewPr>
  <p:slideViewPr>
    <p:cSldViewPr snapToGrid="0">
      <p:cViewPr varScale="1">
        <p:scale>
          <a:sx n="125" d="100"/>
          <a:sy n="125" d="100"/>
        </p:scale>
        <p:origin x="190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8/10/relationships/authors" Target="author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Razón de momios</c:v>
                </c:pt>
              </c:strCache>
            </c:strRef>
          </c:tx>
          <c:spPr>
            <a:solidFill>
              <a:srgbClr val="20236D"/>
            </a:solidFill>
          </c:spPr>
          <c:invertIfNegative val="1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20236D"/>
                    </a:solidFill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Proporción de mujeres</c:v>
                </c:pt>
                <c:pt idx="1">
                  <c:v>Tamaño del programa</c:v>
                </c:pt>
                <c:pt idx="2">
                  <c:v>Acreditación de la carrera</c:v>
                </c:pt>
                <c:pt idx="3">
                  <c:v>Acreditación institucional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0.76200000000000001</c:v>
                </c:pt>
                <c:pt idx="1">
                  <c:v>0.72</c:v>
                </c:pt>
                <c:pt idx="2">
                  <c:v>0.69199999999999995</c:v>
                </c:pt>
                <c:pt idx="3">
                  <c:v>0.63300000000000001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0443-4149-A5F0-DBD111FC56DB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rgbClr val="5A6378"/>
                </a:solidFill>
              </a:defRPr>
            </a:pPr>
            <a:endParaRPr lang="es-CL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"/>
          <c:min val="0"/>
        </c:scaling>
        <c:delete val="0"/>
        <c:axPos val="b"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5A6378"/>
                </a:solidFill>
              </a:defRPr>
            </a:pPr>
            <a:endParaRPr lang="es-CL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s-CL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2B2D6A-D10B-4950-84AB-B76A76B41051}" type="datetimeFigureOut">
              <a:t>27-10-2026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2D85B4-8D15-40BA-BE63-8F85761BC2A6}" type="slidenum"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26282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27-10-2026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18768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27-10-2026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777849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27-10-2026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634837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27-10-2026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437286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27-10-2026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648946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27-10-2026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148329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27-10-2026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74201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27-10-2026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424010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27-10-2026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719603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27-10-2026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244308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27-10-2026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119240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C156A5-B668-40B6-B68E-AFC99CB3A359}" type="datetimeFigureOut">
              <a:rPr lang="es-CL" smtClean="0"/>
              <a:t>27-10-2026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4E32BF-339A-4FD7-AF2D-884DBB49ECE9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3360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ítulo 1">
            <a:extLst>
              <a:ext uri="{FF2B5EF4-FFF2-40B4-BE49-F238E27FC236}">
                <a16:creationId xmlns:a16="http://schemas.microsoft.com/office/drawing/2014/main" id="{8261AC4D-D56B-FCD9-2D31-C2C2E0662094}"/>
              </a:ext>
            </a:extLst>
          </p:cNvPr>
          <p:cNvSpPr txBox="1">
            <a:spLocks/>
          </p:cNvSpPr>
          <p:nvPr/>
        </p:nvSpPr>
        <p:spPr>
          <a:xfrm>
            <a:off x="5001768" y="2743200"/>
            <a:ext cx="6812280" cy="1024128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600" dirty="0">
                <a:solidFill>
                  <a:srgbClr val="FFFFFF"/>
                </a:solidFill>
                <a:latin typeface="Montserrat" pitchFamily="2" charset="77"/>
                <a:cs typeface="Calibri Light"/>
              </a:rPr>
              <a:t>Deserción en la educación superior chilena</a:t>
            </a:r>
            <a:endParaRPr lang="es-ES" sz="5400" dirty="0">
              <a:solidFill>
                <a:srgbClr val="FFFFFF"/>
              </a:solidFill>
              <a:latin typeface="Montserrat" pitchFamily="2" charset="77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944E5F5-76E7-7915-76DC-35DD2BF31062}"/>
              </a:ext>
            </a:extLst>
          </p:cNvPr>
          <p:cNvSpPr/>
          <p:nvPr/>
        </p:nvSpPr>
        <p:spPr>
          <a:xfrm>
            <a:off x="5005973" y="3860501"/>
            <a:ext cx="6000108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7" name="Subtítulo 2">
            <a:extLst>
              <a:ext uri="{FF2B5EF4-FFF2-40B4-BE49-F238E27FC236}">
                <a16:creationId xmlns:a16="http://schemas.microsoft.com/office/drawing/2014/main" id="{9CBD3C2B-219F-AC36-606B-A6905CE9EE69}"/>
              </a:ext>
            </a:extLst>
          </p:cNvPr>
          <p:cNvSpPr txBox="1">
            <a:spLocks/>
          </p:cNvSpPr>
          <p:nvPr/>
        </p:nvSpPr>
        <p:spPr>
          <a:xfrm>
            <a:off x="5001768" y="4005072"/>
            <a:ext cx="6812280" cy="100584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spcBef>
                <a:spcPts val="0"/>
              </a:spcBef>
            </a:pPr>
            <a:r>
              <a:rPr lang="es-CL" sz="1500" b="0" i="0" dirty="0">
                <a:solidFill>
                  <a:srgbClr val="FFFFFF"/>
                </a:solidFill>
              </a:rPr>
              <a:t>Modelamiento predictivo integrado · Evaluación Sumativa 3</a:t>
            </a:r>
          </a:p>
          <a:p>
            <a:pPr algn="l">
              <a:spcBef>
                <a:spcPts val="0"/>
              </a:spcBef>
            </a:pPr>
            <a:r>
              <a:rPr lang="es-CL" sz="1500" b="0" i="0" dirty="0">
                <a:solidFill>
                  <a:srgbClr val="FFFFFF"/>
                </a:solidFill>
              </a:rPr>
              <a:t>María Fassler Neumann · Sebastian Antunez Noguera · Grupo 4</a:t>
            </a:r>
          </a:p>
          <a:p>
            <a:pPr algn="l">
              <a:spcBef>
                <a:spcPts val="0"/>
              </a:spcBef>
            </a:pPr>
            <a:r>
              <a:rPr lang="es-CL" sz="1500" b="0" i="0" dirty="0">
                <a:solidFill>
                  <a:srgbClr val="FFFFFF"/>
                </a:solidFill>
              </a:rPr>
              <a:t>MCDI501 Estadística Computacional para la Toma de Decisiones</a:t>
            </a:r>
          </a:p>
        </p:txBody>
      </p:sp>
      <p:sp>
        <p:nvSpPr>
          <p:cNvPr id="8" name="Subtítulo 2">
            <a:extLst>
              <a:ext uri="{FF2B5EF4-FFF2-40B4-BE49-F238E27FC236}">
                <a16:creationId xmlns:a16="http://schemas.microsoft.com/office/drawing/2014/main" id="{41860A79-B110-9F78-3978-77AFA70E5855}"/>
              </a:ext>
            </a:extLst>
          </p:cNvPr>
          <p:cNvSpPr txBox="1">
            <a:spLocks/>
          </p:cNvSpPr>
          <p:nvPr/>
        </p:nvSpPr>
        <p:spPr>
          <a:xfrm>
            <a:off x="5001768" y="6172200"/>
            <a:ext cx="6812280" cy="36576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spcBef>
                <a:spcPts val="0"/>
              </a:spcBef>
            </a:pPr>
            <a:r>
              <a:rPr lang="es-CL" sz="1200" b="0" i="0" dirty="0">
                <a:solidFill>
                  <a:srgbClr val="FFFFFF"/>
                </a:solidFill>
              </a:rPr>
              <a:t>Docente: Jean Paul Maidana · 28 de octubre de 2026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0049516-04B1-49E2-CC29-A48B3B898D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45046" y="2985545"/>
            <a:ext cx="4562771" cy="1545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97346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>
            <a:extLst>
              <a:ext uri="{FF2B5EF4-FFF2-40B4-BE49-F238E27FC236}">
                <a16:creationId xmlns:a16="http://schemas.microsoft.com/office/drawing/2014/main" id="{FEC22D5A-3C23-5016-41A3-8B5BC274D0E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FFBF986-AD27-9A41-A79D-69D10AD09B01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13" name="Grupo 12">
              <a:extLst>
                <a:ext uri="{FF2B5EF4-FFF2-40B4-BE49-F238E27FC236}">
                  <a16:creationId xmlns:a16="http://schemas.microsoft.com/office/drawing/2014/main" id="{28CDD850-5646-4AD6-8B5A-F8F5CBE1C7E8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EF66A722-3A5E-9405-F29C-D5E1DF85B86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6" name="Imagen 15">
                <a:extLst>
                  <a:ext uri="{FF2B5EF4-FFF2-40B4-BE49-F238E27FC236}">
                    <a16:creationId xmlns:a16="http://schemas.microsoft.com/office/drawing/2014/main" id="{9F5C1299-86B3-B30B-CD51-74C83AFEF5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8" name="CuadroTexto 7">
            <a:extLst>
              <a:ext uri="{FF2B5EF4-FFF2-40B4-BE49-F238E27FC236}">
                <a16:creationId xmlns:a16="http://schemas.microsoft.com/office/drawing/2014/main" id="{C2367F09-C3D0-E580-1228-D790B7E13002}"/>
              </a:ext>
            </a:extLst>
          </p:cNvPr>
          <p:cNvSpPr txBox="1"/>
          <p:nvPr/>
        </p:nvSpPr>
        <p:spPr>
          <a:xfrm>
            <a:off x="1264220" y="1627632"/>
            <a:ext cx="29717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lang="es-CL" sz="4000" b="0" i="0" dirty="0">
                <a:solidFill>
                  <a:srgbClr val="20236D"/>
                </a:solidFill>
              </a:rPr>
              <a:t>9.678</a:t>
            </a:r>
          </a:p>
          <a:p>
            <a:pPr algn="l">
              <a:spcBef>
                <a:spcPts val="400"/>
              </a:spcBef>
            </a:pPr>
            <a:r>
              <a:rPr lang="es-CL" sz="130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programas de pregrado, construidos desde las bases SIES de matrícula 2007–2026 y titulados 2007–2025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6448D6FB-F375-29BE-C296-B67DB9A18606}"/>
              </a:ext>
            </a:extLst>
          </p:cNvPr>
          <p:cNvSpPr/>
          <p:nvPr/>
        </p:nvSpPr>
        <p:spPr>
          <a:xfrm rot="16200000">
            <a:off x="3367300" y="2400300"/>
            <a:ext cx="1737360" cy="45720"/>
          </a:xfrm>
          <a:prstGeom prst="rect">
            <a:avLst/>
          </a:prstGeom>
          <a:solidFill>
            <a:schemeClr val="bg1">
              <a:lumMod val="85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11414FBC-036B-F32C-775B-F97BC997559D}"/>
              </a:ext>
            </a:extLst>
          </p:cNvPr>
          <p:cNvSpPr/>
          <p:nvPr/>
        </p:nvSpPr>
        <p:spPr>
          <a:xfrm rot="16200000">
            <a:off x="6490491" y="2400300"/>
            <a:ext cx="1737360" cy="45720"/>
          </a:xfrm>
          <a:prstGeom prst="rect">
            <a:avLst/>
          </a:prstGeom>
          <a:solidFill>
            <a:schemeClr val="bg1">
              <a:lumMod val="85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271A28B1-078C-167A-05FF-22C362B423AF}"/>
              </a:ext>
            </a:extLst>
          </p:cNvPr>
          <p:cNvSpPr/>
          <p:nvPr/>
        </p:nvSpPr>
        <p:spPr>
          <a:xfrm>
            <a:off x="1463041" y="648352"/>
            <a:ext cx="8591812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80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Qué medimos y por qué importa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B21BE484-1B8A-C467-7B63-8768B0E64AD2}"/>
              </a:ext>
            </a:extLst>
          </p:cNvPr>
          <p:cNvSpPr txBox="1"/>
          <p:nvPr/>
        </p:nvSpPr>
        <p:spPr>
          <a:xfrm>
            <a:off x="4336193" y="1627632"/>
            <a:ext cx="29717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lang="es-CL" sz="4000" b="0" i="0" dirty="0">
                <a:solidFill>
                  <a:srgbClr val="20236D"/>
                </a:solidFill>
              </a:rPr>
              <a:t>0,518</a:t>
            </a:r>
          </a:p>
          <a:p>
            <a:pPr algn="l">
              <a:spcBef>
                <a:spcPts val="400"/>
              </a:spcBef>
            </a:pPr>
            <a:r>
              <a:rPr lang="es-CL" sz="130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abandono aparente medio del sistema, con una dispersión enorme entre programas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A5F384CB-153C-1BE9-3318-838F90040264}"/>
              </a:ext>
            </a:extLst>
          </p:cNvPr>
          <p:cNvSpPr txBox="1"/>
          <p:nvPr/>
        </p:nvSpPr>
        <p:spPr>
          <a:xfrm>
            <a:off x="7603375" y="1627632"/>
            <a:ext cx="29717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lang="es-CL" sz="4000" b="0" i="0" dirty="0">
                <a:solidFill>
                  <a:srgbClr val="20236D"/>
                </a:solidFill>
              </a:rPr>
              <a:t>168</a:t>
            </a:r>
          </a:p>
          <a:p>
            <a:pPr algn="l">
              <a:spcBef>
                <a:spcPts val="400"/>
              </a:spcBef>
            </a:pPr>
            <a:r>
              <a:rPr lang="es-CL" sz="130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instituciones: los programas de una misma institución no son independientes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61872" y="3749039"/>
            <a:ext cx="9317736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s-CL" sz="1600" b="0" i="0" dirty="0">
                <a:solidFill>
                  <a:srgbClr val="20236D"/>
                </a:solidFill>
              </a:rPr>
              <a:t>La pregunta que organiza el proyecto</a:t>
            </a:r>
          </a:p>
          <a:p>
            <a:pPr algn="just">
              <a:spcBef>
                <a:spcPts val="400"/>
              </a:spcBef>
            </a:pPr>
            <a:r>
              <a:rPr lang="es-CL" sz="150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¿Puede anticiparse el abandono de un programa a partir de atributos observables, para focalizar recursos de retención antes de que el problema se consolide?</a:t>
            </a:r>
          </a:p>
          <a:p>
            <a:pPr algn="just">
              <a:spcBef>
                <a:spcPts val="800"/>
              </a:spcBef>
            </a:pPr>
            <a:r>
              <a:rPr lang="es-CL" sz="130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Dos precisiones que condicionan todo lo que sigue: la unidad de análisis es el </a:t>
            </a:r>
            <a:r>
              <a:rPr lang="es-CL" sz="1300" b="1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programa, no el estudiante</a:t>
            </a:r>
            <a:r>
              <a:rPr lang="es-CL" sz="130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y lo que se mide es </a:t>
            </a:r>
            <a:r>
              <a:rPr lang="es-CL" sz="1300" b="1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abandono aparente</a:t>
            </a:r>
            <a:r>
              <a:rPr lang="es-CL" sz="130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de modo que quien se cambia de carrera y se titula en otra parte cuenta aquí como abandono.</a:t>
            </a:r>
          </a:p>
        </p:txBody>
      </p:sp>
    </p:spTree>
    <p:extLst>
      <p:ext uri="{BB962C8B-B14F-4D97-AF65-F5344CB8AC3E}">
        <p14:creationId xmlns:p14="http://schemas.microsoft.com/office/powerpoint/2010/main" val="35541310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4EE738EC-B53A-ABCD-9FA6-598A4911906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69" r="7163"/>
          <a:stretch/>
        </p:blipFill>
        <p:spPr>
          <a:xfrm>
            <a:off x="6549030" y="-79378"/>
            <a:ext cx="5738628" cy="7016756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C6FFEBCA-443A-A485-8CB8-8F346C8CD519}"/>
              </a:ext>
            </a:extLst>
          </p:cNvPr>
          <p:cNvSpPr txBox="1"/>
          <p:nvPr/>
        </p:nvSpPr>
        <p:spPr>
          <a:xfrm>
            <a:off x="1069848" y="2377440"/>
            <a:ext cx="511149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lang="es-CL" sz="1500" b="0" i="0" dirty="0">
                <a:solidFill>
                  <a:srgbClr val="20236D"/>
                </a:solidFill>
              </a:rPr>
              <a:t>Metodología</a:t>
            </a:r>
          </a:p>
          <a:p>
            <a:pPr algn="l">
              <a:spcBef>
                <a:spcPts val="600"/>
              </a:spcBef>
            </a:pPr>
            <a:r>
              <a:rPr lang="es-CL" sz="3200" b="0" i="0" dirty="0">
                <a:solidFill>
                  <a:srgbClr val="20236D"/>
                </a:solidFill>
              </a:rPr>
              <a:t>La cadena S1 → S2 → S3</a:t>
            </a:r>
          </a:p>
          <a:p>
            <a:pPr algn="just">
              <a:spcBef>
                <a:spcPts val="1400"/>
              </a:spcBef>
            </a:pPr>
            <a:r>
              <a:rPr lang="es-CL" sz="160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Ninguna decisión metodológica de esta fase es nueva: todas provienen de un resultado de las fases anteriores.</a:t>
            </a:r>
          </a:p>
        </p:txBody>
      </p:sp>
      <p:grpSp>
        <p:nvGrpSpPr>
          <p:cNvPr id="8" name="Grupo 7">
            <a:extLst>
              <a:ext uri="{FF2B5EF4-FFF2-40B4-BE49-F238E27FC236}">
                <a16:creationId xmlns:a16="http://schemas.microsoft.com/office/drawing/2014/main" id="{6FF7A741-E6D2-4FDD-9F5C-9DDFC4954BAF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9" name="Rectángulo 8">
              <a:extLst>
                <a:ext uri="{FF2B5EF4-FFF2-40B4-BE49-F238E27FC236}">
                  <a16:creationId xmlns:a16="http://schemas.microsoft.com/office/drawing/2014/main" id="{2F27250F-C848-235D-E653-70F65D012EC5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2DCD665D-4AAC-4906-F154-2F2CC78C684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2" name="Título 1">
                <a:extLst>
                  <a:ext uri="{FF2B5EF4-FFF2-40B4-BE49-F238E27FC236}">
                    <a16:creationId xmlns:a16="http://schemas.microsoft.com/office/drawing/2014/main" id="{5D8FA4FE-7036-9B75-9BCB-90444AA1349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5" name="Imagen 14">
                <a:extLst>
                  <a:ext uri="{FF2B5EF4-FFF2-40B4-BE49-F238E27FC236}">
                    <a16:creationId xmlns:a16="http://schemas.microsoft.com/office/drawing/2014/main" id="{808F2274-5EBE-CD55-0C3D-3B5DC114D6E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9920937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>
            <a:extLst>
              <a:ext uri="{FF2B5EF4-FFF2-40B4-BE49-F238E27FC236}">
                <a16:creationId xmlns:a16="http://schemas.microsoft.com/office/drawing/2014/main" id="{FEC22D5A-3C23-5016-41A3-8B5BC274D0E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FFBF986-AD27-9A41-A79D-69D10AD09B01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13" name="Grupo 12">
              <a:extLst>
                <a:ext uri="{FF2B5EF4-FFF2-40B4-BE49-F238E27FC236}">
                  <a16:creationId xmlns:a16="http://schemas.microsoft.com/office/drawing/2014/main" id="{28CDD850-5646-4AD6-8B5A-F8F5CBE1C7E8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EF66A722-3A5E-9405-F29C-D5E1DF85B86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6" name="Imagen 15">
                <a:extLst>
                  <a:ext uri="{FF2B5EF4-FFF2-40B4-BE49-F238E27FC236}">
                    <a16:creationId xmlns:a16="http://schemas.microsoft.com/office/drawing/2014/main" id="{9F5C1299-86B3-B30B-CD51-74C83AFEF5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8" name="CuadroTexto 7">
            <a:extLst>
              <a:ext uri="{FF2B5EF4-FFF2-40B4-BE49-F238E27FC236}">
                <a16:creationId xmlns:a16="http://schemas.microsoft.com/office/drawing/2014/main" id="{C2367F09-C3D0-E580-1228-D790B7E13002}"/>
              </a:ext>
            </a:extLst>
          </p:cNvPr>
          <p:cNvSpPr txBox="1"/>
          <p:nvPr/>
        </p:nvSpPr>
        <p:spPr>
          <a:xfrm>
            <a:off x="1264220" y="1783080"/>
            <a:ext cx="29717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lang="es-CL" sz="1400" b="0" i="0" dirty="0">
                <a:solidFill>
                  <a:srgbClr val="20236D"/>
                </a:solidFill>
              </a:rPr>
              <a:t>S1 · DESCRIBIÓ Y MIDIÓ</a:t>
            </a:r>
          </a:p>
          <a:p>
            <a:pPr marL="200025" indent="-200025" algn="l">
              <a:spcBef>
                <a:spcPts val="500"/>
              </a:spcBef>
              <a:buFont typeface="Arial"/>
              <a:buChar char="•"/>
            </a:pPr>
            <a:r>
              <a:rPr lang="es-CL" sz="125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Abandono medio 0,518 y su dispersión</a:t>
            </a:r>
          </a:p>
          <a:p>
            <a:pPr marL="200025" indent="-200025" algn="l">
              <a:spcBef>
                <a:spcPts val="500"/>
              </a:spcBef>
              <a:buFont typeface="Arial"/>
              <a:buChar char="•"/>
            </a:pPr>
            <a:r>
              <a:rPr lang="es-CL" sz="125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Nueve variables asociadas al abandono</a:t>
            </a:r>
          </a:p>
          <a:p>
            <a:pPr marL="200025" indent="-200025" algn="l">
              <a:spcBef>
                <a:spcPts val="500"/>
              </a:spcBef>
              <a:buFont typeface="Arial"/>
              <a:buChar char="•"/>
            </a:pPr>
            <a:r>
              <a:rPr lang="es-CL" sz="125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465 programas censurados en 0 y en 1</a:t>
            </a:r>
          </a:p>
          <a:p>
            <a:pPr marL="200025" indent="-200025" algn="l">
              <a:spcBef>
                <a:spcPts val="500"/>
              </a:spcBef>
              <a:buFont typeface="Arial"/>
              <a:buChar char="•"/>
            </a:pPr>
            <a:r>
              <a:rPr lang="es-CL" sz="125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Cero datos faltantes en 25 variables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6448D6FB-F375-29BE-C296-B67DB9A18606}"/>
              </a:ext>
            </a:extLst>
          </p:cNvPr>
          <p:cNvSpPr/>
          <p:nvPr/>
        </p:nvSpPr>
        <p:spPr>
          <a:xfrm rot="16200000">
            <a:off x="3092980" y="2903220"/>
            <a:ext cx="2286000" cy="45720"/>
          </a:xfrm>
          <a:prstGeom prst="rect">
            <a:avLst/>
          </a:prstGeom>
          <a:solidFill>
            <a:schemeClr val="bg1">
              <a:lumMod val="85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11414FBC-036B-F32C-775B-F97BC997559D}"/>
              </a:ext>
            </a:extLst>
          </p:cNvPr>
          <p:cNvSpPr/>
          <p:nvPr/>
        </p:nvSpPr>
        <p:spPr>
          <a:xfrm rot="16200000">
            <a:off x="6216171" y="2903220"/>
            <a:ext cx="2286000" cy="45720"/>
          </a:xfrm>
          <a:prstGeom prst="rect">
            <a:avLst/>
          </a:prstGeom>
          <a:solidFill>
            <a:schemeClr val="bg1">
              <a:lumMod val="85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271A28B1-078C-167A-05FF-22C362B423AF}"/>
              </a:ext>
            </a:extLst>
          </p:cNvPr>
          <p:cNvSpPr/>
          <p:nvPr/>
        </p:nvSpPr>
        <p:spPr>
          <a:xfrm>
            <a:off x="1463041" y="648352"/>
            <a:ext cx="8591812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80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Qué aportó cada fase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B21BE484-1B8A-C467-7B63-8768B0E64AD2}"/>
              </a:ext>
            </a:extLst>
          </p:cNvPr>
          <p:cNvSpPr txBox="1"/>
          <p:nvPr/>
        </p:nvSpPr>
        <p:spPr>
          <a:xfrm>
            <a:off x="4336193" y="1783080"/>
            <a:ext cx="29717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lang="es-CL" sz="1400" b="0" i="0" dirty="0">
                <a:solidFill>
                  <a:srgbClr val="20236D"/>
                </a:solidFill>
              </a:rPr>
              <a:t>S2 · PUSO A PRUEBA</a:t>
            </a:r>
          </a:p>
          <a:p>
            <a:pPr marL="200025" indent="-200025" algn="l">
              <a:spcBef>
                <a:spcPts val="500"/>
              </a:spcBef>
              <a:buFont typeface="Arial"/>
              <a:buChar char="•"/>
            </a:pPr>
            <a:r>
              <a:rPr lang="es-CL" sz="125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Bootstrap: los IC clásicos eran fiables</a:t>
            </a:r>
          </a:p>
          <a:p>
            <a:pPr marL="200025" indent="-200025" algn="l">
              <a:spcBef>
                <a:spcPts val="500"/>
              </a:spcBef>
              <a:buFont typeface="Arial"/>
              <a:buChar char="•"/>
            </a:pPr>
            <a:r>
              <a:rPr lang="es-CL" sz="125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Permutación sin suponer normalidad</a:t>
            </a:r>
          </a:p>
          <a:p>
            <a:pPr marL="200025" indent="-200025" algn="l">
              <a:spcBef>
                <a:spcPts val="500"/>
              </a:spcBef>
              <a:buFont typeface="Arial"/>
              <a:buChar char="•"/>
            </a:pPr>
            <a:r>
              <a:rPr lang="es-CL" sz="125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Separó correlaciones sólidas de débiles</a:t>
            </a:r>
          </a:p>
          <a:p>
            <a:pPr marL="200025" indent="-200025" algn="l">
              <a:spcBef>
                <a:spcPts val="500"/>
              </a:spcBef>
              <a:buFont typeface="Arial"/>
              <a:buChar char="•"/>
            </a:pPr>
            <a:r>
              <a:rPr lang="es-CL" sz="125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Advirtió: los programas no son independientes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A5F384CB-153C-1BE9-3318-838F90040264}"/>
              </a:ext>
            </a:extLst>
          </p:cNvPr>
          <p:cNvSpPr txBox="1"/>
          <p:nvPr/>
        </p:nvSpPr>
        <p:spPr>
          <a:xfrm>
            <a:off x="7603375" y="1783080"/>
            <a:ext cx="29717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lang="es-CL" sz="1400" b="0" i="0" dirty="0">
                <a:solidFill>
                  <a:srgbClr val="20236D"/>
                </a:solidFill>
              </a:rPr>
              <a:t>S3 · MODELA Y PREDICE</a:t>
            </a:r>
          </a:p>
          <a:p>
            <a:pPr marL="200025" indent="-200025" algn="l">
              <a:spcBef>
                <a:spcPts val="500"/>
              </a:spcBef>
              <a:buFont typeface="Arial"/>
              <a:buChar char="•"/>
            </a:pPr>
            <a:r>
              <a:rPr lang="es-CL" sz="125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Imputación informada por la matriz de S1</a:t>
            </a:r>
          </a:p>
          <a:p>
            <a:pPr marL="200025" indent="-200025" algn="l">
              <a:spcBef>
                <a:spcPts val="500"/>
              </a:spcBef>
              <a:buFont typeface="Arial"/>
              <a:buChar char="•"/>
            </a:pPr>
            <a:r>
              <a:rPr lang="es-CL" sz="125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Modelo con las variables estables de S2</a:t>
            </a:r>
          </a:p>
          <a:p>
            <a:pPr marL="200025" indent="-200025" algn="l">
              <a:spcBef>
                <a:spcPts val="500"/>
              </a:spcBef>
              <a:buFont typeface="Arial"/>
              <a:buChar char="•"/>
            </a:pPr>
            <a:r>
              <a:rPr lang="es-CL" sz="125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Partición 70/30 estratificada, semilla 42</a:t>
            </a:r>
          </a:p>
          <a:p>
            <a:pPr marL="200025" indent="-200025" algn="l">
              <a:spcBef>
                <a:spcPts val="500"/>
              </a:spcBef>
              <a:buFont typeface="Arial"/>
              <a:buChar char="•"/>
            </a:pPr>
            <a:r>
              <a:rPr lang="es-CL" sz="125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Bootstrap aplicado a los coeficientes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61872" y="4846320"/>
            <a:ext cx="931773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lang="es-CL" sz="1300" b="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Cada columna es consecuencia directa de la anterior: esta fase no abre líneas nuevas, cierra las que S1 y S2 dejaron abiertas.</a:t>
            </a:r>
          </a:p>
        </p:txBody>
      </p:sp>
    </p:spTree>
    <p:extLst>
      <p:ext uri="{BB962C8B-B14F-4D97-AF65-F5344CB8AC3E}">
        <p14:creationId xmlns:p14="http://schemas.microsoft.com/office/powerpoint/2010/main" val="35541310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2115681" y="648352"/>
            <a:ext cx="7665317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80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De dónde viene cada decisión de esta fase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2093976" y="1481328"/>
          <a:ext cx="7964423" cy="29260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7043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60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</a:pPr>
                      <a:r>
                        <a:rPr lang="es-CL" sz="1200" b="1" i="0" dirty="0">
                          <a:solidFill>
                            <a:srgbClr val="FFFFFF"/>
                          </a:solidFill>
                        </a:rPr>
                        <a:t>Decisión tomada en la Sumativa 3</a:t>
                      </a:r>
                    </a:p>
                  </a:txBody>
                  <a:tcPr marL="64008" marR="64008" marT="18288" marB="18288" anchor="ctr">
                    <a:solidFill>
                      <a:srgbClr val="20236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200" b="1" i="0" dirty="0">
                          <a:solidFill>
                            <a:srgbClr val="FFFFFF"/>
                          </a:solidFill>
                        </a:rPr>
                        <a:t>Resultado anterior que la justifica</a:t>
                      </a:r>
                    </a:p>
                  </a:txBody>
                  <a:tcPr marL="64008" marR="64008" marT="18288" marB="18288" anchor="ctr">
                    <a:solidFill>
                      <a:srgbClr val="20236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</a:pPr>
                      <a:r>
                        <a:rPr lang="es-CL" sz="12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Predictoras de los modelos de imputación</a:t>
                      </a:r>
                    </a:p>
                  </a:txBody>
                  <a:tcPr marL="64008" marR="64008" marT="18288" marB="18288" anchor="ctr">
                    <a:lnB w="9525" cap="flat">
                      <a:solidFill>
                        <a:srgbClr val="C9CC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2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La matriz de correlaciones de S1</a:t>
                      </a:r>
                    </a:p>
                  </a:txBody>
                  <a:tcPr marL="64008" marR="64008" marT="18288" marB="18288" anchor="ctr">
                    <a:lnB w="9525" cap="flat">
                      <a:solidFill>
                        <a:srgbClr val="C9CC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</a:pPr>
                      <a:r>
                        <a:rPr lang="es-CL" sz="12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Variables del modelo logístico</a:t>
                      </a:r>
                    </a:p>
                  </a:txBody>
                  <a:tcPr marL="64008" marR="64008" marT="18288" marB="18288" anchor="ctr">
                    <a:lnT w="9525" cap="flat" cmpd="sng" algn="ctr">
                      <a:solidFill>
                        <a:srgbClr val="C9C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C9CCDB"/>
                      </a:solidFill>
                    </a:lnB>
                    <a:solidFill>
                      <a:srgbClr val="F2F3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2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El filtro de estabilidad por bootstrap de S2</a:t>
                      </a:r>
                    </a:p>
                  </a:txBody>
                  <a:tcPr marL="64008" marR="64008" marT="18288" marB="18288" anchor="ctr">
                    <a:lnT w="9525" cap="flat" cmpd="sng" algn="ctr">
                      <a:solidFill>
                        <a:srgbClr val="C9C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C9CCDB"/>
                      </a:solidFill>
                    </a:lnB>
                    <a:solidFill>
                      <a:srgbClr val="F2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</a:pPr>
                      <a:r>
                        <a:rPr lang="es-CL" sz="12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Conservar los 465 programas censurados</a:t>
                      </a:r>
                    </a:p>
                  </a:txBody>
                  <a:tcPr marL="64008" marR="64008" marT="18288" marB="18288" anchor="ctr">
                    <a:lnT w="9525" cap="flat" cmpd="sng" algn="ctr">
                      <a:solidFill>
                        <a:srgbClr val="C9C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C9CC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2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La auditoría caso a caso que hizo S2</a:t>
                      </a:r>
                    </a:p>
                  </a:txBody>
                  <a:tcPr marL="64008" marR="64008" marT="18288" marB="18288" anchor="ctr">
                    <a:lnT w="9525" cap="flat" cmpd="sng" algn="ctr">
                      <a:solidFill>
                        <a:srgbClr val="C9C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C9CC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</a:pPr>
                      <a:r>
                        <a:rPr lang="es-CL" sz="12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Umbral del 50 % en la variable respuesta</a:t>
                      </a:r>
                    </a:p>
                  </a:txBody>
                  <a:tcPr marL="64008" marR="64008" marT="18288" marB="18288" anchor="ctr">
                    <a:lnT w="9525" cap="flat" cmpd="sng" algn="ctr">
                      <a:solidFill>
                        <a:srgbClr val="C9C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C9CCDB"/>
                      </a:solidFill>
                    </a:lnB>
                    <a:solidFill>
                      <a:srgbClr val="F2F3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2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El 54,94 % de S1, validado por Wilson y Z en S2</a:t>
                      </a:r>
                    </a:p>
                  </a:txBody>
                  <a:tcPr marL="64008" marR="64008" marT="18288" marB="18288" anchor="ctr">
                    <a:lnT w="9525" cap="flat" cmpd="sng" algn="ctr">
                      <a:solidFill>
                        <a:srgbClr val="C9C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C9CCDB"/>
                      </a:solidFill>
                    </a:lnB>
                    <a:solidFill>
                      <a:srgbClr val="F2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</a:pPr>
                      <a:r>
                        <a:rPr lang="es-CL" sz="12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Bootstrap de los coeficientes del modelo</a:t>
                      </a:r>
                    </a:p>
                  </a:txBody>
                  <a:tcPr marL="64008" marR="64008" marT="18288" marB="18288" anchor="ctr">
                    <a:lnT w="9525" cap="flat" cmpd="sng" algn="ctr">
                      <a:solidFill>
                        <a:srgbClr val="C9C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C9CC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2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El mismo instrumento que S2 aplicó a medias</a:t>
                      </a:r>
                    </a:p>
                  </a:txBody>
                  <a:tcPr marL="64008" marR="64008" marT="18288" marB="18288" anchor="ctr">
                    <a:lnT w="9525" cap="flat" cmpd="sng" algn="ctr">
                      <a:solidFill>
                        <a:srgbClr val="C9C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C9CC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</a:pPr>
                      <a:r>
                        <a:rPr lang="es-CL" sz="12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Bootstrap por institución, como extensión</a:t>
                      </a:r>
                    </a:p>
                  </a:txBody>
                  <a:tcPr marL="64008" marR="64008" marT="18288" marB="18288" anchor="ctr">
                    <a:lnT w="9525" cap="flat" cmpd="sng" algn="ctr">
                      <a:solidFill>
                        <a:srgbClr val="C9C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C9CCDB"/>
                      </a:solidFill>
                    </a:lnB>
                    <a:solidFill>
                      <a:srgbClr val="F2F3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2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La advertencia de S2 sobre la no independencia</a:t>
                      </a:r>
                    </a:p>
                  </a:txBody>
                  <a:tcPr marL="64008" marR="64008" marT="18288" marB="18288" anchor="ctr">
                    <a:lnT w="9525" cap="flat" cmpd="sng" algn="ctr">
                      <a:solidFill>
                        <a:srgbClr val="C9C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C9CCDB"/>
                      </a:solidFill>
                    </a:lnB>
                    <a:solidFill>
                      <a:srgbClr val="F2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2093976" y="4617720"/>
            <a:ext cx="7964424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lang="es-CL" sz="1300" b="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La columna izquierda no contiene ninguna decisión que se haya tomado en esta fase sin un antecedente documentado.</a:t>
            </a:r>
          </a:p>
        </p:txBody>
      </p:sp>
    </p:spTree>
    <p:extLst>
      <p:ext uri="{BB962C8B-B14F-4D97-AF65-F5344CB8AC3E}">
        <p14:creationId xmlns:p14="http://schemas.microsoft.com/office/powerpoint/2010/main" val="39851400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2115681" y="648352"/>
            <a:ext cx="7665317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80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El conjunto no tiene faltantes: cómo resolvimos eso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143000" y="1554480"/>
          <a:ext cx="5074919" cy="12070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196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97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97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57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</a:pPr>
                      <a:r>
                        <a:rPr lang="es-CL" sz="1100" b="1" i="0" dirty="0">
                          <a:solidFill>
                            <a:srgbClr val="FFFFFF"/>
                          </a:solidFill>
                        </a:rPr>
                        <a:t>Variable</a:t>
                      </a:r>
                    </a:p>
                  </a:txBody>
                  <a:tcPr marL="64008" marR="64008" marT="18288" marB="18288" anchor="ctr">
                    <a:solidFill>
                      <a:srgbClr val="20236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100" b="1" i="0" dirty="0">
                          <a:solidFill>
                            <a:srgbClr val="FFFFFF"/>
                          </a:solidFill>
                        </a:rPr>
                        <a:t>Mecanismo</a:t>
                      </a:r>
                    </a:p>
                  </a:txBody>
                  <a:tcPr marL="64008" marR="64008" marT="18288" marB="18288" anchor="ctr">
                    <a:solidFill>
                      <a:srgbClr val="20236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100" b="1" i="0" dirty="0">
                          <a:solidFill>
                            <a:srgbClr val="FFFFFF"/>
                          </a:solidFill>
                        </a:rPr>
                        <a:t>Ausencia</a:t>
                      </a:r>
                    </a:p>
                  </a:txBody>
                  <a:tcPr marL="64008" marR="64008" marT="18288" marB="18288" anchor="ctr">
                    <a:solidFill>
                      <a:srgbClr val="20236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100" b="1" i="0" dirty="0">
                          <a:solidFill>
                            <a:srgbClr val="FFFFFF"/>
                          </a:solidFill>
                        </a:rPr>
                        <a:t>Sesgo en la media</a:t>
                      </a:r>
                    </a:p>
                  </a:txBody>
                  <a:tcPr marL="64008" marR="64008" marT="18288" marB="18288" anchor="ctr">
                    <a:solidFill>
                      <a:srgbClr val="20236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</a:pPr>
                      <a:r>
                        <a:rPr lang="es-CL" sz="11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edad_promedio</a:t>
                      </a:r>
                    </a:p>
                  </a:txBody>
                  <a:tcPr marL="64008" marR="64008" marT="18288" marB="18288" anchor="ctr">
                    <a:lnB w="9525" cap="flat">
                      <a:solidFill>
                        <a:srgbClr val="C9CC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1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MCAR</a:t>
                      </a:r>
                    </a:p>
                  </a:txBody>
                  <a:tcPr marL="64008" marR="64008" marT="18288" marB="18288" anchor="ctr">
                    <a:lnB w="9525" cap="flat">
                      <a:solidFill>
                        <a:srgbClr val="C9CC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1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14,9 %</a:t>
                      </a:r>
                    </a:p>
                  </a:txBody>
                  <a:tcPr marL="64008" marR="64008" marT="18288" marB="18288" anchor="ctr">
                    <a:lnB w="9525" cap="flat">
                      <a:solidFill>
                        <a:srgbClr val="C9CC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1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+0,015</a:t>
                      </a:r>
                    </a:p>
                  </a:txBody>
                  <a:tcPr marL="64008" marR="64008" marT="18288" marB="18288" anchor="ctr">
                    <a:lnB w="9525" cap="flat">
                      <a:solidFill>
                        <a:srgbClr val="C9CC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</a:pPr>
                      <a:r>
                        <a:rPr lang="es-CL" sz="11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pct_mujeres</a:t>
                      </a:r>
                    </a:p>
                  </a:txBody>
                  <a:tcPr marL="64008" marR="64008" marT="18288" marB="18288" anchor="ctr">
                    <a:lnT w="9525" cap="flat" cmpd="sng" algn="ctr">
                      <a:solidFill>
                        <a:srgbClr val="C9C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C9CCDB"/>
                      </a:solidFill>
                    </a:lnB>
                    <a:solidFill>
                      <a:srgbClr val="F2F3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1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MAR</a:t>
                      </a:r>
                    </a:p>
                  </a:txBody>
                  <a:tcPr marL="64008" marR="64008" marT="18288" marB="18288" anchor="ctr">
                    <a:lnT w="9525" cap="flat" cmpd="sng" algn="ctr">
                      <a:solidFill>
                        <a:srgbClr val="C9C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C9CCDB"/>
                      </a:solidFill>
                    </a:lnB>
                    <a:solidFill>
                      <a:srgbClr val="F2F3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1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24,5 %</a:t>
                      </a:r>
                    </a:p>
                  </a:txBody>
                  <a:tcPr marL="64008" marR="64008" marT="18288" marB="18288" anchor="ctr">
                    <a:lnT w="9525" cap="flat" cmpd="sng" algn="ctr">
                      <a:solidFill>
                        <a:srgbClr val="C9C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C9CCDB"/>
                      </a:solidFill>
                    </a:lnB>
                    <a:solidFill>
                      <a:srgbClr val="F2F3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1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−0,002</a:t>
                      </a:r>
                    </a:p>
                  </a:txBody>
                  <a:tcPr marL="64008" marR="64008" marT="18288" marB="18288" anchor="ctr">
                    <a:lnT w="9525" cap="flat" cmpd="sng" algn="ctr">
                      <a:solidFill>
                        <a:srgbClr val="C9C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C9CCDB"/>
                      </a:solidFill>
                    </a:lnB>
                    <a:solidFill>
                      <a:srgbClr val="F2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</a:pPr>
                      <a:r>
                        <a:rPr lang="es-CL" sz="11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log_matricula</a:t>
                      </a:r>
                    </a:p>
                  </a:txBody>
                  <a:tcPr marL="64008" marR="64008" marT="18288" marB="18288" anchor="ctr">
                    <a:lnT w="9525" cap="flat" cmpd="sng" algn="ctr">
                      <a:solidFill>
                        <a:srgbClr val="C9C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C9CC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1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MNAR</a:t>
                      </a:r>
                    </a:p>
                  </a:txBody>
                  <a:tcPr marL="64008" marR="64008" marT="18288" marB="18288" anchor="ctr">
                    <a:lnT w="9525" cap="flat" cmpd="sng" algn="ctr">
                      <a:solidFill>
                        <a:srgbClr val="C9C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C9CC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1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24,6 %</a:t>
                      </a:r>
                    </a:p>
                  </a:txBody>
                  <a:tcPr marL="64008" marR="64008" marT="18288" marB="18288" anchor="ctr">
                    <a:lnT w="9525" cap="flat" cmpd="sng" algn="ctr">
                      <a:solidFill>
                        <a:srgbClr val="C9C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C9CC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1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+0,129</a:t>
                      </a:r>
                    </a:p>
                  </a:txBody>
                  <a:tcPr marL="64008" marR="64008" marT="18288" marB="18288" anchor="ctr">
                    <a:lnT w="9525" cap="flat" cmpd="sng" algn="ctr">
                      <a:solidFill>
                        <a:srgbClr val="C9C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C9CC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1143000" y="3127248"/>
            <a:ext cx="50749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s-CL" sz="1500" b="0" i="0" dirty="0">
                <a:solidFill>
                  <a:srgbClr val="20236D"/>
                </a:solidFill>
              </a:rPr>
              <a:t>El problema</a:t>
            </a:r>
          </a:p>
          <a:p>
            <a:pPr algn="just">
              <a:spcBef>
                <a:spcPts val="400"/>
              </a:spcBef>
            </a:pPr>
            <a:r>
              <a:rPr lang="es-CL" sz="125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La pauta pide imputar datos faltantes y S1 demostró que no hay ninguno. El conjunto no los tuvo nunca: cada fila es un agregado por programa, y un programa sin los campos necesarios no produce una fila con huecos, no produce fila.</a:t>
            </a:r>
          </a:p>
          <a:p>
            <a:pPr algn="just">
              <a:spcBef>
                <a:spcPts val="800"/>
              </a:spcBef>
            </a:pPr>
            <a:r>
              <a:rPr lang="es-CL" sz="125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Solución: un experimento controlado de ausencia bajo los tres mecanismos de Rubin. La ventaja es decisiva, porque conocemos los valores verdaderos y podemos medir el error de cada estrategia.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1554480"/>
            <a:ext cx="406908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s-CL" sz="1500" b="0" i="0" dirty="0">
                <a:solidFill>
                  <a:srgbClr val="20236D"/>
                </a:solidFill>
              </a:rPr>
              <a:t>La lección, y no es la esperada</a:t>
            </a:r>
          </a:p>
          <a:p>
            <a:pPr marL="200025" indent="-200025" algn="just">
              <a:spcBef>
                <a:spcPts val="600"/>
              </a:spcBef>
              <a:buFont typeface="Arial"/>
              <a:buChar char="•"/>
            </a:pPr>
            <a:r>
              <a:rPr lang="es-CL" sz="125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Bajo </a:t>
            </a:r>
            <a:r>
              <a:rPr lang="es-CL" sz="1250" b="1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MNAR</a:t>
            </a:r>
            <a:r>
              <a:rPr lang="es-CL" sz="125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el sesgo es grande: faltan los programas pequeños y la media observada sobreestima el tamaño típico.</a:t>
            </a:r>
          </a:p>
          <a:p>
            <a:pPr marL="200025" indent="-200025" algn="just">
              <a:spcBef>
                <a:spcPts val="600"/>
              </a:spcBef>
              <a:buFont typeface="Arial"/>
              <a:buChar char="•"/>
            </a:pPr>
            <a:r>
              <a:rPr lang="es-CL" sz="125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Bajo </a:t>
            </a:r>
            <a:r>
              <a:rPr lang="es-CL" sz="1250" b="1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MAR</a:t>
            </a:r>
            <a:r>
              <a:rPr lang="es-CL" sz="125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el sesgo de la media es despreciable, porque la duración apenas correlaciona con la variable afectada.</a:t>
            </a:r>
          </a:p>
          <a:p>
            <a:pPr marL="200025" indent="-200025" algn="just">
              <a:spcBef>
                <a:spcPts val="600"/>
              </a:spcBef>
              <a:buFont typeface="Arial"/>
              <a:buChar char="•"/>
            </a:pPr>
            <a:r>
              <a:rPr lang="es-CL" sz="125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MAR no sesga necesariamente las medias; lo que distorsiona son las relaciones condicionales.</a:t>
            </a:r>
          </a:p>
          <a:p>
            <a:pPr algn="just">
              <a:spcBef>
                <a:spcPts val="1000"/>
              </a:spcBef>
            </a:pPr>
            <a:r>
              <a:rPr lang="es-CL" sz="1150" b="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La pauta prescribe una variable MCAR entre el 10 y el 15 %: es la edad promedio, con 14,9 % y semilla fija. MAR y MNAR los declaramos extensión voluntaria.</a:t>
            </a:r>
          </a:p>
        </p:txBody>
      </p:sp>
    </p:spTree>
    <p:extLst>
      <p:ext uri="{BB962C8B-B14F-4D97-AF65-F5344CB8AC3E}">
        <p14:creationId xmlns:p14="http://schemas.microsoft.com/office/powerpoint/2010/main" val="39851400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4EE738EC-B53A-ABCD-9FA6-598A4911906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69" r="7163"/>
          <a:stretch/>
        </p:blipFill>
        <p:spPr>
          <a:xfrm>
            <a:off x="6549030" y="-79378"/>
            <a:ext cx="5738628" cy="7016756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C6FFEBCA-443A-A485-8CB8-8F346C8CD519}"/>
              </a:ext>
            </a:extLst>
          </p:cNvPr>
          <p:cNvSpPr txBox="1"/>
          <p:nvPr/>
        </p:nvSpPr>
        <p:spPr>
          <a:xfrm>
            <a:off x="1069848" y="2377440"/>
            <a:ext cx="511149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lang="es-CL" sz="1500" b="0" i="0" dirty="0">
                <a:solidFill>
                  <a:srgbClr val="20236D"/>
                </a:solidFill>
              </a:rPr>
              <a:t>Hallazgos</a:t>
            </a:r>
          </a:p>
          <a:p>
            <a:pPr algn="l">
              <a:spcBef>
                <a:spcPts val="600"/>
              </a:spcBef>
            </a:pPr>
            <a:r>
              <a:rPr lang="es-CL" sz="3200" b="0" i="0" dirty="0">
                <a:solidFill>
                  <a:srgbClr val="20236D"/>
                </a:solidFill>
              </a:rPr>
              <a:t>Resultados</a:t>
            </a:r>
          </a:p>
          <a:p>
            <a:pPr algn="just">
              <a:spcBef>
                <a:spcPts val="1400"/>
              </a:spcBef>
            </a:pPr>
            <a:r>
              <a:rPr lang="es-CL" sz="160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Cuatro hallazgos: qué imputación gana, qué factores explican el abandono, qué tan bien se predice y cuánta precisión declarábamos de más.</a:t>
            </a:r>
          </a:p>
        </p:txBody>
      </p:sp>
      <p:grpSp>
        <p:nvGrpSpPr>
          <p:cNvPr id="8" name="Grupo 7">
            <a:extLst>
              <a:ext uri="{FF2B5EF4-FFF2-40B4-BE49-F238E27FC236}">
                <a16:creationId xmlns:a16="http://schemas.microsoft.com/office/drawing/2014/main" id="{6FF7A741-E6D2-4FDD-9F5C-9DDFC4954BAF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9" name="Rectángulo 8">
              <a:extLst>
                <a:ext uri="{FF2B5EF4-FFF2-40B4-BE49-F238E27FC236}">
                  <a16:creationId xmlns:a16="http://schemas.microsoft.com/office/drawing/2014/main" id="{2F27250F-C848-235D-E653-70F65D012EC5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2DCD665D-4AAC-4906-F154-2F2CC78C684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2" name="Título 1">
                <a:extLst>
                  <a:ext uri="{FF2B5EF4-FFF2-40B4-BE49-F238E27FC236}">
                    <a16:creationId xmlns:a16="http://schemas.microsoft.com/office/drawing/2014/main" id="{5D8FA4FE-7036-9B75-9BCB-90444AA1349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5" name="Imagen 14">
                <a:extLst>
                  <a:ext uri="{FF2B5EF4-FFF2-40B4-BE49-F238E27FC236}">
                    <a16:creationId xmlns:a16="http://schemas.microsoft.com/office/drawing/2014/main" id="{808F2274-5EBE-CD55-0C3D-3B5DC114D6E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9920937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2115681" y="648352"/>
            <a:ext cx="7665317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80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Resultado 1: la imputación por regresión gana en las tres dimensiones</a:t>
            </a:r>
          </a:p>
        </p:txBody>
      </p:sp>
      <p:pic>
        <p:nvPicPr>
          <p:cNvPr id="15" name="Picture 14" descr="fig1_estrategias_imputac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84248" y="1481328"/>
            <a:ext cx="8183879" cy="29415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93976" y="4572000"/>
            <a:ext cx="796442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just">
              <a:spcBef>
                <a:spcPts val="0"/>
              </a:spcBef>
            </a:pPr>
            <a:r>
              <a:rPr lang="es-CL" sz="130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Conserva el </a:t>
            </a:r>
            <a:r>
              <a:rPr lang="es-CL" sz="1300" b="1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100 % de la muestra</a:t>
            </a:r>
            <a:r>
              <a:rPr lang="es-CL" sz="130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frente al 47,5 % que deja la eliminación; su desvío respecto de las correlaciones de S1 es el menor de los tres (0,0135 contra 0,0183 y 0,0197); y su RMSE es menor en las tres variables. Pero bajo MNAR ninguna estrategia recupera lo perdido: el sesgo persiste.</a:t>
            </a:r>
          </a:p>
        </p:txBody>
      </p:sp>
    </p:spTree>
    <p:extLst>
      <p:ext uri="{BB962C8B-B14F-4D97-AF65-F5344CB8AC3E}">
        <p14:creationId xmlns:p14="http://schemas.microsoft.com/office/powerpoint/2010/main" val="39851400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2115681" y="648352"/>
            <a:ext cx="7665317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80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Resultado 2: cuatro factores, y los cuatro protegen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1188720" y="1554480"/>
          <a:ext cx="603504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52360" y="1554480"/>
            <a:ext cx="315468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s-CL" sz="1500" b="0" i="0" dirty="0">
                <a:solidFill>
                  <a:srgbClr val="20236D"/>
                </a:solidFill>
              </a:rPr>
              <a:t>Cómo se lee</a:t>
            </a:r>
          </a:p>
          <a:p>
            <a:pPr algn="just">
              <a:spcBef>
                <a:spcPts val="600"/>
              </a:spcBef>
            </a:pPr>
            <a:r>
              <a:rPr lang="es-CL" sz="125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Las variables están estandarizadas, así que cada razón de momios es el efecto de </a:t>
            </a:r>
            <a:r>
              <a:rPr lang="es-CL" sz="1250" b="1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una desviación típica</a:t>
            </a:r>
            <a:r>
              <a:rPr lang="es-CL" sz="125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 Un valor bajo 1 reduce el riesgo.</a:t>
            </a:r>
          </a:p>
          <a:p>
            <a:pPr algn="just">
              <a:spcBef>
                <a:spcPts val="800"/>
              </a:spcBef>
            </a:pPr>
            <a:r>
              <a:rPr lang="es-CL" sz="125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Una desviación típica más de acreditación, tamaño o presencia femenina reduce </a:t>
            </a:r>
            <a:r>
              <a:rPr lang="es-CL" sz="1250" b="1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entre un 24 % y un 37 %</a:t>
            </a:r>
            <a:r>
              <a:rPr lang="es-CL" sz="125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la probabilidad relativa de abandono alto.</a:t>
            </a:r>
          </a:p>
          <a:p>
            <a:pPr algn="just">
              <a:spcBef>
                <a:spcPts val="800"/>
              </a:spcBef>
            </a:pPr>
            <a:r>
              <a:rPr lang="es-CL" sz="125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Las cuatro son significativas al 0,1 %, y cada una entra al modelo con su cifra de S1 y su intervalo de S2.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983480"/>
            <a:ext cx="9418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lang="es-CL" sz="1300" b="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Las tres selecciones de variables (dominio, stepwise por AIC y reducida) retienen exactamente estas cuatro continuas.</a:t>
            </a:r>
          </a:p>
        </p:txBody>
      </p:sp>
    </p:spTree>
    <p:extLst>
      <p:ext uri="{BB962C8B-B14F-4D97-AF65-F5344CB8AC3E}">
        <p14:creationId xmlns:p14="http://schemas.microsoft.com/office/powerpoint/2010/main" val="39851400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2115681" y="648352"/>
            <a:ext cx="7665317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80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Resultado 3: la línea base manda, y el umbral más que la ponderación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143000" y="1481328"/>
          <a:ext cx="6172196" cy="149961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4905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45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45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627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627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</a:pPr>
                      <a:r>
                        <a:rPr lang="es-CL" sz="1100" b="1" i="0" dirty="0">
                          <a:solidFill>
                            <a:srgbClr val="FFFFFF"/>
                          </a:solidFill>
                        </a:rPr>
                        <a:t>Conjunto de prueba</a:t>
                      </a:r>
                    </a:p>
                  </a:txBody>
                  <a:tcPr marL="64008" marR="64008" marT="18288" marB="18288" anchor="ctr">
                    <a:solidFill>
                      <a:srgbClr val="20236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100" b="1" i="0" dirty="0">
                          <a:solidFill>
                            <a:srgbClr val="FFFFFF"/>
                          </a:solidFill>
                        </a:rPr>
                        <a:t>Exactitud</a:t>
                      </a:r>
                    </a:p>
                  </a:txBody>
                  <a:tcPr marL="64008" marR="64008" marT="18288" marB="18288" anchor="ctr">
                    <a:solidFill>
                      <a:srgbClr val="20236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100" b="1" i="0" dirty="0">
                          <a:solidFill>
                            <a:srgbClr val="FFFFFF"/>
                          </a:solidFill>
                        </a:rPr>
                        <a:t>Sensib.</a:t>
                      </a:r>
                    </a:p>
                  </a:txBody>
                  <a:tcPr marL="64008" marR="64008" marT="18288" marB="18288" anchor="ctr">
                    <a:solidFill>
                      <a:srgbClr val="20236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100" b="1" i="0" dirty="0">
                          <a:solidFill>
                            <a:srgbClr val="FFFFFF"/>
                          </a:solidFill>
                        </a:rPr>
                        <a:t>F1</a:t>
                      </a:r>
                    </a:p>
                  </a:txBody>
                  <a:tcPr marL="64008" marR="64008" marT="18288" marB="18288" anchor="ctr">
                    <a:solidFill>
                      <a:srgbClr val="20236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100" b="1" i="0" dirty="0">
                          <a:solidFill>
                            <a:srgbClr val="FFFFFF"/>
                          </a:solidFill>
                        </a:rPr>
                        <a:t>AUC</a:t>
                      </a:r>
                    </a:p>
                  </a:txBody>
                  <a:tcPr marL="64008" marR="64008" marT="18288" marB="18288" anchor="ctr">
                    <a:solidFill>
                      <a:srgbClr val="20236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</a:pPr>
                      <a:r>
                        <a:rPr lang="es-CL" sz="11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Línea base (siempre «alto»)</a:t>
                      </a:r>
                    </a:p>
                  </a:txBody>
                  <a:tcPr marL="64008" marR="64008" marT="18288" marB="18288" anchor="ctr">
                    <a:lnB w="9525" cap="flat">
                      <a:solidFill>
                        <a:srgbClr val="C9CC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1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0,549</a:t>
                      </a:r>
                    </a:p>
                  </a:txBody>
                  <a:tcPr marL="64008" marR="64008" marT="18288" marB="18288" anchor="ctr">
                    <a:lnB w="9525" cap="flat">
                      <a:solidFill>
                        <a:srgbClr val="C9CC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1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1,000</a:t>
                      </a:r>
                    </a:p>
                  </a:txBody>
                  <a:tcPr marL="64008" marR="64008" marT="18288" marB="18288" anchor="ctr">
                    <a:lnB w="9525" cap="flat">
                      <a:solidFill>
                        <a:srgbClr val="C9CC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1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0,709</a:t>
                      </a:r>
                    </a:p>
                  </a:txBody>
                  <a:tcPr marL="64008" marR="64008" marT="18288" marB="18288" anchor="ctr">
                    <a:lnB w="9525" cap="flat">
                      <a:solidFill>
                        <a:srgbClr val="C9CC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1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0,500</a:t>
                      </a:r>
                    </a:p>
                  </a:txBody>
                  <a:tcPr marL="64008" marR="64008" marT="18288" marB="18288" anchor="ctr">
                    <a:lnB w="9525" cap="flat">
                      <a:solidFill>
                        <a:srgbClr val="C9CC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</a:pPr>
                      <a:r>
                        <a:rPr lang="es-CL" sz="11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M1, umbral 0,50</a:t>
                      </a:r>
                    </a:p>
                  </a:txBody>
                  <a:tcPr marL="64008" marR="64008" marT="18288" marB="18288" anchor="ctr">
                    <a:lnT w="9525" cap="flat" cmpd="sng" algn="ctr">
                      <a:solidFill>
                        <a:srgbClr val="C9C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C9CCDB"/>
                      </a:solidFill>
                    </a:lnB>
                    <a:solidFill>
                      <a:srgbClr val="F2F3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1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0,678</a:t>
                      </a:r>
                    </a:p>
                  </a:txBody>
                  <a:tcPr marL="64008" marR="64008" marT="18288" marB="18288" anchor="ctr">
                    <a:lnT w="9525" cap="flat" cmpd="sng" algn="ctr">
                      <a:solidFill>
                        <a:srgbClr val="C9C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C9CCDB"/>
                      </a:solidFill>
                    </a:lnB>
                    <a:solidFill>
                      <a:srgbClr val="F2F3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1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0,754</a:t>
                      </a:r>
                    </a:p>
                  </a:txBody>
                  <a:tcPr marL="64008" marR="64008" marT="18288" marB="18288" anchor="ctr">
                    <a:lnT w="9525" cap="flat" cmpd="sng" algn="ctr">
                      <a:solidFill>
                        <a:srgbClr val="C9C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C9CCDB"/>
                      </a:solidFill>
                    </a:lnB>
                    <a:solidFill>
                      <a:srgbClr val="F2F3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1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0,720</a:t>
                      </a:r>
                    </a:p>
                  </a:txBody>
                  <a:tcPr marL="64008" marR="64008" marT="18288" marB="18288" anchor="ctr">
                    <a:lnT w="9525" cap="flat" cmpd="sng" algn="ctr">
                      <a:solidFill>
                        <a:srgbClr val="C9C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C9CCDB"/>
                      </a:solidFill>
                    </a:lnB>
                    <a:solidFill>
                      <a:srgbClr val="F2F3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1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0,730</a:t>
                      </a:r>
                    </a:p>
                  </a:txBody>
                  <a:tcPr marL="64008" marR="64008" marT="18288" marB="18288" anchor="ctr">
                    <a:lnT w="9525" cap="flat" cmpd="sng" algn="ctr">
                      <a:solidFill>
                        <a:srgbClr val="C9C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C9CCDB"/>
                      </a:solidFill>
                    </a:lnB>
                    <a:solidFill>
                      <a:srgbClr val="F2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</a:pPr>
                      <a:r>
                        <a:rPr lang="es-CL" sz="11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M1 con ponderación de clase</a:t>
                      </a:r>
                    </a:p>
                  </a:txBody>
                  <a:tcPr marL="64008" marR="64008" marT="18288" marB="18288" anchor="ctr">
                    <a:lnT w="9525" cap="flat" cmpd="sng" algn="ctr">
                      <a:solidFill>
                        <a:srgbClr val="C9C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C9CC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1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0,664</a:t>
                      </a:r>
                    </a:p>
                  </a:txBody>
                  <a:tcPr marL="64008" marR="64008" marT="18288" marB="18288" anchor="ctr">
                    <a:lnT w="9525" cap="flat" cmpd="sng" algn="ctr">
                      <a:solidFill>
                        <a:srgbClr val="C9C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C9CC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1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0,674</a:t>
                      </a:r>
                    </a:p>
                  </a:txBody>
                  <a:tcPr marL="64008" marR="64008" marT="18288" marB="18288" anchor="ctr">
                    <a:lnT w="9525" cap="flat" cmpd="sng" algn="ctr">
                      <a:solidFill>
                        <a:srgbClr val="C9C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C9CC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1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0,688</a:t>
                      </a:r>
                    </a:p>
                  </a:txBody>
                  <a:tcPr marL="64008" marR="64008" marT="18288" marB="18288" anchor="ctr">
                    <a:lnT w="9525" cap="flat" cmpd="sng" algn="ctr">
                      <a:solidFill>
                        <a:srgbClr val="C9C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C9CC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1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0,730</a:t>
                      </a:r>
                    </a:p>
                  </a:txBody>
                  <a:tcPr marL="64008" marR="64008" marT="18288" marB="18288" anchor="ctr">
                    <a:lnT w="9525" cap="flat" cmpd="sng" algn="ctr">
                      <a:solidFill>
                        <a:srgbClr val="C9C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C9CC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</a:pPr>
                      <a:r>
                        <a:rPr lang="es-CL" sz="11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M1, umbral 0,418</a:t>
                      </a:r>
                    </a:p>
                  </a:txBody>
                  <a:tcPr marL="64008" marR="64008" marT="18288" marB="18288" anchor="ctr">
                    <a:lnT w="9525" cap="flat" cmpd="sng" algn="ctr">
                      <a:solidFill>
                        <a:srgbClr val="C9C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C9CCDB"/>
                      </a:solidFill>
                    </a:lnB>
                    <a:solidFill>
                      <a:srgbClr val="F2F3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1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0,672</a:t>
                      </a:r>
                    </a:p>
                  </a:txBody>
                  <a:tcPr marL="64008" marR="64008" marT="18288" marB="18288" anchor="ctr">
                    <a:lnT w="9525" cap="flat" cmpd="sng" algn="ctr">
                      <a:solidFill>
                        <a:srgbClr val="C9C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C9CCDB"/>
                      </a:solidFill>
                    </a:lnB>
                    <a:solidFill>
                      <a:srgbClr val="F2F3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1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0,850</a:t>
                      </a:r>
                    </a:p>
                  </a:txBody>
                  <a:tcPr marL="64008" marR="64008" marT="18288" marB="18288" anchor="ctr">
                    <a:lnT w="9525" cap="flat" cmpd="sng" algn="ctr">
                      <a:solidFill>
                        <a:srgbClr val="C9C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C9CCDB"/>
                      </a:solidFill>
                    </a:lnB>
                    <a:solidFill>
                      <a:srgbClr val="F2F3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1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0,740</a:t>
                      </a:r>
                    </a:p>
                  </a:txBody>
                  <a:tcPr marL="64008" marR="64008" marT="18288" marB="18288" anchor="ctr">
                    <a:lnT w="9525" cap="flat" cmpd="sng" algn="ctr">
                      <a:solidFill>
                        <a:srgbClr val="C9C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C9CCDB"/>
                      </a:solidFill>
                    </a:lnB>
                    <a:solidFill>
                      <a:srgbClr val="F2F3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1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0,730</a:t>
                      </a:r>
                    </a:p>
                  </a:txBody>
                  <a:tcPr marL="64008" marR="64008" marT="18288" marB="18288" anchor="ctr">
                    <a:lnT w="9525" cap="flat" cmpd="sng" algn="ctr">
                      <a:solidFill>
                        <a:srgbClr val="C9C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C9CCDB"/>
                      </a:solidFill>
                    </a:lnB>
                    <a:solidFill>
                      <a:srgbClr val="F2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1143000" y="3291840"/>
            <a:ext cx="61722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s-CL" sz="1500" b="0" i="0" dirty="0">
                <a:solidFill>
                  <a:srgbClr val="20236D"/>
                </a:solidFill>
              </a:rPr>
              <a:t>Tres lecturas</a:t>
            </a:r>
          </a:p>
          <a:p>
            <a:pPr marL="200025" indent="-200025" algn="just">
              <a:spcBef>
                <a:spcPts val="600"/>
              </a:spcBef>
              <a:buFont typeface="Arial"/>
              <a:buChar char="•"/>
            </a:pPr>
            <a:r>
              <a:rPr lang="es-CL" sz="125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Sin línea base nada significa: en un conjunto 55/45, acertar la mitad es gratis. La ganancia real es el AUC, de 0,500 a 0,730.</a:t>
            </a:r>
          </a:p>
          <a:p>
            <a:pPr marL="200025" indent="-200025" algn="just">
              <a:spcBef>
                <a:spcPts val="600"/>
              </a:spcBef>
              <a:buFont typeface="Arial"/>
              <a:buChar char="•"/>
            </a:pPr>
            <a:r>
              <a:rPr lang="es-CL" sz="125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La ponderación de clase </a:t>
            </a:r>
            <a:r>
              <a:rPr lang="es-CL" sz="1250" b="1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baja</a:t>
            </a:r>
            <a:r>
              <a:rPr lang="es-CL" sz="125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la sensibilidad ocho puntos, porque aquí la clase positiva es la mayoritaria.</a:t>
            </a:r>
          </a:p>
          <a:p>
            <a:pPr marL="200025" indent="-200025" algn="just">
              <a:spcBef>
                <a:spcPts val="600"/>
              </a:spcBef>
              <a:buFont typeface="Arial"/>
              <a:buChar char="•"/>
            </a:pPr>
            <a:r>
              <a:rPr lang="es-CL" sz="125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Bajar el umbral a 0,418 la sube a 0,850 y da el mejor F1 de todas las configuraciones.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481328"/>
            <a:ext cx="301752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s-CL" sz="1500" b="0" i="0" dirty="0">
                <a:solidFill>
                  <a:srgbClr val="20236D"/>
                </a:solidFill>
              </a:rPr>
              <a:t>Por qué se invierte</a:t>
            </a:r>
          </a:p>
          <a:p>
            <a:pPr algn="just">
              <a:spcBef>
                <a:spcPts val="600"/>
              </a:spcBef>
            </a:pPr>
            <a:r>
              <a:rPr lang="es-CL" sz="125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La ponderación equilibrada rebaja el peso de la clase mayoritaria. El recetario «ponderar sube el recall» supone que la positiva es la minoritaria.</a:t>
            </a:r>
          </a:p>
          <a:p>
            <a:pPr algn="just">
              <a:spcBef>
                <a:spcPts val="800"/>
              </a:spcBef>
            </a:pPr>
            <a:r>
              <a:rPr lang="es-CL" sz="125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Aquí la positiva es «abandono alto», con </a:t>
            </a:r>
            <a:r>
              <a:rPr lang="es-CL" sz="1250" b="1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54,9 %</a:t>
            </a:r>
            <a:r>
              <a:rPr lang="es-CL" sz="125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 Los pesos quedan en 0,910 y 1,110 y el efecto se da vuelta.</a:t>
            </a:r>
          </a:p>
          <a:p>
            <a:pPr algn="just">
              <a:spcBef>
                <a:spcPts val="800"/>
              </a:spcBef>
            </a:pPr>
            <a:r>
              <a:rPr lang="es-CL" sz="125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El AUC no se mueve en ninguna configuración: ninguna palanca cambia el orden de las probabilidades, solo el punto de corte.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532120"/>
            <a:ext cx="9509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lang="es-CL" sz="1250" b="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Los tres modelos rinden casi igual en prueba, con AUC de 0,712 a 0,733: la decisión del umbral pesa más que la elección entre ellos.</a:t>
            </a:r>
          </a:p>
        </p:txBody>
      </p:sp>
    </p:spTree>
    <p:extLst>
      <p:ext uri="{BB962C8B-B14F-4D97-AF65-F5344CB8AC3E}">
        <p14:creationId xmlns:p14="http://schemas.microsoft.com/office/powerpoint/2010/main" val="39851400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2115681" y="648352"/>
            <a:ext cx="7665317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80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Resultado 4: dos bootstraps que responden preguntas distintas</a:t>
            </a:r>
          </a:p>
        </p:txBody>
      </p:sp>
      <p:pic>
        <p:nvPicPr>
          <p:cNvPr id="15" name="Picture 14" descr="fig3_bootstrap_coeficient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84248" y="1463040"/>
            <a:ext cx="8183879" cy="281599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93976" y="4480560"/>
            <a:ext cx="3840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s-CL" sz="1400" b="0" i="0" dirty="0">
                <a:solidFill>
                  <a:srgbClr val="20236D"/>
                </a:solidFill>
              </a:rPr>
              <a:t>Remuestreando observaciones</a:t>
            </a:r>
          </a:p>
          <a:p>
            <a:pPr algn="just">
              <a:spcBef>
                <a:spcPts val="400"/>
              </a:spcBef>
            </a:pPr>
            <a:r>
              <a:rPr lang="es-CL" sz="125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Los intervalos reproducen los clásicos: razón 1,00 a 1,12. La precisión declarada es correcta.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4480560"/>
            <a:ext cx="3840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s-CL" sz="1400" b="0" i="0" dirty="0">
                <a:solidFill>
                  <a:srgbClr val="20236D"/>
                </a:solidFill>
              </a:rPr>
              <a:t>Remuestreando instituciones</a:t>
            </a:r>
          </a:p>
          <a:p>
            <a:pPr algn="just">
              <a:spcBef>
                <a:spcPts val="400"/>
              </a:spcBef>
            </a:pPr>
            <a:r>
              <a:rPr lang="es-CL" sz="125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 ensanchan entre </a:t>
            </a:r>
            <a:r>
              <a:rPr lang="es-CL" sz="1250" b="1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1,62 y 3,01 veces</a:t>
            </a:r>
            <a:r>
              <a:rPr lang="es-CL" sz="125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y siete de veinte coeficientes pierden el signo.</a:t>
            </a:r>
          </a:p>
        </p:txBody>
      </p:sp>
    </p:spTree>
    <p:extLst>
      <p:ext uri="{BB962C8B-B14F-4D97-AF65-F5344CB8AC3E}">
        <p14:creationId xmlns:p14="http://schemas.microsoft.com/office/powerpoint/2010/main" val="39851400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2115681" y="648352"/>
            <a:ext cx="7665317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80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Lo que el diagnóstico no deja pasar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143000" y="1481328"/>
          <a:ext cx="5486400" cy="149961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72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84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</a:pPr>
                      <a:r>
                        <a:rPr lang="es-CL" sz="1100" b="1" i="0" dirty="0">
                          <a:solidFill>
                            <a:srgbClr val="FFFFFF"/>
                          </a:solidFill>
                        </a:rPr>
                        <a:t>Variable continua</a:t>
                      </a:r>
                    </a:p>
                  </a:txBody>
                  <a:tcPr marL="64008" marR="64008" marT="18288" marB="18288" anchor="ctr">
                    <a:solidFill>
                      <a:srgbClr val="20236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100" b="1" i="0" dirty="0">
                          <a:solidFill>
                            <a:srgbClr val="FFFFFF"/>
                          </a:solidFill>
                        </a:rPr>
                        <a:t>VIF</a:t>
                      </a:r>
                    </a:p>
                  </a:txBody>
                  <a:tcPr marL="64008" marR="64008" marT="18288" marB="18288" anchor="ctr">
                    <a:solidFill>
                      <a:srgbClr val="20236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100" b="1" i="0" dirty="0">
                          <a:solidFill>
                            <a:srgbClr val="FFFFFF"/>
                          </a:solidFill>
                        </a:rPr>
                        <a:t>Box-Tidwell</a:t>
                      </a:r>
                    </a:p>
                  </a:txBody>
                  <a:tcPr marL="64008" marR="64008" marT="18288" marB="18288" anchor="ctr">
                    <a:solidFill>
                      <a:srgbClr val="20236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100" b="1" i="0" dirty="0">
                          <a:solidFill>
                            <a:srgbClr val="FFFFFF"/>
                          </a:solidFill>
                        </a:rPr>
                        <a:t>Linealidad en el logit</a:t>
                      </a:r>
                    </a:p>
                  </a:txBody>
                  <a:tcPr marL="64008" marR="64008" marT="18288" marB="18288" anchor="ctr">
                    <a:solidFill>
                      <a:srgbClr val="20236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</a:pPr>
                      <a:r>
                        <a:rPr lang="es-CL" sz="11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carrera_acreditada</a:t>
                      </a:r>
                    </a:p>
                  </a:txBody>
                  <a:tcPr marL="64008" marR="64008" marT="18288" marB="18288" anchor="ctr">
                    <a:lnB w="9525" cap="flat">
                      <a:solidFill>
                        <a:srgbClr val="C9CC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1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1,21</a:t>
                      </a:r>
                    </a:p>
                  </a:txBody>
                  <a:tcPr marL="64008" marR="64008" marT="18288" marB="18288" anchor="ctr">
                    <a:lnB w="9525" cap="flat">
                      <a:solidFill>
                        <a:srgbClr val="C9CC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1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&lt; 0,001</a:t>
                      </a:r>
                    </a:p>
                  </a:txBody>
                  <a:tcPr marL="64008" marR="64008" marT="18288" marB="18288" anchor="ctr">
                    <a:lnB w="9525" cap="flat">
                      <a:solidFill>
                        <a:srgbClr val="C9CC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1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No lineal</a:t>
                      </a:r>
                    </a:p>
                  </a:txBody>
                  <a:tcPr marL="64008" marR="64008" marT="18288" marB="18288" anchor="ctr">
                    <a:lnB w="9525" cap="flat">
                      <a:solidFill>
                        <a:srgbClr val="C9CC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</a:pPr>
                      <a:r>
                        <a:rPr lang="es-CL" sz="11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inst_acreditada</a:t>
                      </a:r>
                    </a:p>
                  </a:txBody>
                  <a:tcPr marL="64008" marR="64008" marT="18288" marB="18288" anchor="ctr">
                    <a:lnT w="9525" cap="flat" cmpd="sng" algn="ctr">
                      <a:solidFill>
                        <a:srgbClr val="C9C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C9CCDB"/>
                      </a:solidFill>
                    </a:lnB>
                    <a:solidFill>
                      <a:srgbClr val="F2F3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1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1,13</a:t>
                      </a:r>
                    </a:p>
                  </a:txBody>
                  <a:tcPr marL="64008" marR="64008" marT="18288" marB="18288" anchor="ctr">
                    <a:lnT w="9525" cap="flat" cmpd="sng" algn="ctr">
                      <a:solidFill>
                        <a:srgbClr val="C9C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C9CCDB"/>
                      </a:solidFill>
                    </a:lnB>
                    <a:solidFill>
                      <a:srgbClr val="F2F3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1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&lt; 0,001</a:t>
                      </a:r>
                    </a:p>
                  </a:txBody>
                  <a:tcPr marL="64008" marR="64008" marT="18288" marB="18288" anchor="ctr">
                    <a:lnT w="9525" cap="flat" cmpd="sng" algn="ctr">
                      <a:solidFill>
                        <a:srgbClr val="C9C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C9CCDB"/>
                      </a:solidFill>
                    </a:lnB>
                    <a:solidFill>
                      <a:srgbClr val="F2F3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1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No lineal</a:t>
                      </a:r>
                    </a:p>
                  </a:txBody>
                  <a:tcPr marL="64008" marR="64008" marT="18288" marB="18288" anchor="ctr">
                    <a:lnT w="9525" cap="flat" cmpd="sng" algn="ctr">
                      <a:solidFill>
                        <a:srgbClr val="C9C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C9CCDB"/>
                      </a:solidFill>
                    </a:lnB>
                    <a:solidFill>
                      <a:srgbClr val="F2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</a:pPr>
                      <a:r>
                        <a:rPr lang="es-CL" sz="11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log_matricula</a:t>
                      </a:r>
                    </a:p>
                  </a:txBody>
                  <a:tcPr marL="64008" marR="64008" marT="18288" marB="18288" anchor="ctr">
                    <a:lnT w="9525" cap="flat" cmpd="sng" algn="ctr">
                      <a:solidFill>
                        <a:srgbClr val="C9C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C9CC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1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1,12</a:t>
                      </a:r>
                    </a:p>
                  </a:txBody>
                  <a:tcPr marL="64008" marR="64008" marT="18288" marB="18288" anchor="ctr">
                    <a:lnT w="9525" cap="flat" cmpd="sng" algn="ctr">
                      <a:solidFill>
                        <a:srgbClr val="C9C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C9CC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1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0,369</a:t>
                      </a:r>
                    </a:p>
                  </a:txBody>
                  <a:tcPr marL="64008" marR="64008" marT="18288" marB="18288" anchor="ctr">
                    <a:lnT w="9525" cap="flat" cmpd="sng" algn="ctr">
                      <a:solidFill>
                        <a:srgbClr val="C9C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C9CC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1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Lineal</a:t>
                      </a:r>
                    </a:p>
                  </a:txBody>
                  <a:tcPr marL="64008" marR="64008" marT="18288" marB="18288" anchor="ctr">
                    <a:lnT w="9525" cap="flat" cmpd="sng" algn="ctr">
                      <a:solidFill>
                        <a:srgbClr val="C9C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C9CC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</a:pPr>
                      <a:r>
                        <a:rPr lang="es-CL" sz="11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pct_mujeres</a:t>
                      </a:r>
                    </a:p>
                  </a:txBody>
                  <a:tcPr marL="64008" marR="64008" marT="18288" marB="18288" anchor="ctr">
                    <a:lnT w="9525" cap="flat" cmpd="sng" algn="ctr">
                      <a:solidFill>
                        <a:srgbClr val="C9C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C9CCDB"/>
                      </a:solidFill>
                    </a:lnB>
                    <a:solidFill>
                      <a:srgbClr val="F2F3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1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1,03</a:t>
                      </a:r>
                    </a:p>
                  </a:txBody>
                  <a:tcPr marL="64008" marR="64008" marT="18288" marB="18288" anchor="ctr">
                    <a:lnT w="9525" cap="flat" cmpd="sng" algn="ctr">
                      <a:solidFill>
                        <a:srgbClr val="C9C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C9CCDB"/>
                      </a:solidFill>
                    </a:lnB>
                    <a:solidFill>
                      <a:srgbClr val="F2F3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100" b="0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&lt; 0,001</a:t>
                      </a:r>
                    </a:p>
                  </a:txBody>
                  <a:tcPr marL="64008" marR="64008" marT="18288" marB="18288" anchor="ctr">
                    <a:lnT w="9525" cap="flat" cmpd="sng" algn="ctr">
                      <a:solidFill>
                        <a:srgbClr val="C9C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C9CCDB"/>
                      </a:solidFill>
                    </a:lnB>
                    <a:solidFill>
                      <a:srgbClr val="F2F3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</a:pPr>
                      <a:r>
                        <a:rPr lang="es-CL" sz="1100" b="1" i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No lineal</a:t>
                      </a:r>
                    </a:p>
                  </a:txBody>
                  <a:tcPr marL="64008" marR="64008" marT="18288" marB="18288" anchor="ctr">
                    <a:lnT w="9525" cap="flat" cmpd="sng" algn="ctr">
                      <a:solidFill>
                        <a:srgbClr val="C9CC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C9CCDB"/>
                      </a:solidFill>
                    </a:lnB>
                    <a:solidFill>
                      <a:srgbClr val="F2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1143000" y="3291840"/>
            <a:ext cx="54864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s-CL" sz="1500" b="0" i="0" dirty="0">
                <a:solidFill>
                  <a:srgbClr val="20236D"/>
                </a:solidFill>
              </a:rPr>
              <a:t>Dos límites reales</a:t>
            </a:r>
          </a:p>
          <a:p>
            <a:pPr algn="just">
              <a:spcBef>
                <a:spcPts val="600"/>
              </a:spcBef>
            </a:pPr>
            <a:r>
              <a:rPr lang="es-CL" sz="1250" b="1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Linealidad en el logit.</a:t>
            </a:r>
            <a:r>
              <a:rPr lang="es-CL" sz="125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Box-Tidwell la rechaza en tres de las cuatro variables continuas. El modelo lineal es una aproximación y los efectos son promedios, no uniformes.</a:t>
            </a:r>
          </a:p>
          <a:p>
            <a:pPr algn="just">
              <a:spcBef>
                <a:spcPts val="800"/>
              </a:spcBef>
            </a:pPr>
            <a:r>
              <a:rPr lang="es-CL" sz="1250" b="1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Observaciones influyentes.</a:t>
            </a:r>
            <a:r>
              <a:rPr lang="es-CL" sz="125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Ninguna domina: la distancia de Cook máxima es 0,0095. Pero retirar en bloque las 237 que superan 4/n mueve el coeficiente de la acreditación institucional un 87,7 %.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481328"/>
            <a:ext cx="365760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s-CL" sz="1500" b="0" i="0" dirty="0">
                <a:solidFill>
                  <a:srgbClr val="20236D"/>
                </a:solidFill>
              </a:rPr>
              <a:t>Lo que queda tranquilo</a:t>
            </a:r>
          </a:p>
          <a:p>
            <a:pPr marL="200025" indent="-200025" algn="just">
              <a:spcBef>
                <a:spcPts val="600"/>
              </a:spcBef>
              <a:buFont typeface="Arial"/>
              <a:buChar char="•"/>
            </a:pPr>
            <a:r>
              <a:rPr lang="es-CL" sz="1250" b="1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Colinealidad:</a:t>
            </a:r>
            <a:r>
              <a:rPr lang="es-CL" sz="125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los cuatro VIF por debajo de 1,21, lejos del umbral de 5.</a:t>
            </a:r>
          </a:p>
          <a:p>
            <a:pPr marL="200025" indent="-200025" algn="just">
              <a:spcBef>
                <a:spcPts val="600"/>
              </a:spcBef>
              <a:buFont typeface="Arial"/>
              <a:buChar char="•"/>
            </a:pPr>
            <a:r>
              <a:rPr lang="es-CL" sz="1250" b="1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Calibración:</a:t>
            </a:r>
            <a:r>
              <a:rPr lang="es-CL" sz="125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la probabilidad predicha sigue la frecuencia observada por deciles.</a:t>
            </a:r>
          </a:p>
          <a:p>
            <a:pPr marL="200025" indent="-200025" algn="just">
              <a:spcBef>
                <a:spcPts val="600"/>
              </a:spcBef>
              <a:buFont typeface="Arial"/>
              <a:buChar char="•"/>
            </a:pPr>
            <a:r>
              <a:rPr lang="es-CL" sz="1250" b="1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Residuos:</a:t>
            </a:r>
            <a:r>
              <a:rPr lang="es-CL" sz="125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solo 28 de 6.774 con |r| &gt; 3, el 0,41 %.</a:t>
            </a:r>
          </a:p>
          <a:p>
            <a:pPr algn="just">
              <a:spcBef>
                <a:spcPts val="1200"/>
              </a:spcBef>
            </a:pPr>
            <a:r>
              <a:rPr lang="es-CL" sz="1150" b="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La acreditación institucional es la variable de mayor efecto y la de menor solidez: es también la que más se ensancha al remuestrear por institución.</a:t>
            </a:r>
          </a:p>
        </p:txBody>
      </p:sp>
    </p:spTree>
    <p:extLst>
      <p:ext uri="{BB962C8B-B14F-4D97-AF65-F5344CB8AC3E}">
        <p14:creationId xmlns:p14="http://schemas.microsoft.com/office/powerpoint/2010/main" val="39851400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>
            <a:extLst>
              <a:ext uri="{FF2B5EF4-FFF2-40B4-BE49-F238E27FC236}">
                <a16:creationId xmlns:a16="http://schemas.microsoft.com/office/drawing/2014/main" id="{FEC22D5A-3C23-5016-41A3-8B5BC274D0E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FFBF986-AD27-9A41-A79D-69D10AD09B01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13" name="Grupo 12">
              <a:extLst>
                <a:ext uri="{FF2B5EF4-FFF2-40B4-BE49-F238E27FC236}">
                  <a16:creationId xmlns:a16="http://schemas.microsoft.com/office/drawing/2014/main" id="{28CDD850-5646-4AD6-8B5A-F8F5CBE1C7E8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EF66A722-3A5E-9405-F29C-D5E1DF85B86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6" name="Imagen 15">
                <a:extLst>
                  <a:ext uri="{FF2B5EF4-FFF2-40B4-BE49-F238E27FC236}">
                    <a16:creationId xmlns:a16="http://schemas.microsoft.com/office/drawing/2014/main" id="{9F5C1299-86B3-B30B-CD51-74C83AFEF5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8" name="CuadroTexto 7">
            <a:extLst>
              <a:ext uri="{FF2B5EF4-FFF2-40B4-BE49-F238E27FC236}">
                <a16:creationId xmlns:a16="http://schemas.microsoft.com/office/drawing/2014/main" id="{C2367F09-C3D0-E580-1228-D790B7E13002}"/>
              </a:ext>
            </a:extLst>
          </p:cNvPr>
          <p:cNvSpPr txBox="1"/>
          <p:nvPr/>
        </p:nvSpPr>
        <p:spPr>
          <a:xfrm>
            <a:off x="1325880" y="1691640"/>
            <a:ext cx="42976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lang="es-CL" sz="1500" b="0" i="0" dirty="0">
                <a:solidFill>
                  <a:srgbClr val="20236D"/>
                </a:solidFill>
              </a:rPr>
              <a:t>SÍ PERMITE AFIRMAR</a:t>
            </a:r>
          </a:p>
          <a:p>
            <a:pPr marL="200025" indent="-200025" algn="just">
              <a:spcBef>
                <a:spcPts val="800"/>
              </a:spcBef>
              <a:buFont typeface="Arial"/>
              <a:buChar char="•"/>
            </a:pPr>
            <a:r>
              <a:rPr lang="es-CL" sz="130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El abandono aparente se asocia de forma robusta con la acreditación, el tamaño y la composición de género del programa.</a:t>
            </a:r>
          </a:p>
          <a:p>
            <a:pPr marL="200025" indent="-200025" algn="just">
              <a:spcBef>
                <a:spcPts val="800"/>
              </a:spcBef>
              <a:buFont typeface="Arial"/>
              <a:buChar char="•"/>
            </a:pPr>
            <a:r>
              <a:rPr lang="es-CL" sz="130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El modelo discrimina claramente mejor que el azar y suma casi trece puntos de exactitud sobre la línea base.</a:t>
            </a:r>
          </a:p>
          <a:p>
            <a:pPr marL="200025" indent="-200025" algn="just">
              <a:spcBef>
                <a:spcPts val="800"/>
              </a:spcBef>
              <a:buFont typeface="Arial"/>
              <a:buChar char="•"/>
            </a:pPr>
            <a:r>
              <a:rPr lang="es-CL" sz="130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Las cuatro variables que lo sostienen son las mismas que resistieron el remuestreo en S2.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6448D6FB-F375-29BE-C296-B67DB9A18606}"/>
              </a:ext>
            </a:extLst>
          </p:cNvPr>
          <p:cNvSpPr/>
          <p:nvPr/>
        </p:nvSpPr>
        <p:spPr>
          <a:xfrm rot="16200000">
            <a:off x="4828032" y="2857500"/>
            <a:ext cx="2560320" cy="45720"/>
          </a:xfrm>
          <a:prstGeom prst="rect">
            <a:avLst/>
          </a:prstGeom>
          <a:solidFill>
            <a:schemeClr val="bg1">
              <a:lumMod val="85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271A28B1-078C-167A-05FF-22C362B423AF}"/>
              </a:ext>
            </a:extLst>
          </p:cNvPr>
          <p:cNvSpPr/>
          <p:nvPr/>
        </p:nvSpPr>
        <p:spPr>
          <a:xfrm>
            <a:off x="1463041" y="648352"/>
            <a:ext cx="8591812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80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Lo que el proyecto permite afirmar, y lo que no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B21BE484-1B8A-C467-7B63-8768B0E64AD2}"/>
              </a:ext>
            </a:extLst>
          </p:cNvPr>
          <p:cNvSpPr txBox="1"/>
          <p:nvPr/>
        </p:nvSpPr>
        <p:spPr>
          <a:xfrm>
            <a:off x="6583680" y="1691640"/>
            <a:ext cx="42976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lang="es-CL" sz="1500" b="0" i="0" dirty="0">
                <a:solidFill>
                  <a:srgbClr val="20236D"/>
                </a:solidFill>
              </a:rPr>
              <a:t>NO PERMITE AFIRMAR</a:t>
            </a:r>
          </a:p>
          <a:p>
            <a:pPr marL="200025" indent="-200025" algn="just">
              <a:spcBef>
                <a:spcPts val="800"/>
              </a:spcBef>
              <a:buFont typeface="Arial"/>
              <a:buChar char="•"/>
            </a:pPr>
            <a:r>
              <a:rPr lang="es-CL" sz="130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Nada sobre estudiantes individuales: la unidad de análisis es el programa.</a:t>
            </a:r>
          </a:p>
          <a:p>
            <a:pPr marL="200025" indent="-200025" algn="just">
              <a:spcBef>
                <a:spcPts val="800"/>
              </a:spcBef>
              <a:buFont typeface="Arial"/>
              <a:buChar char="•"/>
            </a:pPr>
            <a:r>
              <a:rPr lang="es-CL" sz="130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Nada sobre causas: no hay grupo de control ni variación exógena.</a:t>
            </a:r>
          </a:p>
          <a:p>
            <a:pPr marL="200025" indent="-200025" algn="just">
              <a:spcBef>
                <a:spcPts val="800"/>
              </a:spcBef>
              <a:buFont typeface="Arial"/>
              <a:buChar char="•"/>
            </a:pPr>
            <a:r>
              <a:rPr lang="es-CL" sz="130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Nada sobre el abandono real: lo medido es aparente.</a:t>
            </a:r>
          </a:p>
          <a:p>
            <a:pPr marL="200025" indent="-200025" algn="just">
              <a:spcBef>
                <a:spcPts val="800"/>
              </a:spcBef>
              <a:buFont typeface="Arial"/>
              <a:buChar char="•"/>
            </a:pPr>
            <a:r>
              <a:rPr lang="es-CL" sz="130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Nada firme sobre los efectos categóricos: al remuestrear por institución, siete de veinte pierden el signo.</a:t>
            </a:r>
          </a:p>
        </p:txBody>
      </p:sp>
    </p:spTree>
    <p:extLst>
      <p:ext uri="{BB962C8B-B14F-4D97-AF65-F5344CB8AC3E}">
        <p14:creationId xmlns:p14="http://schemas.microsoft.com/office/powerpoint/2010/main" val="35541310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>
            <a:extLst>
              <a:ext uri="{FF2B5EF4-FFF2-40B4-BE49-F238E27FC236}">
                <a16:creationId xmlns:a16="http://schemas.microsoft.com/office/drawing/2014/main" id="{FEC22D5A-3C23-5016-41A3-8B5BC274D0E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FFBF986-AD27-9A41-A79D-69D10AD09B01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13" name="Grupo 12">
              <a:extLst>
                <a:ext uri="{FF2B5EF4-FFF2-40B4-BE49-F238E27FC236}">
                  <a16:creationId xmlns:a16="http://schemas.microsoft.com/office/drawing/2014/main" id="{28CDD850-5646-4AD6-8B5A-F8F5CBE1C7E8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EF66A722-3A5E-9405-F29C-D5E1DF85B86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6" name="Imagen 15">
                <a:extLst>
                  <a:ext uri="{FF2B5EF4-FFF2-40B4-BE49-F238E27FC236}">
                    <a16:creationId xmlns:a16="http://schemas.microsoft.com/office/drawing/2014/main" id="{9F5C1299-86B3-B30B-CD51-74C83AFEF5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8" name="CuadroTexto 7">
            <a:extLst>
              <a:ext uri="{FF2B5EF4-FFF2-40B4-BE49-F238E27FC236}">
                <a16:creationId xmlns:a16="http://schemas.microsoft.com/office/drawing/2014/main" id="{C2367F09-C3D0-E580-1228-D790B7E13002}"/>
              </a:ext>
            </a:extLst>
          </p:cNvPr>
          <p:cNvSpPr txBox="1"/>
          <p:nvPr/>
        </p:nvSpPr>
        <p:spPr>
          <a:xfrm>
            <a:off x="1264220" y="3794760"/>
            <a:ext cx="2971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lang="es-CL" sz="1350" b="0" i="0" dirty="0">
                <a:solidFill>
                  <a:srgbClr val="20236D"/>
                </a:solidFill>
              </a:rPr>
              <a:t>1 · IMPUTACIÓN MÚLTIPLE</a:t>
            </a:r>
          </a:p>
          <a:p>
            <a:pPr algn="just">
              <a:spcBef>
                <a:spcPts val="400"/>
              </a:spcBef>
            </a:pPr>
            <a:r>
              <a:rPr lang="es-CL" sz="120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Ninguna de las dos imputaciones propaga la incertidumbre de haber imputado: ambas tratan un valor predicho como observado.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6448D6FB-F375-29BE-C296-B67DB9A18606}"/>
              </a:ext>
            </a:extLst>
          </p:cNvPr>
          <p:cNvSpPr/>
          <p:nvPr/>
        </p:nvSpPr>
        <p:spPr>
          <a:xfrm rot="16200000">
            <a:off x="3367300" y="4549140"/>
            <a:ext cx="1737360" cy="45720"/>
          </a:xfrm>
          <a:prstGeom prst="rect">
            <a:avLst/>
          </a:prstGeom>
          <a:solidFill>
            <a:schemeClr val="bg1">
              <a:lumMod val="85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11414FBC-036B-F32C-775B-F97BC997559D}"/>
              </a:ext>
            </a:extLst>
          </p:cNvPr>
          <p:cNvSpPr/>
          <p:nvPr/>
        </p:nvSpPr>
        <p:spPr>
          <a:xfrm rot="16200000">
            <a:off x="6490491" y="4549140"/>
            <a:ext cx="1737360" cy="45720"/>
          </a:xfrm>
          <a:prstGeom prst="rect">
            <a:avLst/>
          </a:prstGeom>
          <a:solidFill>
            <a:schemeClr val="bg1">
              <a:lumMod val="85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271A28B1-078C-167A-05FF-22C362B423AF}"/>
              </a:ext>
            </a:extLst>
          </p:cNvPr>
          <p:cNvSpPr/>
          <p:nvPr/>
        </p:nvSpPr>
        <p:spPr>
          <a:xfrm>
            <a:off x="1463041" y="648352"/>
            <a:ext cx="8591812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80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Recomendaciones y hacia dónde sigue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B21BE484-1B8A-C467-7B63-8768B0E64AD2}"/>
              </a:ext>
            </a:extLst>
          </p:cNvPr>
          <p:cNvSpPr txBox="1"/>
          <p:nvPr/>
        </p:nvSpPr>
        <p:spPr>
          <a:xfrm>
            <a:off x="4336193" y="3794760"/>
            <a:ext cx="2971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lang="es-CL" sz="1350" b="0" i="0" dirty="0">
                <a:solidFill>
                  <a:srgbClr val="20236D"/>
                </a:solidFill>
              </a:rPr>
              <a:t>2 · TÉRMINOS NO LINEALES</a:t>
            </a:r>
          </a:p>
          <a:p>
            <a:pPr algn="just">
              <a:spcBef>
                <a:spcPts val="400"/>
              </a:spcBef>
            </a:pPr>
            <a:r>
              <a:rPr lang="es-CL" sz="120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Para las tres variables donde Box-Tidwell rechaza la linealidad en el logit.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A5F384CB-153C-1BE9-3318-838F90040264}"/>
              </a:ext>
            </a:extLst>
          </p:cNvPr>
          <p:cNvSpPr txBox="1"/>
          <p:nvPr/>
        </p:nvSpPr>
        <p:spPr>
          <a:xfrm>
            <a:off x="7603375" y="3794760"/>
            <a:ext cx="2971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lang="es-CL" sz="1350" b="0" i="0" dirty="0">
                <a:solidFill>
                  <a:srgbClr val="20236D"/>
                </a:solidFill>
              </a:rPr>
              <a:t>3 · MODELO MULTINIVEL</a:t>
            </a:r>
          </a:p>
          <a:p>
            <a:pPr algn="just">
              <a:spcBef>
                <a:spcPts val="400"/>
              </a:spcBef>
            </a:pPr>
            <a:r>
              <a:rPr lang="es-CL" sz="120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Tratar la institución como efecto aleatorio, en lugar de limitarse a cuantificar su efecto por remuestreo.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61872" y="1389888"/>
            <a:ext cx="9317736" cy="1874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es-CL" sz="1500" b="0" i="0" dirty="0">
                <a:solidFill>
                  <a:srgbClr val="20236D"/>
                </a:solidFill>
              </a:rPr>
              <a:t>Sobre el tratamiento de datos faltantes</a:t>
            </a:r>
          </a:p>
          <a:p>
            <a:pPr marL="200025" indent="-200025" algn="just">
              <a:spcBef>
                <a:spcPts val="500"/>
              </a:spcBef>
              <a:buFont typeface="Arial"/>
              <a:buChar char="•"/>
            </a:pPr>
            <a:r>
              <a:rPr lang="es-CL" sz="125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Preferir la </a:t>
            </a:r>
            <a:r>
              <a:rPr lang="es-CL" sz="1250" b="1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imputación por regresión</a:t>
            </a:r>
            <a:r>
              <a:rPr lang="es-CL" sz="125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conserva la muestra, preserva mejor las correlaciones y rinde algo más que la mediana.</a:t>
            </a:r>
          </a:p>
          <a:p>
            <a:pPr marL="200025" indent="-200025" algn="just">
              <a:spcBef>
                <a:spcPts val="500"/>
              </a:spcBef>
              <a:buFont typeface="Arial"/>
              <a:buChar char="•"/>
            </a:pPr>
            <a:r>
              <a:rPr lang="es-CL" sz="1250" b="1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No eliminar casos</a:t>
            </a:r>
            <a:r>
              <a:rPr lang="es-CL" sz="125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cuando la ausencia no es MCAR: el conjunto superviviente deja de representar al sistema.</a:t>
            </a:r>
          </a:p>
          <a:p>
            <a:pPr marL="200025" indent="-200025" algn="just">
              <a:spcBef>
                <a:spcPts val="500"/>
              </a:spcBef>
              <a:buFont typeface="Arial"/>
              <a:buChar char="•"/>
            </a:pPr>
            <a:r>
              <a:rPr lang="es-CL" sz="1250" b="1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Declarar siempre el mecanismo supuesto</a:t>
            </a:r>
            <a:r>
              <a:rPr lang="es-CL" sz="125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bajo MNAR ninguna estrategia es insesgada.</a:t>
            </a:r>
          </a:p>
          <a:p>
            <a:pPr marL="200025" indent="-200025" algn="just">
              <a:spcBef>
                <a:spcPts val="500"/>
              </a:spcBef>
              <a:buFont typeface="Arial"/>
              <a:buChar char="•"/>
            </a:pPr>
            <a:r>
              <a:rPr lang="es-CL" sz="125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Tratar como </a:t>
            </a:r>
            <a:r>
              <a:rPr lang="es-CL" sz="1250" b="1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optimista</a:t>
            </a:r>
            <a:r>
              <a:rPr lang="es-CL" sz="1250" b="0" i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todo intervalo posterior a una imputación simple.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61872" y="5669280"/>
            <a:ext cx="931773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lang="es-CL" sz="1250" b="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La progresión completa: S1 describió y midió · S2 puso a prueba y validó · S3 modela y predice sobre lo que quedó en pie.</a:t>
            </a:r>
          </a:p>
        </p:txBody>
      </p:sp>
    </p:spTree>
    <p:extLst>
      <p:ext uri="{BB962C8B-B14F-4D97-AF65-F5344CB8AC3E}">
        <p14:creationId xmlns:p14="http://schemas.microsoft.com/office/powerpoint/2010/main" val="35541310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agen 16">
            <a:extLst>
              <a:ext uri="{FF2B5EF4-FFF2-40B4-BE49-F238E27FC236}">
                <a16:creationId xmlns:a16="http://schemas.microsoft.com/office/drawing/2014/main" id="{D903B572-7AB0-4369-C487-D62538C3B6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2400" y="2606876"/>
            <a:ext cx="1727200" cy="146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4128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2257</TotalTime>
  <Words>1650</Words>
  <Application>Microsoft Office PowerPoint</Application>
  <PresentationFormat>Widescreen</PresentationFormat>
  <Paragraphs>192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Calibri</vt:lpstr>
      <vt:lpstr>Calibri Light</vt:lpstr>
      <vt:lpstr>Cambria</vt:lpstr>
      <vt:lpstr>Montserrat</vt:lpstr>
      <vt:lpstr>Tema de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Deserción en la educación superior chilena — Sumativa 3</dc:title>
  <dc:subject/>
  <dc:creator>María Fassler Neumann; Sebastian Antunez Noguera</dc:creator>
  <cp:keywords/>
  <dc:description/>
  <cp:lastModifiedBy>ANTUNEZ NOGUERA SEBASTIAN H</cp:lastModifiedBy>
  <cp:revision>31</cp:revision>
  <dcterms:created xsi:type="dcterms:W3CDTF">2023-10-13T18:05:47Z</dcterms:created>
  <dcterms:modified xsi:type="dcterms:W3CDTF">2026-10-27T23:05:22Z</dcterms:modified>
  <cp:category/>
</cp:coreProperties>
</file>