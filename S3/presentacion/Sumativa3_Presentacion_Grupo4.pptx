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datos" id="{d01a315b-30e3-54e5-b575-ef15e45e965a}">
          <p14:sldIdLst>
            <p14:sldId id="256"/>
            <p14:sldId id="257"/>
          </p14:sldIdLst>
        </p14:section>
        <p14:section name="Metodología integrada" id="{fa953b30-2053-532d-94e4-5190abdc3b14}">
          <p14:sldIdLst>
            <p14:sldId id="258"/>
            <p14:sldId id="259"/>
            <p14:sldId id="260"/>
            <p14:sldId id="261"/>
          </p14:sldIdLst>
        </p14:section>
        <p14:section name="Resultados" id="{a2201fda-f201-a637-f2c1-2eda7917b86d}">
          <p14:sldIdLst>
            <p14:sldId id="262"/>
            <p14:sldId id="263"/>
            <p14:sldId id="264"/>
            <p14:sldId id="265"/>
            <p14:sldId id="266"/>
            <p14:sldId id="267"/>
          </p14:sldIdLst>
        </p14:section>
        <p14:section name="Conclusiones" id="{13ea5c1c-087b-7164-9962-f5a45a3bea0a}">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Razón de momios</c:v>
                </c:pt>
              </c:strCache>
            </c:strRef>
          </c:tx>
          <c:spPr>
            <a:solidFill>
              <a:srgbClr val="AC212E"/>
            </a:solidFill>
            <a:effectLst/>
          </c:spPr>
          <c:invertIfNegative val="0"/>
          <c:dLbls>
            <c:numFmt formatCode="0.000" sourceLinked="0"/>
            <c:txPr>
              <a:bodyPr/>
              <a:lstStyle/>
              <a:p>
                <a:pPr>
                  <a:defRPr b="0" i="0" strike="noStrike" sz="1200" u="none">
                    <a:solidFill>
                      <a:srgbClr val="1C2126"/>
                    </a:solidFill>
                    <a:latin typeface="+mn-lt"/>
                  </a:defRPr>
                </a:pPr>
              </a:p>
            </c:txPr>
            <c:showLegendKey val="0"/>
            <c:showVal val="1"/>
            <c:showCatName val="0"/>
            <c:showSerName val="0"/>
            <c:showPercent val="0"/>
            <c:showBubbleSize val="0"/>
            <c:showLeaderLines val="0"/>
          </c:dLbls>
          <c:cat>
            <c:multiLvlStrRef>
              <c:f>Sheet1!$A$2:$A$5</c:f>
              <c:multiLvlStrCache>
                <c:ptCount val="4"/>
                <c:lvl>
                  <c:pt idx="0">
                    <c:v>Acreditación
institucional</c:v>
                  </c:pt>
                  <c:pt idx="1">
                    <c:v>Acreditación
de la carrera</c:v>
                  </c:pt>
                  <c:pt idx="2">
                    <c:v>Proporción
de mujeres</c:v>
                  </c:pt>
                  <c:pt idx="3">
                    <c:v>Tamaño del
programa</c:v>
                  </c:pt>
                </c:lvl>
              </c:multiLvlStrCache>
            </c:multiLvlStrRef>
          </c:cat>
          <c:val>
            <c:numRef>
              <c:f>Sheet1!$B$2:$B$5</c:f>
              <c:numCache>
                <c:formatCode>General</c:formatCode>
                <c:ptCount val="4"/>
                <c:pt idx="0">
                  <c:v>0.67</c:v>
                </c:pt>
                <c:pt idx="1">
                  <c:v>0.698</c:v>
                </c:pt>
                <c:pt idx="2">
                  <c:v>0.725</c:v>
                </c:pt>
                <c:pt idx="3">
                  <c:v>0.74</c:v>
                </c:pt>
              </c:numCache>
            </c:numRef>
          </c:val>
        </c:ser>
        <c:dLbls>
          <c:numFmt formatCode="0.000" sourceLinked="0"/>
          <c:txPr>
            <a:bodyPr/>
            <a:lstStyle/>
            <a:p>
              <a:pPr>
                <a:defRPr b="0" i="0" strike="noStrike" sz="1200" u="none">
                  <a:solidFill>
                    <a:srgbClr val="1C21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2126"/>
                </a:solidFill>
                <a:latin typeface="+mn-lt"/>
              </a:defRPr>
            </a:pPr>
            <a:endParaRPr lang="en-US"/>
          </a:p>
        </c:txPr>
        <c:crossAx val="2094734552"/>
        <c:crosses val="autoZero"/>
        <c:auto val="1"/>
        <c:lblAlgn val="ctr"/>
        <c:noMultiLvlLbl val="1"/>
      </c:catAx>
      <c:valAx>
        <c:axId val="2094734552"/>
        <c:scaling>
          <c:orientation val="minMax"/>
          <c:max val="0.8"/>
          <c:min val="0.5"/>
        </c:scaling>
        <c:delete val="0"/>
        <c:axPos val="l"/>
        <c:majorGridlines>
          <c:spPr>
            <a:ln w="9525" cap="flat">
              <a:solidFill>
                <a:srgbClr val="C9D4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8"/>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[0:00 - 0:20]  Buenos dias. Presentamos el proyecto integrado sobre desercion en la educacion superior chilena. Somos Maria Fassler y Sebastian Antunez, Grupo 4.
Esta fase no es un trabajo nuevo: es el cierre de una cadena que empezo en la Sumativa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[0:20 - 1:30]  El conjunto reune 9.678 programas de pregrado, construidos desde las bases abiertas del SIES: matricula 2007-2026 y titulados 2007-2025. El abandono aparente medio es 0,518, con una dispersion enorme entre programas. Si todos se parecieran, no habria nada que predecir.
El tercer numero condiciona toda la metodologia: esos programas pertenecen a solo 117 instituciones. Los programas de una misma universidad no son independientes, y ese hecho reaparece al final como el resultado central de la fase.
La pregunta practica es si el abandono puede anticiparse con atributos observables del programa, para focalizar recursos de retencion.
Y dos advertencias de entrada, no al final. La unidad es el programa, no el estudiante: nada de lo que digamos aplica a una persona concreta. Y medimos abandono aparente: quien se cambia de carrera y se titula en otra parte, aqui cuenta como abandono.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[1:30 - 1:40]  Paso a la metodologia. La idea de esta seccion es simple: ninguna decision de esta fase es nueva, todas vienen de un resultado concreto de las fases anteriores.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[1:40 - 2:30]  La primera sumativa describio y midio: abandono medio 0,518, nueve variables asociadas, 465 programas censurados y cero datos faltantes. Todo con procedimientos clasicos y supuestos sin verificar.
La segunda lo puso a prueba. El bootstrap confirmo que los intervalos clasicos eran fiables. La permutacion valido el contraste sin suponer normalidad. La evaluacion de estabilidad separo las correlaciones solidas de las debiles. Y advirtio que los programas de una institucion no son independientes.
Esta tercera fase integra todo eso en un modelo predictivo. Cada punto de la columna derecha es consecuencia directa de las dos anteriores.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[2:30 - 3:20]  Esta tabla es la trazabilidad completa, y responde directamente a lo que la pauta exige demostrar.
Las predictoras de los imputadores salieron de la matriz de correlaciones de S1. Las variables del modelo, del filtro de estabilidad de S2. El agrupamiento de la particion, de la advertencia de S2. Conservar los 465 censurados viene de la auditoria caso a caso que hizo S2, que encontro que el 91 por ciento de los que tienen abandono uno son cierres reales de programa. Y el umbral del 50 por ciento es el de S1, validado por intervalo de Wilson y contraste Z en S2.
No hay ninguna decision a la izquierda sin antecedente a la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[3:20 - 4:10]  Aqui hay que ser transparentes sobre una dificultad. La pauta pide imputar datos faltantes, y S1 habia demostrado que no hay ninguno. Mas aun: nunca los hubo, porque cada fila es un agregado por programa, y un programa sin los campos necesarios no produce una fila con huecos, simplemente no produce fila.
Imputar sobre el dato real era imposible, e inventar faltantes sin declararlo habria sido inaceptable. La solucion fue un experimento controlado bajo los tres mecanismos de Rubin, con una ventaja decisiva: conocemos los valores verdaderos, asi que podemos medir el error de cada estrategia.
Y la leccion no es la esperada. Bajo MNAR el sesgo es grande. Pero bajo MAR es practicamente cero, porque la duracion apenas correlaciona con la variable afectada. MAR no sesga necesariamente las medias: lo que distorsiona son las relaciones condicionales.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[4:10 - 4:20]  Paso a los resultados. Son cuatro, y el ultimo es el mas importante desde el punto de vista metodologico.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[4:20 - 5:10]  Primer resultado: comparamos eliminar los casos, imputar por la mediana e imputar por regresion.
La regresion gana en las tres dimensiones que importan. Conserva toda la muestra, mientras que eliminar deja solo el 47,5 por ciento, y no al azar: se pierden los programas de mayor duracion y los pequenos, asi que el conjunto superviviente deja de representar al sistema. Preserva mejor las correlaciones que S1 estimo. Y comete menos error contra los valores verdaderos.
En la figura se ve por que la mediana es la peor: concentra toda la masa en un punto y atenua las asociaciones.
Dos honestidades: donde el imputador no tiene poder predictivo la ventaja es minima, y bajo MNAR ninguna estrategia elimina el sesgo.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[5:10 - 6:00]  Segundo resultado: cuatro variables sostienen la capacidad predictiva, y las cuatro protegen.
Acreditacion institucional, razon de momios 0,670; acreditacion de la carrera, 0,698; proporcion de mujeres, 0,725; tamano del programa, 0,740. Como estan estandarizadas, cada numero es el efecto de una desviacion tipica: entre un 26 y un 33 por ciento menos de probabilidad relativa de abandono alto. Las cuatro son significativas al 0,1 por ciento.
Lo importante es la coherencia: son exactamente las que S2 habia validado como estables.
Y hay una corroboracion independiente. Construimos tres modelos, y la seleccion por BIC, que no conoce nada de las fases anteriores, reencuentra estas mismas cuatro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[6:00 - 6:45]  Tercer resultado: el AUC en prueba es 0,754, y conviene subrayar sobre que se mide: sobre instituciones que el modelo nunca vio, porque la particion fue agrupada. No hay sobreajuste.
El perfil de errores es asimetrico: sensibilidad 0,80, especificidad 0,55. Detecta bien los programas en riesgo pero marca como tales a bastantes que no lo son. Para priorizar una intervencion ese sesgo es el preferible.
Los tres modelos rinden practicamente igual. Elegimos el informado por S1 y S2 por una razon estadistica: los otros dos se seleccionaron con los mismos datos de entrenamiento, asi que su ventaja aparente esta sesgada al alza.
El modelo sirve para priorizar, no para dictaminar.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[6:45 - 7:45]  Este es el resultado metodologico central de la fase.
S2 habia aplicado bootstrap a estadisticos simples. Aqui lo aplicamos a los coeficientes del modelo y, atendiendo a su advertencia, remuestreamos por institucion y no por programa: cada remuestra extrae 117 instituciones con reemplazo y arrastra todos sus programas.
El resultado es contundente. Los intervalos bootstrap son entre 1,97 y 3,81 veces mas anchos que los clasicos: el ajuste clasico sobreestimaba su propia precision por un factor de hasta cuatro. La causa es la que S2 anticipo, que el modelo cuenta 7.316 observaciones independientes cuando en realidad hay 117 instituciones.
Dos consecuencias. Las cuatro variables continuas conservan su signo. Pero nueve de los veinte terminos cruzan el cero, y son todos los categoricos: las diferencias entre areas y tipos de institucion no resisten un tratamiento honesto de la dependencia.
Si hay una sola cosa que llevarse de esta presentacion,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[7:45 - 8:35]  El diagnostico deja dos cosas tranquilas y dos incomodas.
Tranquilas: la colinealidad no es problema, los cuatro VIF estan por debajo de 1,2. Y la calibracion es buena, la probabilidad predicha sigue la frecuencia observada por deciles, asi que las probabilidades son interpretables como tales.
Incomodas. Primera: Box-Tidwell rechaza la linealidad en el logit en tres de las cuatro variables continuas. El modelo lineal es una aproximacion y las razones de momios son efectos promedio, no uniformes.
Segunda: ninguna observacion domina el ajuste, la distancia de Cook maxima es 0,0094. Pero retirar las 250 que superan cuatro sobre n mueve el coeficiente de la acreditacion institucional un 80 por ciento. Es la variable de mayor efecto y la de menor solidez, y cualquier recomendacion que se apoye en ella deberia decirlo.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[8:35 - 9:20]  Conclusiones, en dos columnas, porque un trabajo serio tiene que decir las dos cosas.
Permite afirmar que el abandono aparente se asocia de forma robusta con la acreditacion, el tamano y la composicion de genero; que un modelo con esas variables sirve para priorizar; y que son las mismas variables que resistieron el remuestreo en S2.
No permite afirmar nada sobre estudiantes individuales, porque la unidad es el programa. Nada sobre causas, porque no hay grupo de control: todo son asociaciones. Nada sobre el abandono real, porque medimos el aparente. Y, tras el bootstrap, nada firme sobre diferencias entre areas o tipos de institucion.
Esa segunda columna no es una debilidad del trabajo: es parte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[9:20 - 10:00]  Cierro con las recomendaciones. Cuatro sobre datos faltantes: preferir la imputacion por regresion; no eliminar casos cuando la ausencia no es MCAR; declarar siempre el mecanismo supuesto; y tratar como optimista todo intervalo posterior a una imputacion simple.
Esa ultima lleva a la limitacion mas importante que encontramos: ninguna de las dos imputaciones propaga la incertidumbre de haber imputado. Corregirlo exige imputacion multiple.
Las otras dos extensiones son terminos no lineales donde Box-Tidwell los exige, y un modelo multinivel que trate la institucion como efecto aleatorio.
S1 describio y midio, S2 puso a prueba y valido, y S3 modela y predice sobre lo que quedo en pie.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05840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640080" y="3657600"/>
            <a:ext cx="10058400" cy="502920"/>
          </a:xfrm>
          <a:prstGeom prst="rect">
            <a:avLst/>
          </a:prstGeom>
          <a:noFill/>
          <a:ln/>
        </p:spPr>
        <p:txBody>
          <a:bodyPr wrap="square" rtlCol="0"/>
          <a:lstStyle>
            <a:lvl1pPr indent="0" marL="0">
              <a:buNone/>
              <a:defRPr lang="en-US" sz="1800" dirty="0">
                <a:solidFill>
                  <a:srgbClr val="9FB6C8"/>
                </a:solidFill>
              </a:defRPr>
            </a:lvl1pPr>
          </a:lstStyle>
          <a:p>
            <a:pPr indent="0" marL="0">
              <a:buNone/>
            </a:pPr>
            <a:r>
              <a:rPr lang="en-US" sz="1800" dirty="0">
                <a:solidFill>
                  <a:srgbClr val="9FB6C8"/>
                </a:solidFill>
              </a:rPr>
              <a:t> </a:t>
            </a:r>
            <a:endParaRPr lang="en-US" sz="1800" dirty="0"/>
          </a:p>
        </p:txBody>
      </p:sp>
      <p:sp>
        <p:nvSpPr>
          <p:cNvPr id="4" name="Text 0"/>
          <p:cNvSpPr/>
          <p:nvPr>
            <p:ph idx="102" type="body" hasCustomPrompt="1"/>
          </p:nvPr>
        </p:nvSpPr>
        <p:spPr>
          <a:xfrm>
            <a:off x="640080" y="4846320"/>
            <a:ext cx="10058400" cy="1188720"/>
          </a:xfrm>
          <a:prstGeom prst="rect">
            <a:avLst/>
          </a:prstGeom>
          <a:noFill/>
          <a:ln/>
        </p:spPr>
        <p:txBody>
          <a:bodyPr wrap="square" rtlCol="0"/>
          <a:lstStyle>
            <a:lvl1pPr indent="0" marL="0">
              <a:buNone/>
              <a:defRPr lang="en-US" sz="1300" dirty="0">
                <a:solidFill>
                  <a:srgbClr val="C9D4DD"/>
                </a:solidFill>
              </a:defRPr>
            </a:lvl1pPr>
          </a:lstStyle>
          <a:p>
            <a:pPr indent="0" marL="0">
              <a:buNone/>
            </a:pPr>
            <a:r>
              <a:rPr lang="en-US" sz="1300" dirty="0">
                <a:solidFill>
                  <a:srgbClr val="C9D4DD"/>
                </a:solidFill>
              </a:rPr>
              <a:t> </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SOR">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 </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lstStyle>
            <a:lvl1pPr indent="0" marL="0">
              <a:buNone/>
              <a:defRPr lang="en-US" sz="1600" dirty="0">
                <a:solidFill>
                  <a:srgbClr val="9FB6C8"/>
                </a:solidFill>
              </a:defRPr>
            </a:lvl1pPr>
          </a:lstStyle>
          <a:p>
            <a:pPr indent="0" marL="0">
              <a:buNone/>
            </a:pPr>
            <a:r>
              <a:rPr lang="en-US" sz="1600" dirty="0">
                <a:solidFill>
                  <a:srgbClr val="9FB6C8"/>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txBox="1"/>
          <p:nvPr/>
        </p:nvSpPr>
        <p:spPr>
          <a:xfrm>
            <a:off x="640080" y="6327648"/>
            <a:ext cx="5486400" cy="274320"/>
          </a:xfrm>
          <a:prstGeom prst="rect">
            <a:avLst/>
          </a:prstGeom>
          <a:noFill/>
          <a:ln/>
        </p:spPr>
        <p:txBody>
          <a:bodyPr wrap="square" lIns="0" tIns="0" rIns="0" bIns="0" rtlCol="0" anchor="ctr"/>
          <a:lstStyle/>
          <a:p>
            <a:pPr indent="0" marL="0">
              <a:buNone/>
            </a:pPr>
            <a:r>
              <a:rPr lang="en-US" sz="900" dirty="0">
                <a:solidFill>
                  <a:srgbClr val="5A6B78"/>
                </a:solidFill>
              </a:rPr>
              <a:t>MCDI501 · Sumativa 3 · Grupo 4</a:t>
            </a:r>
            <a:endParaRPr lang="en-US" sz="9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058400" cy="1737360"/>
          </a:xfrm>
          <a:prstGeom prst="rect">
            <a:avLst/>
          </a:prstGeom>
          <a:noFill/>
          <a:ln/>
        </p:spPr>
        <p:txBody>
          <a:bodyPr wrap="square" rtlCol="0" anchor="b"/>
          <a:lstStyle/>
          <a:p>
            <a:pPr indent="0" marL="0">
              <a:buNone/>
            </a:pPr>
            <a:r>
              <a:rPr lang="en-US" sz="4000" b="1" dirty="0">
                <a:solidFill>
                  <a:schemeClr val="bg1"/>
                </a:solidFill>
              </a:rPr>
              <a:t>Deserción en la educación superior chilena</a:t>
            </a:r>
            <a:endParaRPr lang="en-US" sz="4000" dirty="0"/>
          </a:p>
        </p:txBody>
      </p:sp>
      <p:sp>
        <p:nvSpPr>
          <p:cNvPr id="3" name="Text 0"/>
          <p:cNvSpPr/>
          <p:nvPr>
            <p:ph idx="101" type="body" hasCustomPrompt="1"/>
          </p:nvPr>
        </p:nvSpPr>
        <p:spPr>
          <a:xfrm>
            <a:off x="640080" y="3657600"/>
            <a:ext cx="10058400" cy="502920"/>
          </a:xfrm>
          <a:prstGeom prst="rect">
            <a:avLst/>
          </a:prstGeom>
          <a:noFill/>
          <a:ln/>
        </p:spPr>
        <p:txBody>
          <a:bodyPr wrap="square" rtlCol="0" anchor="t"/>
          <a:lstStyle/>
          <a:p>
            <a:pPr indent="0" marL="0">
              <a:buNone/>
            </a:pPr>
            <a:r>
              <a:rPr lang="en-US" sz="1800" dirty="0">
                <a:solidFill>
                  <a:srgbClr val="9FB6C8"/>
                </a:solidFill>
              </a:rPr>
              <a:t>Modelamiento predictivo integrado · Evaluación Sumativa 3</a:t>
            </a:r>
            <a:endParaRPr lang="en-US" sz="1800" dirty="0"/>
          </a:p>
        </p:txBody>
      </p:sp>
      <p:sp>
        <p:nvSpPr>
          <p:cNvPr id="4" name="Text 0"/>
          <p:cNvSpPr/>
          <p:nvPr>
            <p:ph idx="102" type="body" hasCustomPrompt="1"/>
          </p:nvPr>
        </p:nvSpPr>
        <p:spPr>
          <a:xfrm>
            <a:off x="640080" y="4846320"/>
            <a:ext cx="10058400" cy="1188720"/>
          </a:xfrm>
          <a:prstGeom prst="rect">
            <a:avLst/>
          </a:prstGeom>
          <a:noFill/>
          <a:ln/>
        </p:spPr>
        <p:txBody>
          <a:bodyPr wrap="square" rtlCol="0" anchor="t"/>
          <a:lstStyle/>
          <a:p>
            <a:pPr indent="0" marL="0">
              <a:buNone/>
            </a:pPr>
            <a:r>
              <a:rPr lang="en-US" sz="1300" b="1" dirty="0">
                <a:solidFill>
                  <a:srgbClr val="C9D4DD"/>
                </a:solidFill>
              </a:rPr>
              <a:t>María Fassler Neumann · Sebastian Antunez Noguera — Grupo 4</a:t>
            </a:r>
            <a:endParaRPr lang="en-US" sz="1300" dirty="0"/>
          </a:p>
          <a:p>
            <a:pPr indent="0" marL="0">
              <a:buNone/>
            </a:pPr>
            <a:r>
              <a:rPr lang="en-US" sz="1300" dirty="0">
                <a:solidFill>
                  <a:srgbClr val="C9D4DD"/>
                </a:solidFill>
              </a:rPr>
              <a:t>MCDI501 Estadística Computacional para la Toma de Decisiones</a:t>
            </a:r>
            <a:endParaRPr lang="en-US" sz="1300" dirty="0"/>
          </a:p>
          <a:p>
            <a:pPr indent="0" marL="0">
              <a:buNone/>
            </a:pPr>
            <a:r>
              <a:rPr lang="en-US" sz="1300" dirty="0">
                <a:solidFill>
                  <a:srgbClr val="C9D4DD"/>
                </a:solidFill>
              </a:rPr>
              <a:t>Docente: Jean Paul Maidana · 20 de octubre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Qué medimos y por qué importa</a:t>
            </a:r>
            <a:endParaRPr lang="en-US" sz="2800" dirty="0"/>
          </a:p>
        </p:txBody>
      </p:sp>
      <p:sp>
        <p:nvSpPr>
          <p:cNvPr id="3" name="cifra-programas"/>
          <p:cNvSpPr txBox="1"/>
          <p:nvPr/>
        </p:nvSpPr>
        <p:spPr>
          <a:xfrm>
            <a:off x="64008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9.678</a:t>
            </a:r>
            <a:endParaRPr lang="en-US" sz="4400" dirty="0"/>
          </a:p>
        </p:txBody>
      </p:sp>
      <p:sp>
        <p:nvSpPr>
          <p:cNvPr id="4" name="Text 2"/>
          <p:cNvSpPr txBox="1"/>
          <p:nvPr/>
        </p:nvSpPr>
        <p:spPr>
          <a:xfrm>
            <a:off x="64008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programas de pregrado, construidos desde las bases SIES de matrícula 2007–2026 y titulados 2007–2025</a:t>
            </a:r>
            <a:endParaRPr lang="en-US" sz="1200" dirty="0"/>
          </a:p>
        </p:txBody>
      </p:sp>
      <p:sp>
        <p:nvSpPr>
          <p:cNvPr id="5" name="cifra-abandono"/>
          <p:cNvSpPr txBox="1"/>
          <p:nvPr/>
        </p:nvSpPr>
        <p:spPr>
          <a:xfrm>
            <a:off x="438912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0,518</a:t>
            </a:r>
            <a:endParaRPr lang="en-US" sz="4400" dirty="0"/>
          </a:p>
        </p:txBody>
      </p:sp>
      <p:sp>
        <p:nvSpPr>
          <p:cNvPr id="6" name="Text 4"/>
          <p:cNvSpPr txBox="1"/>
          <p:nvPr/>
        </p:nvSpPr>
        <p:spPr>
          <a:xfrm>
            <a:off x="438912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abandono aparente medio del sistema, con una dispersión enorme entre programas</a:t>
            </a:r>
            <a:endParaRPr lang="en-US" sz="1200" dirty="0"/>
          </a:p>
        </p:txBody>
      </p:sp>
      <p:sp>
        <p:nvSpPr>
          <p:cNvPr id="7" name="cifra-instituciones"/>
          <p:cNvSpPr txBox="1"/>
          <p:nvPr/>
        </p:nvSpPr>
        <p:spPr>
          <a:xfrm>
            <a:off x="813816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117</a:t>
            </a:r>
            <a:endParaRPr lang="en-US" sz="4400" dirty="0"/>
          </a:p>
        </p:txBody>
      </p:sp>
      <p:sp>
        <p:nvSpPr>
          <p:cNvPr id="8" name="Text 6"/>
          <p:cNvSpPr txBox="1"/>
          <p:nvPr/>
        </p:nvSpPr>
        <p:spPr>
          <a:xfrm>
            <a:off x="813816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instituciones: los programas de una misma institución no son independientes</a:t>
            </a:r>
            <a:endParaRPr lang="en-US" sz="1200" dirty="0"/>
          </a:p>
        </p:txBody>
      </p:sp>
      <p:sp>
        <p:nvSpPr>
          <p:cNvPr id="9" name="tarjeta-pregunta"/>
          <p:cNvSpPr/>
          <p:nvPr/>
        </p:nvSpPr>
        <p:spPr>
          <a:xfrm>
            <a:off x="640080" y="3611880"/>
            <a:ext cx="10908792" cy="2377440"/>
          </a:xfrm>
          <a:prstGeom prst="roundRect">
            <a:avLst>
              <a:gd name="adj" fmla="val 2308"/>
            </a:avLst>
          </a:prstGeom>
          <a:solidFill>
            <a:schemeClr val="bg2"/>
          </a:solidFill>
          <a:ln w="9525">
            <a:solidFill>
              <a:srgbClr val="C9D4DD"/>
            </a:solidFill>
            <a:prstDash val="solid"/>
          </a:ln>
        </p:spPr>
      </p:sp>
      <p:sp>
        <p:nvSpPr>
          <p:cNvPr id="10" name="circulo-pregunta"/>
          <p:cNvSpPr/>
          <p:nvPr/>
        </p:nvSpPr>
        <p:spPr>
          <a:xfrm>
            <a:off x="914400" y="388620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914400"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2" name="Text 10"/>
          <p:cNvSpPr txBox="1"/>
          <p:nvPr/>
        </p:nvSpPr>
        <p:spPr>
          <a:xfrm>
            <a:off x="1508760" y="3913632"/>
            <a:ext cx="9601200" cy="365760"/>
          </a:xfrm>
          <a:prstGeom prst="rect">
            <a:avLst/>
          </a:prstGeom>
          <a:noFill/>
          <a:ln/>
        </p:spPr>
        <p:txBody>
          <a:bodyPr wrap="square" lIns="0" tIns="0" rIns="0" bIns="0" rtlCol="0" anchor="t"/>
          <a:lstStyle/>
          <a:p>
            <a:pPr algn="l" indent="0" marL="0">
              <a:buNone/>
            </a:pPr>
            <a:r>
              <a:rPr lang="en-US" sz="1600" b="1" dirty="0">
                <a:solidFill>
                  <a:schemeClr val="accent1"/>
                </a:solidFill>
              </a:rPr>
              <a:t>La pregunta que organiza el proyecto</a:t>
            </a:r>
            <a:endParaRPr lang="en-US" sz="1600" dirty="0"/>
          </a:p>
        </p:txBody>
      </p:sp>
      <p:sp>
        <p:nvSpPr>
          <p:cNvPr id="13" name="Text 11"/>
          <p:cNvSpPr txBox="1"/>
          <p:nvPr/>
        </p:nvSpPr>
        <p:spPr>
          <a:xfrm>
            <a:off x="1508760" y="4343400"/>
            <a:ext cx="9418320" cy="731520"/>
          </a:xfrm>
          <a:prstGeom prst="rect">
            <a:avLst/>
          </a:prstGeom>
          <a:noFill/>
          <a:ln/>
        </p:spPr>
        <p:txBody>
          <a:bodyPr wrap="square" lIns="0" tIns="0" rIns="0" bIns="0" rtlCol="0" anchor="t"/>
          <a:lstStyle/>
          <a:p>
            <a:pPr algn="l" indent="0" marL="0">
              <a:buNone/>
            </a:pPr>
            <a:r>
              <a:rPr lang="en-US" sz="1500" dirty="0">
                <a:solidFill>
                  <a:schemeClr val="tx1"/>
                </a:solidFill>
              </a:rPr>
              <a:t>¿Puede anticiparse el abandono de un programa a partir de atributos observables, para focalizar recursos de retención antes de que el problema se consolide?</a:t>
            </a:r>
            <a:endParaRPr lang="en-US" sz="1500" dirty="0"/>
          </a:p>
        </p:txBody>
      </p:sp>
      <p:sp>
        <p:nvSpPr>
          <p:cNvPr id="14" name="Text 12"/>
          <p:cNvSpPr txBox="1"/>
          <p:nvPr/>
        </p:nvSpPr>
        <p:spPr>
          <a:xfrm>
            <a:off x="1508760" y="5120640"/>
            <a:ext cx="9418320" cy="685800"/>
          </a:xfrm>
          <a:prstGeom prst="rect">
            <a:avLst/>
          </a:prstGeom>
          <a:noFill/>
          <a:ln/>
        </p:spPr>
        <p:txBody>
          <a:bodyPr wrap="square" lIns="0" tIns="0" rIns="0" bIns="0" rtlCol="0" anchor="t"/>
          <a:lstStyle/>
          <a:p>
            <a:pPr algn="l" indent="0" marL="0">
              <a:buNone/>
            </a:pPr>
            <a:r>
              <a:rPr lang="en-US" sz="1250" dirty="0">
                <a:solidFill>
                  <a:schemeClr val="tx2"/>
                </a:solidFill>
              </a:rPr>
              <a:t>Dos precisiones que condicionan todo lo que sigue. La unidad de análisis es el programa, no el estudiante. Y lo que se mide es abandono aparente: quien se cambia de carrera y se titula en otra parte cuenta aquí como abandono.</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nchor="ctr"/>
          <a:lstStyle/>
          <a:p>
            <a:pPr indent="0" marL="0">
              <a:buNone/>
            </a:pPr>
            <a:r>
              <a:rPr lang="en-US" sz="3600" b="1" dirty="0">
                <a:solidFill>
                  <a:schemeClr val="bg1"/>
                </a:solidFill>
              </a:rPr>
              <a:t>La cadena S1 → S2 → S3</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nchor="t"/>
          <a:lstStyle/>
          <a:p>
            <a:pPr indent="0" marL="0">
              <a:buNone/>
            </a:pPr>
            <a:r>
              <a:rPr lang="en-US" sz="1600" dirty="0">
                <a:solidFill>
                  <a:srgbClr val="9FB6C8"/>
                </a:solidFill>
              </a:rPr>
              <a:t>Ninguna decisión metodológica de esta fase es nueva: todas provienen de un resultado de las fases anteriores.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Qué aportó cada fase</a:t>
            </a:r>
            <a:endParaRPr lang="en-US" sz="2800" dirty="0"/>
          </a:p>
        </p:txBody>
      </p:sp>
      <p:sp>
        <p:nvSpPr>
          <p:cNvPr id="3" name="tarjeta-fase-1"/>
          <p:cNvSpPr/>
          <p:nvPr/>
        </p:nvSpPr>
        <p:spPr>
          <a:xfrm>
            <a:off x="640080" y="1325880"/>
            <a:ext cx="3453384" cy="2971800"/>
          </a:xfrm>
          <a:prstGeom prst="roundRect">
            <a:avLst>
              <a:gd name="adj" fmla="val 1846"/>
            </a:avLst>
          </a:prstGeom>
          <a:solidFill>
            <a:schemeClr val="bg2"/>
          </a:solidFill>
          <a:ln w="9525">
            <a:solidFill>
              <a:srgbClr val="C9D4DD"/>
            </a:solidFill>
            <a:prstDash val="solid"/>
          </a:ln>
        </p:spPr>
      </p:sp>
      <p:sp>
        <p:nvSpPr>
          <p:cNvPr id="4" name="circulo-fase-1"/>
          <p:cNvSpPr/>
          <p:nvPr/>
        </p:nvSpPr>
        <p:spPr>
          <a:xfrm>
            <a:off x="896112" y="1572768"/>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96112"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417320"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S1 describió y midió</a:t>
            </a:r>
            <a:endParaRPr lang="en-US" sz="1600" dirty="0"/>
          </a:p>
        </p:txBody>
      </p:sp>
      <p:sp>
        <p:nvSpPr>
          <p:cNvPr id="7" name="Text 5"/>
          <p:cNvSpPr txBox="1"/>
          <p:nvPr/>
        </p:nvSpPr>
        <p:spPr>
          <a:xfrm>
            <a:off x="914400"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Abandono medio 0,518 y su dispersión</a:t>
            </a:r>
            <a:endParaRPr lang="en-US" sz="1250" dirty="0"/>
          </a:p>
          <a:p>
            <a:pPr algn="l" marL="342900" indent="-342900">
              <a:spcAft>
                <a:spcPts val="700"/>
              </a:spcAft>
              <a:buSzPct val="100000"/>
              <a:buChar char="•"/>
            </a:pPr>
            <a:r>
              <a:rPr lang="en-US" sz="1250" dirty="0">
                <a:solidFill>
                  <a:schemeClr val="tx1"/>
                </a:solidFill>
              </a:rPr>
              <a:t>Nueve variables asociadas al abandono</a:t>
            </a:r>
            <a:endParaRPr lang="en-US" sz="1250" dirty="0"/>
          </a:p>
          <a:p>
            <a:pPr algn="l" marL="342900" indent="-342900">
              <a:spcAft>
                <a:spcPts val="700"/>
              </a:spcAft>
              <a:buSzPct val="100000"/>
              <a:buChar char="•"/>
            </a:pPr>
            <a:r>
              <a:rPr lang="en-US" sz="1250" dirty="0">
                <a:solidFill>
                  <a:schemeClr val="tx1"/>
                </a:solidFill>
              </a:rPr>
              <a:t>465 programas censurados en 0 y en 1</a:t>
            </a:r>
            <a:endParaRPr lang="en-US" sz="1250" dirty="0"/>
          </a:p>
          <a:p>
            <a:pPr algn="l" marL="342900" indent="-342900">
              <a:spcAft>
                <a:spcPts val="700"/>
              </a:spcAft>
              <a:buSzPct val="100000"/>
              <a:buChar char="•"/>
            </a:pPr>
            <a:r>
              <a:rPr lang="en-US" sz="1250" dirty="0">
                <a:solidFill>
                  <a:schemeClr val="tx1"/>
                </a:solidFill>
              </a:rPr>
              <a:t>Cero datos faltantes en 25 variables</a:t>
            </a:r>
            <a:endParaRPr lang="en-US" sz="1250" dirty="0"/>
          </a:p>
        </p:txBody>
      </p:sp>
      <p:sp>
        <p:nvSpPr>
          <p:cNvPr id="8" name="tarjeta-fase-2"/>
          <p:cNvSpPr/>
          <p:nvPr/>
        </p:nvSpPr>
        <p:spPr>
          <a:xfrm>
            <a:off x="4367784" y="1325880"/>
            <a:ext cx="3453384" cy="2971800"/>
          </a:xfrm>
          <a:prstGeom prst="roundRect">
            <a:avLst>
              <a:gd name="adj" fmla="val 1846"/>
            </a:avLst>
          </a:prstGeom>
          <a:solidFill>
            <a:schemeClr val="bg2"/>
          </a:solidFill>
          <a:ln w="9525">
            <a:solidFill>
              <a:srgbClr val="C9D4DD"/>
            </a:solidFill>
            <a:prstDash val="solid"/>
          </a:ln>
        </p:spPr>
      </p:sp>
      <p:sp>
        <p:nvSpPr>
          <p:cNvPr id="9" name="circulo-fase-2"/>
          <p:cNvSpPr/>
          <p:nvPr/>
        </p:nvSpPr>
        <p:spPr>
          <a:xfrm>
            <a:off x="4623816" y="15727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623816"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5145024"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S2 puso a prueba</a:t>
            </a:r>
            <a:endParaRPr lang="en-US" sz="1600" dirty="0"/>
          </a:p>
        </p:txBody>
      </p:sp>
      <p:sp>
        <p:nvSpPr>
          <p:cNvPr id="12" name="Text 10"/>
          <p:cNvSpPr txBox="1"/>
          <p:nvPr/>
        </p:nvSpPr>
        <p:spPr>
          <a:xfrm>
            <a:off x="4642104"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Bootstrap: los IC clásicos eran fiables</a:t>
            </a:r>
            <a:endParaRPr lang="en-US" sz="1250" dirty="0"/>
          </a:p>
          <a:p>
            <a:pPr algn="l" marL="342900" indent="-342900">
              <a:spcAft>
                <a:spcPts val="700"/>
              </a:spcAft>
              <a:buSzPct val="100000"/>
              <a:buChar char="•"/>
            </a:pPr>
            <a:r>
              <a:rPr lang="en-US" sz="1250" dirty="0">
                <a:solidFill>
                  <a:schemeClr val="tx1"/>
                </a:solidFill>
              </a:rPr>
              <a:t>Permutación sin suponer normalidad</a:t>
            </a:r>
            <a:endParaRPr lang="en-US" sz="1250" dirty="0"/>
          </a:p>
          <a:p>
            <a:pPr algn="l" marL="342900" indent="-342900">
              <a:spcAft>
                <a:spcPts val="700"/>
              </a:spcAft>
              <a:buSzPct val="100000"/>
              <a:buChar char="•"/>
            </a:pPr>
            <a:r>
              <a:rPr lang="en-US" sz="1250" dirty="0">
                <a:solidFill>
                  <a:schemeClr val="tx1"/>
                </a:solidFill>
              </a:rPr>
              <a:t>Separó correlaciones sólidas de débiles</a:t>
            </a:r>
            <a:endParaRPr lang="en-US" sz="1250" dirty="0"/>
          </a:p>
          <a:p>
            <a:pPr algn="l" marL="342900" indent="-342900">
              <a:spcAft>
                <a:spcPts val="700"/>
              </a:spcAft>
              <a:buSzPct val="100000"/>
              <a:buChar char="•"/>
            </a:pPr>
            <a:r>
              <a:rPr lang="en-US" sz="1250" dirty="0">
                <a:solidFill>
                  <a:schemeClr val="tx1"/>
                </a:solidFill>
              </a:rPr>
              <a:t>Advirtió: los programas no son independientes</a:t>
            </a:r>
            <a:endParaRPr lang="en-US" sz="1250" dirty="0"/>
          </a:p>
        </p:txBody>
      </p:sp>
      <p:sp>
        <p:nvSpPr>
          <p:cNvPr id="13" name="tarjeta-fase-3"/>
          <p:cNvSpPr/>
          <p:nvPr/>
        </p:nvSpPr>
        <p:spPr>
          <a:xfrm>
            <a:off x="8095488" y="1325880"/>
            <a:ext cx="3453384" cy="2971800"/>
          </a:xfrm>
          <a:prstGeom prst="roundRect">
            <a:avLst>
              <a:gd name="adj" fmla="val 1846"/>
            </a:avLst>
          </a:prstGeom>
          <a:solidFill>
            <a:schemeClr val="bg2"/>
          </a:solidFill>
          <a:ln w="9525">
            <a:solidFill>
              <a:srgbClr val="C9D4DD"/>
            </a:solidFill>
            <a:prstDash val="solid"/>
          </a:ln>
        </p:spPr>
      </p:sp>
      <p:sp>
        <p:nvSpPr>
          <p:cNvPr id="14" name="circulo-fase-3"/>
          <p:cNvSpPr/>
          <p:nvPr/>
        </p:nvSpPr>
        <p:spPr>
          <a:xfrm>
            <a:off x="8351520" y="157276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83515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8872728"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S3 modela y predice</a:t>
            </a:r>
            <a:endParaRPr lang="en-US" sz="1600" dirty="0"/>
          </a:p>
        </p:txBody>
      </p:sp>
      <p:sp>
        <p:nvSpPr>
          <p:cNvPr id="17" name="Text 15"/>
          <p:cNvSpPr txBox="1"/>
          <p:nvPr/>
        </p:nvSpPr>
        <p:spPr>
          <a:xfrm>
            <a:off x="8369808"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Imputación informada por la matriz de S1</a:t>
            </a:r>
            <a:endParaRPr lang="en-US" sz="1250" dirty="0"/>
          </a:p>
          <a:p>
            <a:pPr algn="l" marL="342900" indent="-342900">
              <a:spcAft>
                <a:spcPts val="700"/>
              </a:spcAft>
              <a:buSzPct val="100000"/>
              <a:buChar char="•"/>
            </a:pPr>
            <a:r>
              <a:rPr lang="en-US" sz="1250" dirty="0">
                <a:solidFill>
                  <a:schemeClr val="tx1"/>
                </a:solidFill>
              </a:rPr>
              <a:t>Modelo con las variables estables de S2</a:t>
            </a:r>
            <a:endParaRPr lang="en-US" sz="1250" dirty="0"/>
          </a:p>
          <a:p>
            <a:pPr algn="l" marL="342900" indent="-342900">
              <a:spcAft>
                <a:spcPts val="700"/>
              </a:spcAft>
              <a:buSzPct val="100000"/>
              <a:buChar char="•"/>
            </a:pPr>
            <a:r>
              <a:rPr lang="en-US" sz="1250" dirty="0">
                <a:solidFill>
                  <a:schemeClr val="tx1"/>
                </a:solidFill>
              </a:rPr>
              <a:t>Bootstrap aplicado a los coeficientes</a:t>
            </a:r>
            <a:endParaRPr lang="en-US" sz="1250" dirty="0"/>
          </a:p>
          <a:p>
            <a:pPr algn="l" marL="342900" indent="-342900">
              <a:spcAft>
                <a:spcPts val="700"/>
              </a:spcAft>
              <a:buSzPct val="100000"/>
              <a:buChar char="•"/>
            </a:pPr>
            <a:r>
              <a:rPr lang="en-US" sz="1250" dirty="0">
                <a:solidFill>
                  <a:schemeClr val="tx1"/>
                </a:solidFill>
              </a:rPr>
              <a:t>Partición agrupada por institución</a:t>
            </a:r>
            <a:endParaRPr lang="en-US" sz="1250" dirty="0"/>
          </a:p>
        </p:txBody>
      </p:sp>
      <p:sp>
        <p:nvSpPr>
          <p:cNvPr id="18" name="tarjeta-cadena"/>
          <p:cNvSpPr/>
          <p:nvPr/>
        </p:nvSpPr>
        <p:spPr>
          <a:xfrm>
            <a:off x="640080" y="4617720"/>
            <a:ext cx="10908792" cy="1188720"/>
          </a:xfrm>
          <a:prstGeom prst="roundRect">
            <a:avLst>
              <a:gd name="adj" fmla="val 4615"/>
            </a:avLst>
          </a:prstGeom>
          <a:solidFill>
            <a:schemeClr val="bg2"/>
          </a:solidFill>
          <a:ln w="9525">
            <a:solidFill>
              <a:srgbClr val="C9D4DD"/>
            </a:solidFill>
            <a:prstDash val="solid"/>
          </a:ln>
        </p:spPr>
      </p:sp>
      <p:sp>
        <p:nvSpPr>
          <p:cNvPr id="19" name="Text 17"/>
          <p:cNvSpPr txBox="1"/>
          <p:nvPr/>
        </p:nvSpPr>
        <p:spPr>
          <a:xfrm>
            <a:off x="914400" y="4617720"/>
            <a:ext cx="10360152" cy="1188720"/>
          </a:xfrm>
          <a:prstGeom prst="rect">
            <a:avLst/>
          </a:prstGeom>
          <a:noFill/>
          <a:ln/>
        </p:spPr>
        <p:txBody>
          <a:bodyPr wrap="square" lIns="0" tIns="0" rIns="0" bIns="0" rtlCol="0" anchor="ctr"/>
          <a:lstStyle/>
          <a:p>
            <a:pPr algn="ctr" indent="0" marL="0">
              <a:buNone/>
            </a:pPr>
            <a:r>
              <a:rPr lang="en-US" sz="1450" b="1" dirty="0">
                <a:solidFill>
                  <a:schemeClr val="tx1"/>
                </a:solidFill>
              </a:rPr>
              <a:t>Cada columna es consecuencia directa de la anterior: esta fase no abre líneas nuevas, cierra las que S1 y S2 dejaron abiertas.</a:t>
            </a:r>
            <a:endParaRPr lang="en-US" sz="14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De dónde viene cada decisión de esta fase</a:t>
            </a:r>
            <a:endParaRPr lang="en-US" sz="2800" dirty="0"/>
          </a:p>
        </p:txBody>
      </p:sp>
      <p:graphicFrame>
        <p:nvGraphicFramePr>
          <p:cNvPr id="6" name="tabla-trazabilidad"/>
          <p:cNvGraphicFramePr>
            <a:graphicFrameLocks noGrp="1"/>
          </p:cNvGraphicFramePr>
          <p:nvPr>
            <p:extLst>
              <p:ext uri="{D42A27DB-BD31-4B8C-83A1-F6EECF244321}">
                <p14:modId xmlns:p14="http://schemas.microsoft.com/office/powerpoint/2010/main" val="1579011935"/>
              </p:ext>
            </p:extLst>
          </p:nvPr>
        </p:nvGraphicFramePr>
        <p:xfrm>
          <a:off x="640080" y="1417320"/>
          <a:ext cx="10908792" cy="914400"/>
        </p:xfrm>
        <a:graphic>
          <a:graphicData uri="http://schemas.openxmlformats.org/drawingml/2006/table">
            <a:tbl>
              <a:tblPr/>
              <a:tblGrid>
                <a:gridCol w="5454396"/>
                <a:gridCol w="5454396"/>
              </a:tblGrid>
              <a:tr h="566928">
                <a:tc>
                  <a:txBody>
                    <a:bodyPr/>
                    <a:lstStyle/>
                    <a:p>
                      <a:pPr indent="0" marL="0">
                        <a:buNone/>
                      </a:pPr>
                      <a:r>
                        <a:rPr lang="en-US" sz="1300" b="1" dirty="0">
                          <a:solidFill>
                            <a:srgbClr val="FFFFFF"/>
                          </a:solidFill>
                        </a:rPr>
                        <a:t>Decisión tomada en la Sumativa 3</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indent="0" marL="0">
                        <a:buNone/>
                      </a:pPr>
                      <a:r>
                        <a:rPr lang="en-US" sz="1300" b="1" dirty="0">
                          <a:solidFill>
                            <a:srgbClr val="FFFFFF"/>
                          </a:solidFill>
                        </a:rPr>
                        <a:t>Resultado anterior que la justifica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566928">
                <a:tc>
                  <a:txBody>
                    <a:bodyPr/>
                    <a:lstStyle/>
                    <a:p>
                      <a:pPr indent="0" marL="0">
                        <a:buNone/>
                      </a:pPr>
                      <a:r>
                        <a:rPr lang="en-US" sz="1300" dirty="0">
                          <a:solidFill>
                            <a:srgbClr val="1C2126"/>
                          </a:solidFill>
                        </a:rPr>
                        <a:t>Predictoras de los modelos de imputación</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La matriz de correlaciones de S1</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Variables del modelo logístico</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El filtro de estabilidad por bootstrap de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66928">
                <a:tc>
                  <a:txBody>
                    <a:bodyPr/>
                    <a:lstStyle/>
                    <a:p>
                      <a:pPr indent="0" marL="0">
                        <a:buNone/>
                      </a:pPr>
                      <a:r>
                        <a:rPr lang="en-US" sz="1300" dirty="0">
                          <a:solidFill>
                            <a:srgbClr val="1C2126"/>
                          </a:solidFill>
                        </a:rPr>
                        <a:t>Partición agrupada por institución</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La advertencia de S2 sobre la no independencia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Conservar los 465 programas censurados</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La auditoría caso a caso que hizo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66928">
                <a:tc>
                  <a:txBody>
                    <a:bodyPr/>
                    <a:lstStyle/>
                    <a:p>
                      <a:pPr indent="0" marL="0">
                        <a:buNone/>
                      </a:pPr>
                      <a:r>
                        <a:rPr lang="en-US" sz="1300" dirty="0">
                          <a:solidFill>
                            <a:srgbClr val="1C2126"/>
                          </a:solidFill>
                        </a:rPr>
                        <a:t>Umbral del 50 % en la variable respuesta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El 54,94 % de S1, validado por Wilson y Z en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Bootstrap de los coeficientes del modelo</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El mismo instrumento que S2 aplicó a medias</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5577840"/>
            <a:ext cx="10908792" cy="457200"/>
          </a:xfrm>
          <a:prstGeom prst="rect">
            <a:avLst/>
          </a:prstGeom>
          <a:noFill/>
          <a:ln/>
        </p:spPr>
        <p:txBody>
          <a:bodyPr wrap="square" lIns="0" tIns="0" rIns="0" bIns="0" rtlCol="0" anchor="t"/>
          <a:lstStyle/>
          <a:p>
            <a:pPr algn="l" indent="0" marL="0">
              <a:buNone/>
            </a:pPr>
            <a:r>
              <a:rPr lang="en-US" sz="1300" i="1" dirty="0">
                <a:solidFill>
                  <a:schemeClr val="tx2"/>
                </a:solidFill>
              </a:rPr>
              <a:t>La columna izquierda no contiene ninguna decisión que se haya tomado en esta fase sin un antecedente documentado.</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El conjunto no tiene faltantes: cómo resolvimos eso</a:t>
            </a:r>
            <a:endParaRPr lang="en-US" sz="2800" dirty="0"/>
          </a:p>
        </p:txBody>
      </p:sp>
      <p:sp>
        <p:nvSpPr>
          <p:cNvPr id="3" name="tarjeta-problema"/>
          <p:cNvSpPr/>
          <p:nvPr/>
        </p:nvSpPr>
        <p:spPr>
          <a:xfrm>
            <a:off x="640080" y="1325880"/>
            <a:ext cx="4937760" cy="4343400"/>
          </a:xfrm>
          <a:prstGeom prst="roundRect">
            <a:avLst>
              <a:gd name="adj" fmla="val 1263"/>
            </a:avLst>
          </a:prstGeom>
          <a:solidFill>
            <a:schemeClr val="bg2"/>
          </a:solidFill>
          <a:ln w="9525">
            <a:solidFill>
              <a:srgbClr val="C9D4DD"/>
            </a:solidFill>
            <a:prstDash val="solid"/>
          </a:ln>
        </p:spPr>
      </p:sp>
      <p:sp>
        <p:nvSpPr>
          <p:cNvPr id="4" name="Text 2"/>
          <p:cNvSpPr txBox="1"/>
          <p:nvPr/>
        </p:nvSpPr>
        <p:spPr>
          <a:xfrm>
            <a:off x="914400" y="1554480"/>
            <a:ext cx="4389120" cy="365760"/>
          </a:xfrm>
          <a:prstGeom prst="rect">
            <a:avLst/>
          </a:prstGeom>
          <a:noFill/>
          <a:ln/>
        </p:spPr>
        <p:txBody>
          <a:bodyPr wrap="square" lIns="0" tIns="0" rIns="0" bIns="0" rtlCol="0" anchor="t"/>
          <a:lstStyle/>
          <a:p>
            <a:pPr algn="l" indent="0" marL="0">
              <a:buNone/>
            </a:pPr>
            <a:r>
              <a:rPr lang="en-US" sz="1600" b="1" dirty="0">
                <a:solidFill>
                  <a:schemeClr val="accent1"/>
                </a:solidFill>
              </a:rPr>
              <a:t>El problema</a:t>
            </a:r>
            <a:endParaRPr lang="en-US" sz="1600" dirty="0"/>
          </a:p>
        </p:txBody>
      </p:sp>
      <p:sp>
        <p:nvSpPr>
          <p:cNvPr id="5" name="Text 3"/>
          <p:cNvSpPr txBox="1"/>
          <p:nvPr/>
        </p:nvSpPr>
        <p:spPr>
          <a:xfrm>
            <a:off x="914400" y="2011680"/>
            <a:ext cx="4389120" cy="1645920"/>
          </a:xfrm>
          <a:prstGeom prst="rect">
            <a:avLst/>
          </a:prstGeom>
          <a:noFill/>
          <a:ln/>
        </p:spPr>
        <p:txBody>
          <a:bodyPr wrap="square" lIns="0" tIns="0" rIns="0" bIns="0" rtlCol="0" anchor="t"/>
          <a:lstStyle/>
          <a:p>
            <a:pPr algn="l" indent="0" marL="0">
              <a:buNone/>
            </a:pPr>
            <a:r>
              <a:rPr lang="en-US" sz="1300" dirty="0">
                <a:solidFill>
                  <a:schemeClr val="tx1"/>
                </a:solidFill>
              </a:rPr>
              <a:t>La pauta pide imputar datos faltantes. S1 demostró que no hay ninguno, y el conjunto no los tuvo nunca: cada fila es un agregado por programa, y un programa sin los campos necesarios no produce una fila con huecos, no produce fila.</a:t>
            </a:r>
            <a:endParaRPr lang="en-US" sz="1300" dirty="0"/>
          </a:p>
        </p:txBody>
      </p:sp>
      <p:sp>
        <p:nvSpPr>
          <p:cNvPr id="6" name="Text 4"/>
          <p:cNvSpPr txBox="1"/>
          <p:nvPr/>
        </p:nvSpPr>
        <p:spPr>
          <a:xfrm>
            <a:off x="914400" y="3429000"/>
            <a:ext cx="4389120" cy="731520"/>
          </a:xfrm>
          <a:prstGeom prst="rect">
            <a:avLst/>
          </a:prstGeom>
          <a:noFill/>
          <a:ln/>
        </p:spPr>
        <p:txBody>
          <a:bodyPr wrap="square" lIns="0" tIns="0" rIns="0" bIns="0" rtlCol="0" anchor="t"/>
          <a:lstStyle/>
          <a:p>
            <a:pPr algn="l" indent="0" marL="0">
              <a:buNone/>
            </a:pPr>
            <a:r>
              <a:rPr lang="en-US" sz="1300" b="1" dirty="0">
                <a:solidFill>
                  <a:schemeClr val="tx1"/>
                </a:solidFill>
              </a:rPr>
              <a:t>Imputar sobre el dato real era imposible. Inventar faltantes y callarlo, inaceptable.</a:t>
            </a:r>
            <a:endParaRPr lang="en-US" sz="1300" dirty="0"/>
          </a:p>
        </p:txBody>
      </p:sp>
      <p:sp>
        <p:nvSpPr>
          <p:cNvPr id="7" name="Text 5"/>
          <p:cNvSpPr txBox="1"/>
          <p:nvPr/>
        </p:nvSpPr>
        <p:spPr>
          <a:xfrm>
            <a:off x="914400" y="4114800"/>
            <a:ext cx="4389120" cy="1371600"/>
          </a:xfrm>
          <a:prstGeom prst="rect">
            <a:avLst/>
          </a:prstGeom>
          <a:noFill/>
          <a:ln/>
        </p:spPr>
        <p:txBody>
          <a:bodyPr wrap="square" lIns="0" tIns="0" rIns="0" bIns="0" rtlCol="0" anchor="t"/>
          <a:lstStyle/>
          <a:p>
            <a:pPr algn="l" indent="0" marL="0">
              <a:buNone/>
            </a:pPr>
            <a:r>
              <a:rPr lang="en-US" sz="1300" dirty="0">
                <a:solidFill>
                  <a:schemeClr val="tx2"/>
                </a:solidFill>
              </a:rPr>
              <a:t>Solución: un experimento controlado de ausencia. Se eliminan valores a propósito bajo los tres mecanismos de Rubin. La ventaja es decisiva: conocemos los valores verdaderos, así que podemos medir el error de cada estrategia.</a:t>
            </a:r>
            <a:endParaRPr lang="en-US" sz="1300" dirty="0"/>
          </a:p>
        </p:txBody>
      </p:sp>
      <p:graphicFrame>
        <p:nvGraphicFramePr>
          <p:cNvPr id="7" name="tabla-mecanismos"/>
          <p:cNvGraphicFramePr>
            <a:graphicFrameLocks noGrp="1"/>
          </p:cNvGraphicFramePr>
          <p:nvPr>
            <p:extLst>
              <p:ext uri="{D42A27DB-BD31-4B8C-83A1-F6EECF244321}">
                <p14:modId xmlns:p14="http://schemas.microsoft.com/office/powerpoint/2010/main" val="1579011935"/>
              </p:ext>
            </p:extLst>
          </p:nvPr>
        </p:nvGraphicFramePr>
        <p:xfrm>
          <a:off x="5852160" y="1417320"/>
          <a:ext cx="5669280" cy="914400"/>
        </p:xfrm>
        <a:graphic>
          <a:graphicData uri="http://schemas.openxmlformats.org/drawingml/2006/table">
            <a:tbl>
              <a:tblPr/>
              <a:tblGrid>
                <a:gridCol w="1828800"/>
                <a:gridCol w="1280160"/>
                <a:gridCol w="1188720"/>
                <a:gridCol w="1371600"/>
              </a:tblGrid>
              <a:tr h="502920">
                <a:tc>
                  <a:txBody>
                    <a:bodyPr/>
                    <a:lstStyle/>
                    <a:p>
                      <a:pPr algn="l" indent="0" marL="0">
                        <a:buNone/>
                      </a:pPr>
                      <a:r>
                        <a:rPr lang="en-US" sz="1250" b="1" dirty="0">
                          <a:solidFill>
                            <a:srgbClr val="FFFFFF"/>
                          </a:solidFill>
                        </a:rPr>
                        <a:t>Variable</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Mecanismo</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Ausencia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Sesgo en la media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502920">
                <a:tc>
                  <a:txBody>
                    <a:bodyPr/>
                    <a:lstStyle/>
                    <a:p>
                      <a:pPr algn="l" indent="0" marL="0">
                        <a:buNone/>
                      </a:pPr>
                      <a:r>
                        <a:rPr lang="en-US" sz="1250" dirty="0">
                          <a:solidFill>
                            <a:srgbClr val="1C2126"/>
                          </a:solidFill>
                        </a:rPr>
                        <a:t>edad_promedio</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MCAR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14,9 %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+0,015</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02920">
                <a:tc>
                  <a:txBody>
                    <a:bodyPr/>
                    <a:lstStyle/>
                    <a:p>
                      <a:pPr algn="l" indent="0" marL="0">
                        <a:buNone/>
                      </a:pPr>
                      <a:r>
                        <a:rPr lang="en-US" sz="1250" dirty="0">
                          <a:solidFill>
                            <a:srgbClr val="1C2126"/>
                          </a:solidFill>
                        </a:rPr>
                        <a:t>pct_mujeres</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MAR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24,5 %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−0,002</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02920">
                <a:tc>
                  <a:txBody>
                    <a:bodyPr/>
                    <a:lstStyle/>
                    <a:p>
                      <a:pPr algn="l" indent="0" marL="0">
                        <a:buNone/>
                      </a:pPr>
                      <a:r>
                        <a:rPr lang="en-US" sz="1250" dirty="0">
                          <a:solidFill>
                            <a:srgbClr val="1C2126"/>
                          </a:solidFill>
                        </a:rPr>
                        <a:t>log_matricula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MNAR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24,6 %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AC212E"/>
                          </a:solidFill>
                        </a:rPr>
                        <a:t>+0,129</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852160" y="3657600"/>
            <a:ext cx="5669280" cy="365760"/>
          </a:xfrm>
          <a:prstGeom prst="rect">
            <a:avLst/>
          </a:prstGeom>
          <a:noFill/>
          <a:ln/>
        </p:spPr>
        <p:txBody>
          <a:bodyPr wrap="square" lIns="0" tIns="0" rIns="0" bIns="0" rtlCol="0" anchor="t"/>
          <a:lstStyle/>
          <a:p>
            <a:pPr algn="l" indent="0" marL="0">
              <a:buNone/>
            </a:pPr>
            <a:r>
              <a:rPr lang="en-US" sz="1500" b="1" dirty="0">
                <a:solidFill>
                  <a:schemeClr val="accent1"/>
                </a:solidFill>
              </a:rPr>
              <a:t>La lección, y no es la esperada</a:t>
            </a:r>
            <a:endParaRPr lang="en-US" sz="1500" dirty="0"/>
          </a:p>
        </p:txBody>
      </p:sp>
      <p:sp>
        <p:nvSpPr>
          <p:cNvPr id="10" name="Text 7"/>
          <p:cNvSpPr txBox="1"/>
          <p:nvPr/>
        </p:nvSpPr>
        <p:spPr>
          <a:xfrm>
            <a:off x="5852160" y="4114800"/>
            <a:ext cx="5669280" cy="17373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Bajo MNAR el sesgo es grande: faltan los programas pequeños y la media sobreestima el tamaño típico.</a:t>
            </a:r>
            <a:endParaRPr lang="en-US" sz="1250" dirty="0"/>
          </a:p>
          <a:p>
            <a:pPr algn="l" marL="342900" indent="-342900">
              <a:spcAft>
                <a:spcPts val="700"/>
              </a:spcAft>
              <a:buSzPct val="100000"/>
              <a:buChar char="•"/>
            </a:pPr>
            <a:r>
              <a:rPr lang="en-US" sz="1250" dirty="0">
                <a:solidFill>
                  <a:schemeClr val="tx1"/>
                </a:solidFill>
              </a:rPr>
              <a:t>Bajo MAR el sesgo de la media es despreciable, porque la duración apenas correlaciona con la variable afectada.</a:t>
            </a:r>
            <a:endParaRPr lang="en-US" sz="1250" dirty="0"/>
          </a:p>
          <a:p>
            <a:pPr algn="l" marL="342900" indent="-342900">
              <a:spcAft>
                <a:spcPts val="700"/>
              </a:spcAft>
              <a:buSzPct val="100000"/>
              <a:buChar char="•"/>
            </a:pPr>
            <a:r>
              <a:rPr lang="en-US" sz="1250" dirty="0">
                <a:solidFill>
                  <a:schemeClr val="tx1"/>
                </a:solidFill>
              </a:rPr>
              <a:t>MAR no sesga necesariamente las medias; lo que distorsiona son las relaciones condicionales.</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nchor="ctr"/>
          <a:lstStyle/>
          <a:p>
            <a:pPr indent="0" marL="0">
              <a:buNone/>
            </a:pPr>
            <a:r>
              <a:rPr lang="en-US" sz="3600" b="1" dirty="0">
                <a:solidFill>
                  <a:schemeClr val="bg1"/>
                </a:solidFill>
              </a:rPr>
              <a:t>Resultados</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nchor="t"/>
          <a:lstStyle/>
          <a:p>
            <a:pPr indent="0" marL="0">
              <a:buNone/>
            </a:pPr>
            <a:r>
              <a:rPr lang="en-US" sz="1600" dirty="0">
                <a:solidFill>
                  <a:srgbClr val="9FB6C8"/>
                </a:solidFill>
              </a:rPr>
              <a:t>Cuatro hallazgos: qué imputación gana, qué factores explican el abandono, qué tan bien se predice y cuánta precisión declarábamos de más.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1: la imputación por regresión gana en las tres dimensiones</a:t>
            </a:r>
            <a:endParaRPr lang="en-US" sz="2800" dirty="0"/>
          </a:p>
        </p:txBody>
      </p:sp>
      <p:pic>
        <p:nvPicPr>
          <p:cNvPr id="3" name="fig-estrategias" descr="D:\Magister Ciencia de Datos\Estadística computacional\Sumativa\analisis-desercion\S3\resultados\figuras\fig1_estrategias_imputacion.png">    </p:cNvPr>
          <p:cNvPicPr>
            <a:picLocks noChangeAspect="1"/>
          </p:cNvPicPr>
          <p:nvPr/>
        </p:nvPicPr>
        <p:blipFill>
          <a:blip r:embed="rId1"/>
          <a:stretch>
            <a:fillRect/>
          </a:stretch>
        </p:blipFill>
        <p:spPr>
          <a:xfrm>
            <a:off x="640080" y="1234440"/>
            <a:ext cx="10908792" cy="3922776"/>
          </a:xfrm>
          <a:prstGeom prst="rect">
            <a:avLst/>
          </a:prstGeom>
        </p:spPr>
      </p:pic>
      <p:sp>
        <p:nvSpPr>
          <p:cNvPr id="4" name="Text 1"/>
          <p:cNvSpPr txBox="1"/>
          <p:nvPr/>
        </p:nvSpPr>
        <p:spPr>
          <a:xfrm>
            <a:off x="640080" y="5303520"/>
            <a:ext cx="10908792" cy="914400"/>
          </a:xfrm>
          <a:prstGeom prst="rect">
            <a:avLst/>
          </a:prstGeom>
          <a:noFill/>
          <a:ln/>
        </p:spPr>
        <p:txBody>
          <a:bodyPr wrap="square" lIns="0" tIns="0" rIns="0" bIns="0" rtlCol="0" anchor="t"/>
          <a:lstStyle/>
          <a:p>
            <a:pPr algn="l" indent="0" marL="0">
              <a:buNone/>
            </a:pPr>
            <a:r>
              <a:rPr lang="en-US" sz="1300" dirty="0">
                <a:solidFill>
                  <a:schemeClr val="tx1"/>
                </a:solidFill>
              </a:rPr>
              <a:t>Conserva el 100 % de la muestra frente al 47,5 % que deja la eliminación; su desvío respecto de las correlaciones de S1 es el menor de los tres (0,0135 contra 0,0183 y 0,0197); y su RMSE es menor en las tres variables. Pero bajo MNAR ninguna estrategia recupera lo perdido: el sesgo persiste.</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2: cuatro factores, y los cuatro protegen</a:t>
            </a:r>
            <a:endParaRPr lang="en-US" sz="2800" dirty="0"/>
          </a:p>
        </p:txBody>
      </p:sp>
      <p:graphicFrame>
        <p:nvGraphicFramePr>
          <p:cNvPr id="3" name="grafico-momios" descr=""/>
          <p:cNvGraphicFramePr/>
          <p:nvPr/>
        </p:nvGraphicFramePr>
        <p:xfrm>
          <a:off x="640080" y="1280160"/>
          <a:ext cx="6492240" cy="4114800"/>
        </p:xfrm>
        <a:graphic xmlns:a="http://schemas.openxmlformats.org/drawingml/2006/main">
          <a:graphicData uri="http://schemas.openxmlformats.org/drawingml/2006/chart">
            <c:chart xmlns:c="http://schemas.openxmlformats.org/drawingml/2006/chart" r:id="rId1"/>
          </a:graphicData>
        </a:graphic>
      </p:graphicFrame>
      <p:sp>
        <p:nvSpPr>
          <p:cNvPr id="4" name="tarjeta-lectura-momios"/>
          <p:cNvSpPr/>
          <p:nvPr/>
        </p:nvSpPr>
        <p:spPr>
          <a:xfrm>
            <a:off x="7498080" y="1280160"/>
            <a:ext cx="4050792" cy="4114800"/>
          </a:xfrm>
          <a:prstGeom prst="roundRect">
            <a:avLst>
              <a:gd name="adj" fmla="val 1354"/>
            </a:avLst>
          </a:prstGeom>
          <a:solidFill>
            <a:schemeClr val="bg2"/>
          </a:solidFill>
          <a:ln w="9525">
            <a:solidFill>
              <a:srgbClr val="C9D4DD"/>
            </a:solidFill>
            <a:prstDash val="solid"/>
          </a:ln>
        </p:spPr>
      </p:sp>
      <p:sp>
        <p:nvSpPr>
          <p:cNvPr id="5" name="Text 2"/>
          <p:cNvSpPr txBox="1"/>
          <p:nvPr/>
        </p:nvSpPr>
        <p:spPr>
          <a:xfrm>
            <a:off x="7772400" y="1508760"/>
            <a:ext cx="3566160" cy="365760"/>
          </a:xfrm>
          <a:prstGeom prst="rect">
            <a:avLst/>
          </a:prstGeom>
          <a:noFill/>
          <a:ln/>
        </p:spPr>
        <p:txBody>
          <a:bodyPr wrap="square" lIns="0" tIns="0" rIns="0" bIns="0" rtlCol="0" anchor="t"/>
          <a:lstStyle/>
          <a:p>
            <a:pPr algn="l" indent="0" marL="0">
              <a:buNone/>
            </a:pPr>
            <a:r>
              <a:rPr lang="en-US" sz="1500" b="1" dirty="0">
                <a:solidFill>
                  <a:schemeClr val="accent1"/>
                </a:solidFill>
              </a:rPr>
              <a:t>Cómo se lee</a:t>
            </a:r>
            <a:endParaRPr lang="en-US" sz="1500" dirty="0"/>
          </a:p>
        </p:txBody>
      </p:sp>
      <p:sp>
        <p:nvSpPr>
          <p:cNvPr id="6" name="Text 3"/>
          <p:cNvSpPr txBox="1"/>
          <p:nvPr/>
        </p:nvSpPr>
        <p:spPr>
          <a:xfrm>
            <a:off x="7772400" y="1965960"/>
            <a:ext cx="3566160" cy="1005840"/>
          </a:xfrm>
          <a:prstGeom prst="rect">
            <a:avLst/>
          </a:prstGeom>
          <a:noFill/>
          <a:ln/>
        </p:spPr>
        <p:txBody>
          <a:bodyPr wrap="square" lIns="0" tIns="0" rIns="0" bIns="0" rtlCol="0" anchor="t"/>
          <a:lstStyle/>
          <a:p>
            <a:pPr algn="l" indent="0" marL="0">
              <a:buNone/>
            </a:pPr>
            <a:r>
              <a:rPr lang="en-US" sz="1250" dirty="0">
                <a:solidFill>
                  <a:schemeClr val="tx1"/>
                </a:solidFill>
              </a:rPr>
              <a:t>Las variables están estandarizadas, así que cada razón de momios es el efecto de una desviación típica. Un valor bajo 1 reduce el riesgo.</a:t>
            </a:r>
            <a:endParaRPr lang="en-US" sz="1250" dirty="0"/>
          </a:p>
        </p:txBody>
      </p:sp>
      <p:sp>
        <p:nvSpPr>
          <p:cNvPr id="7" name="Text 4"/>
          <p:cNvSpPr txBox="1"/>
          <p:nvPr/>
        </p:nvSpPr>
        <p:spPr>
          <a:xfrm>
            <a:off x="7772400" y="3017520"/>
            <a:ext cx="3566160" cy="1097280"/>
          </a:xfrm>
          <a:prstGeom prst="rect">
            <a:avLst/>
          </a:prstGeom>
          <a:noFill/>
          <a:ln/>
        </p:spPr>
        <p:txBody>
          <a:bodyPr wrap="square" lIns="0" tIns="0" rIns="0" bIns="0" rtlCol="0" anchor="t"/>
          <a:lstStyle/>
          <a:p>
            <a:pPr algn="l" indent="0" marL="0">
              <a:buNone/>
            </a:pPr>
            <a:r>
              <a:rPr lang="en-US" sz="1250" b="1" dirty="0">
                <a:solidFill>
                  <a:schemeClr val="tx1"/>
                </a:solidFill>
              </a:rPr>
              <a:t>Una desviación típica más de acreditación, tamaño o presencia femenina reduce entre un 26 % y un 33 % la probabilidad relativa de abandono alto.</a:t>
            </a:r>
            <a:endParaRPr lang="en-US" sz="1250" dirty="0"/>
          </a:p>
        </p:txBody>
      </p:sp>
      <p:sp>
        <p:nvSpPr>
          <p:cNvPr id="8" name="Text 5"/>
          <p:cNvSpPr txBox="1"/>
          <p:nvPr/>
        </p:nvSpPr>
        <p:spPr>
          <a:xfrm>
            <a:off x="7772400" y="4160520"/>
            <a:ext cx="3566160" cy="1005840"/>
          </a:xfrm>
          <a:prstGeom prst="rect">
            <a:avLst/>
          </a:prstGeom>
          <a:noFill/>
          <a:ln/>
        </p:spPr>
        <p:txBody>
          <a:bodyPr wrap="square" lIns="0" tIns="0" rIns="0" bIns="0" rtlCol="0" anchor="t"/>
          <a:lstStyle/>
          <a:p>
            <a:pPr algn="l" indent="0" marL="0">
              <a:buNone/>
            </a:pPr>
            <a:r>
              <a:rPr lang="en-US" sz="1250" dirty="0">
                <a:solidFill>
                  <a:schemeClr val="tx2"/>
                </a:solidFill>
              </a:rPr>
              <a:t>Las cuatro son significativas al 0,1 %. Y son las mismas cuatro que resistieron el remuestreo en S2.</a:t>
            </a:r>
            <a:endParaRPr lang="en-US" sz="1250" dirty="0"/>
          </a:p>
        </p:txBody>
      </p:sp>
      <p:sp>
        <p:nvSpPr>
          <p:cNvPr id="9" name="Text 6"/>
          <p:cNvSpPr txBox="1"/>
          <p:nvPr/>
        </p:nvSpPr>
        <p:spPr>
          <a:xfrm>
            <a:off x="640080" y="5532120"/>
            <a:ext cx="10908792" cy="548640"/>
          </a:xfrm>
          <a:prstGeom prst="rect">
            <a:avLst/>
          </a:prstGeom>
          <a:noFill/>
          <a:ln/>
        </p:spPr>
        <p:txBody>
          <a:bodyPr wrap="square" lIns="0" tIns="0" rIns="0" bIns="0" rtlCol="0" anchor="t"/>
          <a:lstStyle/>
          <a:p>
            <a:pPr algn="l" indent="0" marL="0">
              <a:buNone/>
            </a:pPr>
            <a:r>
              <a:rPr lang="en-US" sz="1300" i="1" dirty="0">
                <a:solidFill>
                  <a:schemeClr val="tx2"/>
                </a:solidFill>
              </a:rPr>
              <a:t>Corroboración independiente: una selección automática por BIC, que no conoce nada de las fases anteriores, reencuentra estas mismas cuatro variables.</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3: predice lo suficiente para priorizar, no para dictaminar</a:t>
            </a:r>
            <a:endParaRPr lang="en-US" sz="2800" dirty="0"/>
          </a:p>
        </p:txBody>
      </p:sp>
      <p:pic>
        <p:nvPicPr>
          <p:cNvPr id="3" name="fig-desempeno" descr="D:\Magister Ciencia de Datos\Estadística computacional\Sumativa\analisis-desercion\S3\resultados\figuras\fig2_confusion_roc.png">    </p:cNvPr>
          <p:cNvPicPr>
            <a:picLocks noChangeAspect="1"/>
          </p:cNvPicPr>
          <p:nvPr/>
        </p:nvPicPr>
        <p:blipFill>
          <a:blip r:embed="rId1"/>
          <a:stretch>
            <a:fillRect/>
          </a:stretch>
        </p:blipFill>
        <p:spPr>
          <a:xfrm>
            <a:off x="640080" y="1188720"/>
            <a:ext cx="10908792" cy="3236976"/>
          </a:xfrm>
          <a:prstGeom prst="rect">
            <a:avLst/>
          </a:prstGeom>
        </p:spPr>
      </p:pic>
      <p:sp>
        <p:nvSpPr>
          <p:cNvPr id="4" name="tarjeta-metrica-0"/>
          <p:cNvSpPr/>
          <p:nvPr/>
        </p:nvSpPr>
        <p:spPr>
          <a:xfrm>
            <a:off x="640080" y="4572000"/>
            <a:ext cx="3453384" cy="1371600"/>
          </a:xfrm>
          <a:prstGeom prst="roundRect">
            <a:avLst>
              <a:gd name="adj" fmla="val 4000"/>
            </a:avLst>
          </a:prstGeom>
          <a:solidFill>
            <a:schemeClr val="bg2"/>
          </a:solidFill>
          <a:ln w="9525">
            <a:solidFill>
              <a:srgbClr val="C9D4DD"/>
            </a:solidFill>
            <a:prstDash val="solid"/>
          </a:ln>
        </p:spPr>
      </p:sp>
      <p:sp>
        <p:nvSpPr>
          <p:cNvPr id="5" name="Text 2"/>
          <p:cNvSpPr txBox="1"/>
          <p:nvPr/>
        </p:nvSpPr>
        <p:spPr>
          <a:xfrm>
            <a:off x="868680" y="4681728"/>
            <a:ext cx="2996184" cy="457200"/>
          </a:xfrm>
          <a:prstGeom prst="rect">
            <a:avLst/>
          </a:prstGeom>
          <a:noFill/>
          <a:ln/>
        </p:spPr>
        <p:txBody>
          <a:bodyPr wrap="square" lIns="0" tIns="0" rIns="0" bIns="0" rtlCol="0" anchor="t"/>
          <a:lstStyle/>
          <a:p>
            <a:pPr algn="l" indent="0" marL="0">
              <a:buNone/>
            </a:pPr>
            <a:r>
              <a:rPr lang="en-US" sz="2400" b="1" dirty="0">
                <a:solidFill>
                  <a:schemeClr val="accent1"/>
                </a:solidFill>
              </a:rPr>
              <a:t>0,754</a:t>
            </a:r>
            <a:endParaRPr lang="en-US" sz="2400" dirty="0"/>
          </a:p>
        </p:txBody>
      </p:sp>
      <p:sp>
        <p:nvSpPr>
          <p:cNvPr id="6" name="Text 3"/>
          <p:cNvSpPr txBox="1"/>
          <p:nvPr/>
        </p:nvSpPr>
        <p:spPr>
          <a:xfrm>
            <a:off x="868680" y="5138928"/>
            <a:ext cx="2996184" cy="274320"/>
          </a:xfrm>
          <a:prstGeom prst="rect">
            <a:avLst/>
          </a:prstGeom>
          <a:noFill/>
          <a:ln/>
        </p:spPr>
        <p:txBody>
          <a:bodyPr wrap="square" lIns="0" tIns="0" rIns="0" bIns="0" rtlCol="0" anchor="t"/>
          <a:lstStyle/>
          <a:p>
            <a:pPr algn="l" indent="0" marL="0">
              <a:buNone/>
            </a:pPr>
            <a:r>
              <a:rPr lang="en-US" sz="1200" b="1" dirty="0">
                <a:solidFill>
                  <a:schemeClr val="tx1"/>
                </a:solidFill>
              </a:rPr>
              <a:t>AUC en prueba</a:t>
            </a:r>
            <a:endParaRPr lang="en-US" sz="1200" dirty="0"/>
          </a:p>
        </p:txBody>
      </p:sp>
      <p:sp>
        <p:nvSpPr>
          <p:cNvPr id="7" name="Text 4"/>
          <p:cNvSpPr txBox="1"/>
          <p:nvPr/>
        </p:nvSpPr>
        <p:spPr>
          <a:xfrm>
            <a:off x="868680" y="5413248"/>
            <a:ext cx="2996184" cy="457200"/>
          </a:xfrm>
          <a:prstGeom prst="rect">
            <a:avLst/>
          </a:prstGeom>
          <a:noFill/>
          <a:ln/>
        </p:spPr>
        <p:txBody>
          <a:bodyPr wrap="square" lIns="0" tIns="0" rIns="0" bIns="0" rtlCol="0" anchor="t"/>
          <a:lstStyle/>
          <a:p>
            <a:pPr algn="l" indent="0" marL="0">
              <a:buNone/>
            </a:pPr>
            <a:r>
              <a:rPr lang="en-US" sz="1100" dirty="0">
                <a:solidFill>
                  <a:schemeClr val="tx2"/>
                </a:solidFill>
              </a:rPr>
              <a:t>sobre instituciones nunca vistas</a:t>
            </a:r>
            <a:endParaRPr lang="en-US" sz="1100" dirty="0"/>
          </a:p>
        </p:txBody>
      </p:sp>
      <p:sp>
        <p:nvSpPr>
          <p:cNvPr id="8" name="tarjeta-metrica-1"/>
          <p:cNvSpPr/>
          <p:nvPr/>
        </p:nvSpPr>
        <p:spPr>
          <a:xfrm>
            <a:off x="4367784" y="4572000"/>
            <a:ext cx="3453384" cy="1371600"/>
          </a:xfrm>
          <a:prstGeom prst="roundRect">
            <a:avLst>
              <a:gd name="adj" fmla="val 4000"/>
            </a:avLst>
          </a:prstGeom>
          <a:solidFill>
            <a:schemeClr val="bg2"/>
          </a:solidFill>
          <a:ln w="9525">
            <a:solidFill>
              <a:srgbClr val="C9D4DD"/>
            </a:solidFill>
            <a:prstDash val="solid"/>
          </a:ln>
        </p:spPr>
      </p:sp>
      <p:sp>
        <p:nvSpPr>
          <p:cNvPr id="9" name="Text 6"/>
          <p:cNvSpPr txBox="1"/>
          <p:nvPr/>
        </p:nvSpPr>
        <p:spPr>
          <a:xfrm>
            <a:off x="4596384" y="4681728"/>
            <a:ext cx="2996184" cy="457200"/>
          </a:xfrm>
          <a:prstGeom prst="rect">
            <a:avLst/>
          </a:prstGeom>
          <a:noFill/>
          <a:ln/>
        </p:spPr>
        <p:txBody>
          <a:bodyPr wrap="square" lIns="0" tIns="0" rIns="0" bIns="0" rtlCol="0" anchor="t"/>
          <a:lstStyle/>
          <a:p>
            <a:pPr algn="l" indent="0" marL="0">
              <a:buNone/>
            </a:pPr>
            <a:r>
              <a:rPr lang="en-US" sz="2400" b="1" dirty="0">
                <a:solidFill>
                  <a:schemeClr val="accent1"/>
                </a:solidFill>
              </a:rPr>
              <a:t>0,80</a:t>
            </a:r>
            <a:endParaRPr lang="en-US" sz="2400" dirty="0"/>
          </a:p>
        </p:txBody>
      </p:sp>
      <p:sp>
        <p:nvSpPr>
          <p:cNvPr id="10" name="Text 7"/>
          <p:cNvSpPr txBox="1"/>
          <p:nvPr/>
        </p:nvSpPr>
        <p:spPr>
          <a:xfrm>
            <a:off x="4596384" y="5138928"/>
            <a:ext cx="2996184" cy="274320"/>
          </a:xfrm>
          <a:prstGeom prst="rect">
            <a:avLst/>
          </a:prstGeom>
          <a:noFill/>
          <a:ln/>
        </p:spPr>
        <p:txBody>
          <a:bodyPr wrap="square" lIns="0" tIns="0" rIns="0" bIns="0" rtlCol="0" anchor="t"/>
          <a:lstStyle/>
          <a:p>
            <a:pPr algn="l" indent="0" marL="0">
              <a:buNone/>
            </a:pPr>
            <a:r>
              <a:rPr lang="en-US" sz="1200" b="1" dirty="0">
                <a:solidFill>
                  <a:schemeClr val="tx1"/>
                </a:solidFill>
              </a:rPr>
              <a:t>Sensibilidad</a:t>
            </a:r>
            <a:endParaRPr lang="en-US" sz="1200" dirty="0"/>
          </a:p>
        </p:txBody>
      </p:sp>
      <p:sp>
        <p:nvSpPr>
          <p:cNvPr id="11" name="Text 8"/>
          <p:cNvSpPr txBox="1"/>
          <p:nvPr/>
        </p:nvSpPr>
        <p:spPr>
          <a:xfrm>
            <a:off x="4596384" y="5413248"/>
            <a:ext cx="2996184" cy="457200"/>
          </a:xfrm>
          <a:prstGeom prst="rect">
            <a:avLst/>
          </a:prstGeom>
          <a:noFill/>
          <a:ln/>
        </p:spPr>
        <p:txBody>
          <a:bodyPr wrap="square" lIns="0" tIns="0" rIns="0" bIns="0" rtlCol="0" anchor="t"/>
          <a:lstStyle/>
          <a:p>
            <a:pPr algn="l" indent="0" marL="0">
              <a:buNone/>
            </a:pPr>
            <a:r>
              <a:rPr lang="en-US" sz="1100" dirty="0">
                <a:solidFill>
                  <a:schemeClr val="tx2"/>
                </a:solidFill>
              </a:rPr>
              <a:t>detecta bien los programas en riesgo</a:t>
            </a:r>
            <a:endParaRPr lang="en-US" sz="1100" dirty="0"/>
          </a:p>
        </p:txBody>
      </p:sp>
      <p:sp>
        <p:nvSpPr>
          <p:cNvPr id="12" name="tarjeta-metrica-2"/>
          <p:cNvSpPr/>
          <p:nvPr/>
        </p:nvSpPr>
        <p:spPr>
          <a:xfrm>
            <a:off x="8095488" y="4572000"/>
            <a:ext cx="3453384" cy="1371600"/>
          </a:xfrm>
          <a:prstGeom prst="roundRect">
            <a:avLst>
              <a:gd name="adj" fmla="val 4000"/>
            </a:avLst>
          </a:prstGeom>
          <a:solidFill>
            <a:schemeClr val="bg2"/>
          </a:solidFill>
          <a:ln w="9525">
            <a:solidFill>
              <a:srgbClr val="C9D4DD"/>
            </a:solidFill>
            <a:prstDash val="solid"/>
          </a:ln>
        </p:spPr>
      </p:sp>
      <p:sp>
        <p:nvSpPr>
          <p:cNvPr id="13" name="Text 10"/>
          <p:cNvSpPr txBox="1"/>
          <p:nvPr/>
        </p:nvSpPr>
        <p:spPr>
          <a:xfrm>
            <a:off x="8324088" y="4681728"/>
            <a:ext cx="2996184" cy="457200"/>
          </a:xfrm>
          <a:prstGeom prst="rect">
            <a:avLst/>
          </a:prstGeom>
          <a:noFill/>
          <a:ln/>
        </p:spPr>
        <p:txBody>
          <a:bodyPr wrap="square" lIns="0" tIns="0" rIns="0" bIns="0" rtlCol="0" anchor="t"/>
          <a:lstStyle/>
          <a:p>
            <a:pPr algn="l" indent="0" marL="0">
              <a:buNone/>
            </a:pPr>
            <a:r>
              <a:rPr lang="en-US" sz="2400" b="1" dirty="0">
                <a:solidFill>
                  <a:schemeClr val="accent1"/>
                </a:solidFill>
              </a:rPr>
              <a:t>0,55</a:t>
            </a:r>
            <a:endParaRPr lang="en-US" sz="2400" dirty="0"/>
          </a:p>
        </p:txBody>
      </p:sp>
      <p:sp>
        <p:nvSpPr>
          <p:cNvPr id="14" name="Text 11"/>
          <p:cNvSpPr txBox="1"/>
          <p:nvPr/>
        </p:nvSpPr>
        <p:spPr>
          <a:xfrm>
            <a:off x="8324088" y="5138928"/>
            <a:ext cx="2996184" cy="274320"/>
          </a:xfrm>
          <a:prstGeom prst="rect">
            <a:avLst/>
          </a:prstGeom>
          <a:noFill/>
          <a:ln/>
        </p:spPr>
        <p:txBody>
          <a:bodyPr wrap="square" lIns="0" tIns="0" rIns="0" bIns="0" rtlCol="0" anchor="t"/>
          <a:lstStyle/>
          <a:p>
            <a:pPr algn="l" indent="0" marL="0">
              <a:buNone/>
            </a:pPr>
            <a:r>
              <a:rPr lang="en-US" sz="1200" b="1" dirty="0">
                <a:solidFill>
                  <a:schemeClr val="tx1"/>
                </a:solidFill>
              </a:rPr>
              <a:t>Especificidad</a:t>
            </a:r>
            <a:endParaRPr lang="en-US" sz="1200" dirty="0"/>
          </a:p>
        </p:txBody>
      </p:sp>
      <p:sp>
        <p:nvSpPr>
          <p:cNvPr id="15" name="Text 12"/>
          <p:cNvSpPr txBox="1"/>
          <p:nvPr/>
        </p:nvSpPr>
        <p:spPr>
          <a:xfrm>
            <a:off x="8324088" y="5413248"/>
            <a:ext cx="2996184" cy="457200"/>
          </a:xfrm>
          <a:prstGeom prst="rect">
            <a:avLst/>
          </a:prstGeom>
          <a:noFill/>
          <a:ln/>
        </p:spPr>
        <p:txBody>
          <a:bodyPr wrap="square" lIns="0" tIns="0" rIns="0" bIns="0" rtlCol="0" anchor="t"/>
          <a:lstStyle/>
          <a:p>
            <a:pPr algn="l" indent="0" marL="0">
              <a:buNone/>
            </a:pPr>
            <a:r>
              <a:rPr lang="en-US" sz="1100" dirty="0">
                <a:solidFill>
                  <a:schemeClr val="tx2"/>
                </a:solidFill>
              </a:rPr>
              <a:t>marca como riesgosos muchos que no lo son</a:t>
            </a:r>
            <a:endParaRPr lang="en-US" sz="11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4: declarábamos más precisión de la que teníamos</a:t>
            </a:r>
            <a:endParaRPr lang="en-US" sz="2800" dirty="0"/>
          </a:p>
        </p:txBody>
      </p:sp>
      <p:pic>
        <p:nvPicPr>
          <p:cNvPr id="3" name="fig-bootstrap" descr="D:\Magister Ciencia de Datos\Estadística computacional\Sumativa\analisis-desercion\S3\resultados\figuras\fig3_bootstrap_coeficientes.png">    </p:cNvPr>
          <p:cNvPicPr>
            <a:picLocks noChangeAspect="1"/>
          </p:cNvPicPr>
          <p:nvPr/>
        </p:nvPicPr>
        <p:blipFill>
          <a:blip r:embed="rId1"/>
          <a:stretch>
            <a:fillRect/>
          </a:stretch>
        </p:blipFill>
        <p:spPr>
          <a:xfrm>
            <a:off x="640080" y="1188720"/>
            <a:ext cx="10908792" cy="3749040"/>
          </a:xfrm>
          <a:prstGeom prst="rect">
            <a:avLst/>
          </a:prstGeom>
        </p:spPr>
      </p:pic>
      <p:sp>
        <p:nvSpPr>
          <p:cNvPr id="4" name="tarjeta-hallazgo"/>
          <p:cNvSpPr/>
          <p:nvPr/>
        </p:nvSpPr>
        <p:spPr>
          <a:xfrm>
            <a:off x="640080" y="5120640"/>
            <a:ext cx="10908792" cy="960120"/>
          </a:xfrm>
          <a:prstGeom prst="roundRect">
            <a:avLst>
              <a:gd name="adj" fmla="val 5714"/>
            </a:avLst>
          </a:prstGeom>
          <a:solidFill>
            <a:schemeClr val="bg2"/>
          </a:solidFill>
          <a:ln w="9525">
            <a:solidFill>
              <a:srgbClr val="C9D4DD"/>
            </a:solidFill>
            <a:prstDash val="solid"/>
          </a:ln>
        </p:spPr>
      </p:sp>
      <p:sp>
        <p:nvSpPr>
          <p:cNvPr id="5" name="Text 2"/>
          <p:cNvSpPr txBox="1"/>
          <p:nvPr/>
        </p:nvSpPr>
        <p:spPr>
          <a:xfrm>
            <a:off x="914400" y="5120640"/>
            <a:ext cx="10360152" cy="960120"/>
          </a:xfrm>
          <a:prstGeom prst="rect">
            <a:avLst/>
          </a:prstGeom>
          <a:noFill/>
          <a:ln/>
        </p:spPr>
        <p:txBody>
          <a:bodyPr wrap="square" lIns="0" tIns="0" rIns="0" bIns="0" rtlCol="0" anchor="ctr"/>
          <a:lstStyle/>
          <a:p>
            <a:pPr algn="l" indent="0" marL="0">
              <a:buNone/>
            </a:pPr>
            <a:r>
              <a:rPr lang="en-US" sz="1350" dirty="0">
                <a:solidFill>
                  <a:schemeClr val="tx1"/>
                </a:solidFill>
              </a:rPr>
              <a:t>Al remuestrear por institución y no por programa, los intervalos se ensanchan entre 1,97 y 3,81 veces. De los veinte términos del modelo, nueve pierden la determinación de su signo: todos los categóricos. Las cuatro variables continuas conservan el suyo.</a:t>
            </a:r>
            <a:endParaRPr lang="en-US" sz="13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Lo que el diagnóstico no deja pasar</a:t>
            </a:r>
            <a:endParaRPr lang="en-US" sz="2800" dirty="0"/>
          </a:p>
        </p:txBody>
      </p:sp>
      <p:graphicFrame>
        <p:nvGraphicFramePr>
          <p:cNvPr id="13" name="tabla-diagnostico"/>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2286000"/>
                <a:gridCol w="1005840"/>
                <a:gridCol w="1371600"/>
                <a:gridCol w="1737360"/>
              </a:tblGrid>
              <a:tr h="475488">
                <a:tc>
                  <a:txBody>
                    <a:bodyPr/>
                    <a:lstStyle/>
                    <a:p>
                      <a:pPr algn="l" indent="0" marL="0">
                        <a:buNone/>
                      </a:pPr>
                      <a:r>
                        <a:rPr lang="en-US" sz="1300" b="1" dirty="0">
                          <a:solidFill>
                            <a:srgbClr val="FFFFFF"/>
                          </a:solidFill>
                        </a:rPr>
                        <a:t>Variable continua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VIF</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Box-Tidwell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Linealidad en el logit</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475488">
                <a:tc>
                  <a:txBody>
                    <a:bodyPr/>
                    <a:lstStyle/>
                    <a:p>
                      <a:pPr algn="l" indent="0" marL="0">
                        <a:buNone/>
                      </a:pPr>
                      <a:r>
                        <a:rPr lang="en-US" sz="1300" dirty="0">
                          <a:solidFill>
                            <a:srgbClr val="1C2126"/>
                          </a:solidFill>
                        </a:rPr>
                        <a:t>carrera_acreditada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1,19</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inst_acreditada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1,11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475488">
                <a:tc>
                  <a:txBody>
                    <a:bodyPr/>
                    <a:lstStyle/>
                    <a:p>
                      <a:pPr algn="l" indent="0" marL="0">
                        <a:buNone/>
                      </a:pPr>
                      <a:r>
                        <a:rPr lang="en-US" sz="1300" dirty="0">
                          <a:solidFill>
                            <a:srgbClr val="1C2126"/>
                          </a:solidFill>
                        </a:rPr>
                        <a:t>log_matricula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1,10</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0,413</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pct_mujeres</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1,02</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4114800"/>
            <a:ext cx="6400800" cy="320040"/>
          </a:xfrm>
          <a:prstGeom prst="rect">
            <a:avLst/>
          </a:prstGeom>
          <a:noFill/>
          <a:ln/>
        </p:spPr>
        <p:txBody>
          <a:bodyPr wrap="square" lIns="0" tIns="0" rIns="0" bIns="0" rtlCol="0" anchor="t"/>
          <a:lstStyle/>
          <a:p>
            <a:pPr algn="l" indent="0" marL="0">
              <a:buNone/>
            </a:pPr>
            <a:r>
              <a:rPr lang="en-US" sz="1500" b="1" dirty="0">
                <a:solidFill>
                  <a:schemeClr val="accent1"/>
                </a:solidFill>
              </a:rPr>
              <a:t>Lo que queda tranquilo</a:t>
            </a:r>
            <a:endParaRPr lang="en-US" sz="1500" dirty="0"/>
          </a:p>
        </p:txBody>
      </p:sp>
      <p:sp>
        <p:nvSpPr>
          <p:cNvPr id="5" name="Text 2"/>
          <p:cNvSpPr txBox="1"/>
          <p:nvPr/>
        </p:nvSpPr>
        <p:spPr>
          <a:xfrm>
            <a:off x="640080" y="4526280"/>
            <a:ext cx="6400800" cy="13716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Colinealidad: los cuatro VIF por debajo de 1,2, lejos del umbral de 5.</a:t>
            </a:r>
            <a:endParaRPr lang="en-US" sz="1300" dirty="0"/>
          </a:p>
          <a:p>
            <a:pPr algn="l" marL="342900" indent="-342900">
              <a:spcAft>
                <a:spcPts val="700"/>
              </a:spcAft>
              <a:buSzPct val="100000"/>
              <a:buChar char="•"/>
            </a:pPr>
            <a:r>
              <a:rPr lang="en-US" sz="1300" dirty="0">
                <a:solidFill>
                  <a:schemeClr val="tx1"/>
                </a:solidFill>
              </a:rPr>
              <a:t>Calibración: la probabilidad predicha sigue la frecuencia observada por deciles.</a:t>
            </a:r>
            <a:endParaRPr lang="en-US" sz="1300" dirty="0"/>
          </a:p>
          <a:p>
            <a:pPr algn="l" marL="342900" indent="-342900">
              <a:spcAft>
                <a:spcPts val="700"/>
              </a:spcAft>
              <a:buSzPct val="100000"/>
              <a:buChar char="•"/>
            </a:pPr>
            <a:r>
              <a:rPr lang="en-US" sz="1300" dirty="0">
                <a:solidFill>
                  <a:schemeClr val="tx1"/>
                </a:solidFill>
              </a:rPr>
              <a:t>Residuos: solo 32 de 7.316 con |r| &gt; 3, el 0,44 %.</a:t>
            </a:r>
            <a:endParaRPr lang="en-US" sz="1300" dirty="0"/>
          </a:p>
        </p:txBody>
      </p:sp>
      <p:sp>
        <p:nvSpPr>
          <p:cNvPr id="6" name="tarjeta-limites"/>
          <p:cNvSpPr/>
          <p:nvPr/>
        </p:nvSpPr>
        <p:spPr>
          <a:xfrm>
            <a:off x="7406640" y="1371600"/>
            <a:ext cx="4142232" cy="4526280"/>
          </a:xfrm>
          <a:prstGeom prst="roundRect">
            <a:avLst>
              <a:gd name="adj" fmla="val 1325"/>
            </a:avLst>
          </a:prstGeom>
          <a:solidFill>
            <a:schemeClr val="bg2"/>
          </a:solidFill>
          <a:ln w="9525">
            <a:solidFill>
              <a:srgbClr val="C9D4DD"/>
            </a:solidFill>
            <a:prstDash val="solid"/>
          </a:ln>
        </p:spPr>
      </p:sp>
      <p:sp>
        <p:nvSpPr>
          <p:cNvPr id="7" name="Text 4"/>
          <p:cNvSpPr txBox="1"/>
          <p:nvPr/>
        </p:nvSpPr>
        <p:spPr>
          <a:xfrm>
            <a:off x="7680960" y="1600200"/>
            <a:ext cx="3657600" cy="365760"/>
          </a:xfrm>
          <a:prstGeom prst="rect">
            <a:avLst/>
          </a:prstGeom>
          <a:noFill/>
          <a:ln/>
        </p:spPr>
        <p:txBody>
          <a:bodyPr wrap="square" lIns="0" tIns="0" rIns="0" bIns="0" rtlCol="0" anchor="t"/>
          <a:lstStyle/>
          <a:p>
            <a:pPr algn="l" indent="0" marL="0">
              <a:buNone/>
            </a:pPr>
            <a:r>
              <a:rPr lang="en-US" sz="1600" b="1" dirty="0">
                <a:solidFill>
                  <a:schemeClr val="accent1"/>
                </a:solidFill>
              </a:rPr>
              <a:t>Dos límites reales</a:t>
            </a:r>
            <a:endParaRPr lang="en-US" sz="1600" dirty="0"/>
          </a:p>
        </p:txBody>
      </p:sp>
      <p:sp>
        <p:nvSpPr>
          <p:cNvPr id="8" name="Text 5"/>
          <p:cNvSpPr txBox="1"/>
          <p:nvPr/>
        </p:nvSpPr>
        <p:spPr>
          <a:xfrm>
            <a:off x="7680960" y="2103120"/>
            <a:ext cx="3657600" cy="274320"/>
          </a:xfrm>
          <a:prstGeom prst="rect">
            <a:avLst/>
          </a:prstGeom>
          <a:noFill/>
          <a:ln/>
        </p:spPr>
        <p:txBody>
          <a:bodyPr wrap="square" lIns="0" tIns="0" rIns="0" bIns="0" rtlCol="0" anchor="t"/>
          <a:lstStyle/>
          <a:p>
            <a:pPr algn="l" indent="0" marL="0">
              <a:buNone/>
            </a:pPr>
            <a:r>
              <a:rPr lang="en-US" sz="1350" b="1" dirty="0">
                <a:solidFill>
                  <a:schemeClr val="tx1"/>
                </a:solidFill>
              </a:rPr>
              <a:t>Linealidad en el logit</a:t>
            </a:r>
            <a:endParaRPr lang="en-US" sz="1350" dirty="0"/>
          </a:p>
        </p:txBody>
      </p:sp>
      <p:sp>
        <p:nvSpPr>
          <p:cNvPr id="9" name="Text 6"/>
          <p:cNvSpPr txBox="1"/>
          <p:nvPr/>
        </p:nvSpPr>
        <p:spPr>
          <a:xfrm>
            <a:off x="7680960" y="2423160"/>
            <a:ext cx="3657600" cy="1188720"/>
          </a:xfrm>
          <a:prstGeom prst="rect">
            <a:avLst/>
          </a:prstGeom>
          <a:noFill/>
          <a:ln/>
        </p:spPr>
        <p:txBody>
          <a:bodyPr wrap="square" lIns="0" tIns="0" rIns="0" bIns="0" rtlCol="0" anchor="t"/>
          <a:lstStyle/>
          <a:p>
            <a:pPr algn="l" indent="0" marL="0">
              <a:buNone/>
            </a:pPr>
            <a:r>
              <a:rPr lang="en-US" sz="1250" dirty="0">
                <a:solidFill>
                  <a:schemeClr val="tx1"/>
                </a:solidFill>
              </a:rPr>
              <a:t>Box-Tidwell la rechaza en tres de las cuatro variables continuas. El modelo lineal es una aproximación y los efectos son promedios, no uniformes.</a:t>
            </a:r>
            <a:endParaRPr lang="en-US" sz="1250" dirty="0"/>
          </a:p>
        </p:txBody>
      </p:sp>
      <p:sp>
        <p:nvSpPr>
          <p:cNvPr id="10" name="Text 7"/>
          <p:cNvSpPr txBox="1"/>
          <p:nvPr/>
        </p:nvSpPr>
        <p:spPr>
          <a:xfrm>
            <a:off x="7680960" y="3703320"/>
            <a:ext cx="3657600" cy="274320"/>
          </a:xfrm>
          <a:prstGeom prst="rect">
            <a:avLst/>
          </a:prstGeom>
          <a:noFill/>
          <a:ln/>
        </p:spPr>
        <p:txBody>
          <a:bodyPr wrap="square" lIns="0" tIns="0" rIns="0" bIns="0" rtlCol="0" anchor="t"/>
          <a:lstStyle/>
          <a:p>
            <a:pPr algn="l" indent="0" marL="0">
              <a:buNone/>
            </a:pPr>
            <a:r>
              <a:rPr lang="en-US" sz="1350" b="1" dirty="0">
                <a:solidFill>
                  <a:schemeClr val="tx1"/>
                </a:solidFill>
              </a:rPr>
              <a:t>Observaciones influyentes</a:t>
            </a:r>
            <a:endParaRPr lang="en-US" sz="1350" dirty="0"/>
          </a:p>
        </p:txBody>
      </p:sp>
      <p:sp>
        <p:nvSpPr>
          <p:cNvPr id="11" name="Text 8"/>
          <p:cNvSpPr txBox="1"/>
          <p:nvPr/>
        </p:nvSpPr>
        <p:spPr>
          <a:xfrm>
            <a:off x="7680960" y="4023360"/>
            <a:ext cx="3657600" cy="1371600"/>
          </a:xfrm>
          <a:prstGeom prst="rect">
            <a:avLst/>
          </a:prstGeom>
          <a:noFill/>
          <a:ln/>
        </p:spPr>
        <p:txBody>
          <a:bodyPr wrap="square" lIns="0" tIns="0" rIns="0" bIns="0" rtlCol="0" anchor="t"/>
          <a:lstStyle/>
          <a:p>
            <a:pPr algn="l" indent="0" marL="0">
              <a:buNone/>
            </a:pPr>
            <a:r>
              <a:rPr lang="en-US" sz="1250" dirty="0">
                <a:solidFill>
                  <a:schemeClr val="tx1"/>
                </a:solidFill>
              </a:rPr>
              <a:t>Ninguna domina: la distancia de Cook máxima es 0,0094. Pero retirar en bloque las 250 que superan 4/n mueve el coeficiente de la acreditación institucional un 80 %.</a:t>
            </a:r>
            <a:endParaRPr lang="en-US" sz="1250" dirty="0"/>
          </a:p>
        </p:txBody>
      </p:sp>
      <p:sp>
        <p:nvSpPr>
          <p:cNvPr id="12" name="Text 9"/>
          <p:cNvSpPr txBox="1"/>
          <p:nvPr/>
        </p:nvSpPr>
        <p:spPr>
          <a:xfrm>
            <a:off x="7680960" y="5349240"/>
            <a:ext cx="3657600" cy="411480"/>
          </a:xfrm>
          <a:prstGeom prst="rect">
            <a:avLst/>
          </a:prstGeom>
          <a:noFill/>
          <a:ln/>
        </p:spPr>
        <p:txBody>
          <a:bodyPr wrap="square" lIns="0" tIns="0" rIns="0" bIns="0" rtlCol="0" anchor="t"/>
          <a:lstStyle/>
          <a:p>
            <a:pPr algn="l" indent="0" marL="0">
              <a:buNone/>
            </a:pPr>
            <a:r>
              <a:rPr lang="en-US" sz="1250" b="1" dirty="0">
                <a:solidFill>
                  <a:schemeClr val="accent1"/>
                </a:solidFill>
              </a:rPr>
              <a:t>Es la variable de mayor efecto y la de menor solidez.</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Lo que el proyecto permite afirmar, y lo que no</a:t>
            </a:r>
            <a:endParaRPr lang="en-US" sz="2800" dirty="0"/>
          </a:p>
        </p:txBody>
      </p:sp>
      <p:sp>
        <p:nvSpPr>
          <p:cNvPr id="3" name="tarjeta-si"/>
          <p:cNvSpPr/>
          <p:nvPr/>
        </p:nvSpPr>
        <p:spPr>
          <a:xfrm>
            <a:off x="640080" y="1371600"/>
            <a:ext cx="5303520" cy="3429000"/>
          </a:xfrm>
          <a:prstGeom prst="roundRect">
            <a:avLst>
              <a:gd name="adj" fmla="val 1600"/>
            </a:avLst>
          </a:prstGeom>
          <a:solidFill>
            <a:schemeClr val="bg2"/>
          </a:solidFill>
          <a:ln w="9525">
            <a:solidFill>
              <a:srgbClr val="C9D4DD"/>
            </a:solidFill>
            <a:prstDash val="solid"/>
          </a:ln>
        </p:spPr>
      </p:sp>
      <p:sp>
        <p:nvSpPr>
          <p:cNvPr id="4" name="Text 2"/>
          <p:cNvSpPr txBox="1"/>
          <p:nvPr/>
        </p:nvSpPr>
        <p:spPr>
          <a:xfrm>
            <a:off x="914400" y="1627632"/>
            <a:ext cx="4754880" cy="365760"/>
          </a:xfrm>
          <a:prstGeom prst="rect">
            <a:avLst/>
          </a:prstGeom>
          <a:noFill/>
          <a:ln/>
        </p:spPr>
        <p:txBody>
          <a:bodyPr wrap="square" lIns="0" tIns="0" rIns="0" bIns="0" rtlCol="0" anchor="t"/>
          <a:lstStyle/>
          <a:p>
            <a:pPr algn="l" indent="0" marL="0">
              <a:buNone/>
            </a:pPr>
            <a:r>
              <a:rPr lang="en-US" sz="1700" b="1" dirty="0">
                <a:solidFill>
                  <a:schemeClr val="accent1"/>
                </a:solidFill>
              </a:rPr>
              <a:t>Sí permite afirmar</a:t>
            </a:r>
            <a:endParaRPr lang="en-US" sz="1700" dirty="0"/>
          </a:p>
        </p:txBody>
      </p:sp>
      <p:sp>
        <p:nvSpPr>
          <p:cNvPr id="5" name="Text 3"/>
          <p:cNvSpPr txBox="1"/>
          <p:nvPr/>
        </p:nvSpPr>
        <p:spPr>
          <a:xfrm>
            <a:off x="914400" y="2103120"/>
            <a:ext cx="4754880" cy="27432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El abandono aparente se asocia de forma robusta con la acreditación, el tamaño y la composición de género del programa.</a:t>
            </a:r>
            <a:endParaRPr lang="en-US" sz="1300" dirty="0"/>
          </a:p>
          <a:p>
            <a:pPr algn="l" marL="342900" indent="-342900">
              <a:spcAft>
                <a:spcPts val="700"/>
              </a:spcAft>
              <a:buSzPct val="100000"/>
              <a:buChar char="•"/>
            </a:pPr>
            <a:r>
              <a:rPr lang="en-US" sz="1300" dirty="0">
                <a:solidFill>
                  <a:schemeClr val="tx1"/>
                </a:solidFill>
              </a:rPr>
              <a:t>Un modelo con esas variables ordena el sistema mejor que el azar y sirve para priorizar la intervención.</a:t>
            </a:r>
            <a:endParaRPr lang="en-US" sz="1300" dirty="0"/>
          </a:p>
          <a:p>
            <a:pPr algn="l" marL="342900" indent="-342900">
              <a:spcAft>
                <a:spcPts val="700"/>
              </a:spcAft>
              <a:buSzPct val="100000"/>
              <a:buChar char="•"/>
            </a:pPr>
            <a:r>
              <a:rPr lang="en-US" sz="1300" dirty="0">
                <a:solidFill>
                  <a:schemeClr val="tx1"/>
                </a:solidFill>
              </a:rPr>
              <a:t>Las variables que sostienen esa capacidad son las mismas que resistieron el remuestreo en S2.</a:t>
            </a:r>
            <a:endParaRPr lang="en-US" sz="1300" dirty="0"/>
          </a:p>
        </p:txBody>
      </p:sp>
      <p:sp>
        <p:nvSpPr>
          <p:cNvPr id="6" name="tarjeta-no"/>
          <p:cNvSpPr/>
          <p:nvPr/>
        </p:nvSpPr>
        <p:spPr>
          <a:xfrm>
            <a:off x="6217920" y="1371600"/>
            <a:ext cx="5330952" cy="3429000"/>
          </a:xfrm>
          <a:prstGeom prst="roundRect">
            <a:avLst>
              <a:gd name="adj" fmla="val 1600"/>
            </a:avLst>
          </a:prstGeom>
          <a:solidFill>
            <a:schemeClr val="bg2"/>
          </a:solidFill>
          <a:ln w="9525">
            <a:solidFill>
              <a:srgbClr val="C9D4DD"/>
            </a:solidFill>
            <a:prstDash val="solid"/>
          </a:ln>
        </p:spPr>
      </p:sp>
      <p:sp>
        <p:nvSpPr>
          <p:cNvPr id="7" name="Text 5"/>
          <p:cNvSpPr txBox="1"/>
          <p:nvPr/>
        </p:nvSpPr>
        <p:spPr>
          <a:xfrm>
            <a:off x="6492240" y="1627632"/>
            <a:ext cx="4754880" cy="365760"/>
          </a:xfrm>
          <a:prstGeom prst="rect">
            <a:avLst/>
          </a:prstGeom>
          <a:noFill/>
          <a:ln/>
        </p:spPr>
        <p:txBody>
          <a:bodyPr wrap="square" lIns="0" tIns="0" rIns="0" bIns="0" rtlCol="0" anchor="t"/>
          <a:lstStyle/>
          <a:p>
            <a:pPr algn="l" indent="0" marL="0">
              <a:buNone/>
            </a:pPr>
            <a:r>
              <a:rPr lang="en-US" sz="1700" b="1" dirty="0">
                <a:solidFill>
                  <a:schemeClr val="tx2"/>
                </a:solidFill>
              </a:rPr>
              <a:t>No permite afirmar</a:t>
            </a:r>
            <a:endParaRPr lang="en-US" sz="1700" dirty="0"/>
          </a:p>
        </p:txBody>
      </p:sp>
      <p:sp>
        <p:nvSpPr>
          <p:cNvPr id="8" name="Text 6"/>
          <p:cNvSpPr txBox="1"/>
          <p:nvPr/>
        </p:nvSpPr>
        <p:spPr>
          <a:xfrm>
            <a:off x="6492240" y="2103120"/>
            <a:ext cx="4754880" cy="27432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Nada sobre estudiantes individuales: la unidad de análisis es el programa.</a:t>
            </a:r>
            <a:endParaRPr lang="en-US" sz="1300" dirty="0"/>
          </a:p>
          <a:p>
            <a:pPr algn="l" marL="342900" indent="-342900">
              <a:spcAft>
                <a:spcPts val="700"/>
              </a:spcAft>
              <a:buSzPct val="100000"/>
              <a:buChar char="•"/>
            </a:pPr>
            <a:r>
              <a:rPr lang="en-US" sz="1300" dirty="0">
                <a:solidFill>
                  <a:schemeClr val="tx1"/>
                </a:solidFill>
              </a:rPr>
              <a:t>Nada sobre causas: no hay grupo de control ni variación exógena.</a:t>
            </a:r>
            <a:endParaRPr lang="en-US" sz="1300" dirty="0"/>
          </a:p>
          <a:p>
            <a:pPr algn="l" marL="342900" indent="-342900">
              <a:spcAft>
                <a:spcPts val="700"/>
              </a:spcAft>
              <a:buSzPct val="100000"/>
              <a:buChar char="•"/>
            </a:pPr>
            <a:r>
              <a:rPr lang="en-US" sz="1300" dirty="0">
                <a:solidFill>
                  <a:schemeClr val="tx1"/>
                </a:solidFill>
              </a:rPr>
              <a:t>Nada sobre el abandono real: lo medido es aparente, y quien se cambia de carrera y se titula en otra parte cuenta aquí como abandono.</a:t>
            </a:r>
            <a:endParaRPr lang="en-US" sz="1300" dirty="0"/>
          </a:p>
          <a:p>
            <a:pPr algn="l" marL="342900" indent="-342900">
              <a:spcAft>
                <a:spcPts val="700"/>
              </a:spcAft>
              <a:buSzPct val="100000"/>
              <a:buChar char="•"/>
            </a:pPr>
            <a:r>
              <a:rPr lang="en-US" sz="1300" dirty="0">
                <a:solidFill>
                  <a:schemeClr val="tx1"/>
                </a:solidFill>
              </a:rPr>
              <a:t>Nada firme sobre diferencias entre áreas o tipos de institución: el bootstrap las deja sin signo determinado.</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Recomendaciones y hacia dónde sigue</a:t>
            </a:r>
            <a:endParaRPr lang="en-US" sz="2800" dirty="0"/>
          </a:p>
        </p:txBody>
      </p:sp>
      <p:sp>
        <p:nvSpPr>
          <p:cNvPr id="3" name="Text 1"/>
          <p:cNvSpPr txBox="1"/>
          <p:nvPr/>
        </p:nvSpPr>
        <p:spPr>
          <a:xfrm>
            <a:off x="640080" y="1325880"/>
            <a:ext cx="5303520" cy="320040"/>
          </a:xfrm>
          <a:prstGeom prst="rect">
            <a:avLst/>
          </a:prstGeom>
          <a:noFill/>
          <a:ln/>
        </p:spPr>
        <p:txBody>
          <a:bodyPr wrap="square" lIns="0" tIns="0" rIns="0" bIns="0" rtlCol="0" anchor="t"/>
          <a:lstStyle/>
          <a:p>
            <a:pPr algn="l" indent="0" marL="0">
              <a:buNone/>
            </a:pPr>
            <a:r>
              <a:rPr lang="en-US" sz="1500" b="1" dirty="0">
                <a:solidFill>
                  <a:schemeClr val="accent1"/>
                </a:solidFill>
              </a:rPr>
              <a:t>Sobre el tratamiento de datos faltantes</a:t>
            </a:r>
            <a:endParaRPr lang="en-US" sz="1500" dirty="0"/>
          </a:p>
        </p:txBody>
      </p:sp>
      <p:sp>
        <p:nvSpPr>
          <p:cNvPr id="4" name="Text 2"/>
          <p:cNvSpPr txBox="1"/>
          <p:nvPr/>
        </p:nvSpPr>
        <p:spPr>
          <a:xfrm>
            <a:off x="640080" y="1737360"/>
            <a:ext cx="5303520" cy="301752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Preferir la imputación por regresión: conserva la muestra y preserva mejor las correlaciones.</a:t>
            </a:r>
            <a:endParaRPr lang="en-US" sz="1250" dirty="0"/>
          </a:p>
          <a:p>
            <a:pPr algn="l" marL="342900" indent="-342900">
              <a:spcAft>
                <a:spcPts val="700"/>
              </a:spcAft>
              <a:buSzPct val="100000"/>
              <a:buChar char="•"/>
            </a:pPr>
            <a:r>
              <a:rPr lang="en-US" sz="1250" dirty="0">
                <a:solidFill>
                  <a:schemeClr val="tx1"/>
                </a:solidFill>
              </a:rPr>
              <a:t>No eliminar casos cuando la ausencia no es MCAR: el conjunto superviviente deja de representar al sistema.</a:t>
            </a:r>
            <a:endParaRPr lang="en-US" sz="1250" dirty="0"/>
          </a:p>
          <a:p>
            <a:pPr algn="l" marL="342900" indent="-342900">
              <a:spcAft>
                <a:spcPts val="700"/>
              </a:spcAft>
              <a:buSzPct val="100000"/>
              <a:buChar char="•"/>
            </a:pPr>
            <a:r>
              <a:rPr lang="en-US" sz="1250" dirty="0">
                <a:solidFill>
                  <a:schemeClr val="tx1"/>
                </a:solidFill>
              </a:rPr>
              <a:t>Declarar siempre el mecanismo supuesto: bajo MNAR ninguna estrategia es insesgada.</a:t>
            </a:r>
            <a:endParaRPr lang="en-US" sz="1250" dirty="0"/>
          </a:p>
          <a:p>
            <a:pPr algn="l" marL="342900" indent="-342900">
              <a:spcAft>
                <a:spcPts val="700"/>
              </a:spcAft>
              <a:buSzPct val="100000"/>
              <a:buChar char="•"/>
            </a:pPr>
            <a:r>
              <a:rPr lang="en-US" sz="1250" dirty="0">
                <a:solidFill>
                  <a:schemeClr val="tx1"/>
                </a:solidFill>
              </a:rPr>
              <a:t>Tratar como optimista todo intervalo posterior a una imputación simple.</a:t>
            </a:r>
            <a:endParaRPr lang="en-US" sz="1250" dirty="0"/>
          </a:p>
        </p:txBody>
      </p:sp>
      <p:sp>
        <p:nvSpPr>
          <p:cNvPr id="5" name="Text 3"/>
          <p:cNvSpPr txBox="1"/>
          <p:nvPr/>
        </p:nvSpPr>
        <p:spPr>
          <a:xfrm>
            <a:off x="6217920" y="1325880"/>
            <a:ext cx="5330952" cy="320040"/>
          </a:xfrm>
          <a:prstGeom prst="rect">
            <a:avLst/>
          </a:prstGeom>
          <a:noFill/>
          <a:ln/>
        </p:spPr>
        <p:txBody>
          <a:bodyPr wrap="square" lIns="0" tIns="0" rIns="0" bIns="0" rtlCol="0" anchor="t"/>
          <a:lstStyle/>
          <a:p>
            <a:pPr algn="l" indent="0" marL="0">
              <a:buNone/>
            </a:pPr>
            <a:r>
              <a:rPr lang="en-US" sz="1500" b="1" dirty="0">
                <a:solidFill>
                  <a:schemeClr val="accent1"/>
                </a:solidFill>
              </a:rPr>
              <a:t>Tres extensiones concretas</a:t>
            </a:r>
            <a:endParaRPr lang="en-US" sz="1500" dirty="0"/>
          </a:p>
        </p:txBody>
      </p:sp>
      <p:sp>
        <p:nvSpPr>
          <p:cNvPr id="6" name="circulo-ext-0"/>
          <p:cNvSpPr/>
          <p:nvPr/>
        </p:nvSpPr>
        <p:spPr>
          <a:xfrm>
            <a:off x="6217920" y="1783080"/>
            <a:ext cx="329184" cy="329184"/>
          </a:xfrm>
          <a:prstGeom prst="ellipse">
            <a:avLst/>
          </a:prstGeom>
          <a:solidFill>
            <a:schemeClr val="accent1"/>
          </a:solidFill>
          <a:ln w="12700">
            <a:solidFill>
              <a:schemeClr val="accent1"/>
            </a:solidFill>
            <a:prstDash val="solid"/>
          </a:ln>
        </p:spPr>
      </p:sp>
      <p:sp>
        <p:nvSpPr>
          <p:cNvPr id="7" name="Text 5"/>
          <p:cNvSpPr txBox="1"/>
          <p:nvPr/>
        </p:nvSpPr>
        <p:spPr>
          <a:xfrm>
            <a:off x="6217920" y="178308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6675120" y="1764792"/>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Imputación múltiple</a:t>
            </a:r>
            <a:endParaRPr lang="en-US" sz="1350" dirty="0"/>
          </a:p>
        </p:txBody>
      </p:sp>
      <p:sp>
        <p:nvSpPr>
          <p:cNvPr id="9" name="Text 7"/>
          <p:cNvSpPr txBox="1"/>
          <p:nvPr/>
        </p:nvSpPr>
        <p:spPr>
          <a:xfrm>
            <a:off x="6675120" y="2057400"/>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Ninguna de las dos imputaciones propaga la incertidumbre de haber imputado: ambas tratan un valor predicho como observado.</a:t>
            </a:r>
            <a:endParaRPr lang="en-US" sz="1200" dirty="0"/>
          </a:p>
        </p:txBody>
      </p:sp>
      <p:sp>
        <p:nvSpPr>
          <p:cNvPr id="10" name="circulo-ext-1"/>
          <p:cNvSpPr/>
          <p:nvPr/>
        </p:nvSpPr>
        <p:spPr>
          <a:xfrm>
            <a:off x="6217920" y="2807208"/>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217920" y="280720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6675120" y="2788920"/>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Términos no lineales</a:t>
            </a:r>
            <a:endParaRPr lang="en-US" sz="1350" dirty="0"/>
          </a:p>
        </p:txBody>
      </p:sp>
      <p:sp>
        <p:nvSpPr>
          <p:cNvPr id="13" name="Text 11"/>
          <p:cNvSpPr txBox="1"/>
          <p:nvPr/>
        </p:nvSpPr>
        <p:spPr>
          <a:xfrm>
            <a:off x="6675120" y="3081528"/>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Para las tres variables donde Box-Tidwell rechaza la linealidad en el logit.</a:t>
            </a:r>
            <a:endParaRPr lang="en-US" sz="1200" dirty="0"/>
          </a:p>
        </p:txBody>
      </p:sp>
      <p:sp>
        <p:nvSpPr>
          <p:cNvPr id="14" name="circulo-ext-2"/>
          <p:cNvSpPr/>
          <p:nvPr/>
        </p:nvSpPr>
        <p:spPr>
          <a:xfrm>
            <a:off x="6217920" y="383133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217920" y="383133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6675120" y="3813048"/>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Modelo multinivel</a:t>
            </a:r>
            <a:endParaRPr lang="en-US" sz="1350" dirty="0"/>
          </a:p>
        </p:txBody>
      </p:sp>
      <p:sp>
        <p:nvSpPr>
          <p:cNvPr id="17" name="Text 15"/>
          <p:cNvSpPr txBox="1"/>
          <p:nvPr/>
        </p:nvSpPr>
        <p:spPr>
          <a:xfrm>
            <a:off x="6675120" y="4105656"/>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Tratar la institución como efecto aleatorio en lugar de corregir su efecto por remuestreo.</a:t>
            </a:r>
            <a:endParaRPr lang="en-US" sz="1200" dirty="0"/>
          </a:p>
        </p:txBody>
      </p:sp>
      <p:sp>
        <p:nvSpPr>
          <p:cNvPr id="18" name="tarjeta-cierre"/>
          <p:cNvSpPr/>
          <p:nvPr/>
        </p:nvSpPr>
        <p:spPr>
          <a:xfrm>
            <a:off x="640080" y="5029200"/>
            <a:ext cx="10908792" cy="868680"/>
          </a:xfrm>
          <a:prstGeom prst="roundRect">
            <a:avLst>
              <a:gd name="adj" fmla="val 6316"/>
            </a:avLst>
          </a:prstGeom>
          <a:solidFill>
            <a:schemeClr val="bg2"/>
          </a:solidFill>
          <a:ln w="9525">
            <a:solidFill>
              <a:srgbClr val="C9D4DD"/>
            </a:solidFill>
            <a:prstDash val="solid"/>
          </a:ln>
        </p:spPr>
      </p:sp>
      <p:sp>
        <p:nvSpPr>
          <p:cNvPr id="19" name="Text 17"/>
          <p:cNvSpPr txBox="1"/>
          <p:nvPr/>
        </p:nvSpPr>
        <p:spPr>
          <a:xfrm>
            <a:off x="914400" y="5029200"/>
            <a:ext cx="10360152" cy="868680"/>
          </a:xfrm>
          <a:prstGeom prst="rect">
            <a:avLst/>
          </a:prstGeom>
          <a:noFill/>
          <a:ln/>
        </p:spPr>
        <p:txBody>
          <a:bodyPr wrap="square" lIns="0" tIns="0" rIns="0" bIns="0" rtlCol="0" anchor="ctr"/>
          <a:lstStyle/>
          <a:p>
            <a:pPr algn="ctr" indent="0" marL="0">
              <a:buNone/>
            </a:pPr>
            <a:r>
              <a:rPr lang="en-US" sz="1450" b="1" dirty="0">
                <a:solidFill>
                  <a:schemeClr val="tx1"/>
                </a:solidFill>
              </a:rPr>
              <a:t>La progresión completa: S1 describió y midió · S2 puso a prueba y validó · S3 modela y predice sobre lo que quedó en pie.</a:t>
            </a:r>
            <a:endParaRPr lang="en-US" sz="14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esercion UNAB">
  <a:themeElements>
    <a:clrScheme name="Desercion UNAB">
      <a:dk1>
        <a:srgbClr val="1C2126"/>
      </a:dk1>
      <a:lt1>
        <a:srgbClr val="FFFFFF"/>
      </a:lt1>
      <a:dk2>
        <a:srgbClr val="3A4A57"/>
      </a:dk2>
      <a:lt2>
        <a:srgbClr val="EEF2F5"/>
      </a:lt2>
      <a:accent1>
        <a:srgbClr val="AC212E"/>
      </a:accent1>
      <a:accent2>
        <a:srgbClr val="9FB6C8"/>
      </a:accent2>
      <a:accent3>
        <a:srgbClr val="5A6B78"/>
      </a:accent3>
      <a:accent4>
        <a:srgbClr val="7A1520"/>
      </a:accent4>
      <a:accent5>
        <a:srgbClr val="C9D4DD"/>
      </a:accent5>
      <a:accent6>
        <a:srgbClr val="2E3A45"/>
      </a:accent6>
      <a:hlink>
        <a:srgbClr val="AC212E"/>
      </a:hlink>
      <a:folHlink>
        <a:srgbClr val="7A1520"/>
      </a:folHlink>
    </a:clrScheme>
    <a:fontScheme name="Desercion UN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Desercion en la educacion superior chilena</dc:title>
  <dc:subject>Sumativa 3 - Modelamiento predictivo integrado</dc:subject>
  <dc:creator>Maria Fassler Neumann; Sebastian Antunez Noguera</dc:creator>
  <cp:lastModifiedBy>Maria Fassler Neumann; Sebastian Antunez Noguera</cp:lastModifiedBy>
  <cp:revision>1</cp:revision>
  <dcterms:created xsi:type="dcterms:W3CDTF">2026-10-21T02:03:22Z</dcterms:created>
  <dcterms:modified xsi:type="dcterms:W3CDTF">2026-10-21T02:03:22Z</dcterms:modified>
</cp:coreProperties>
</file>